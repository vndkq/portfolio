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12192000"/>
  <p:notesSz cx="6858000" cy="12192000"/>
  <p:embeddedFontLst>
    <p:embeddedFont>
      <p:font typeface="Arimo"/>
      <p:regular r:id="rId32"/>
      <p:bold r:id="rId33"/>
      <p:italic r:id="rId34"/>
      <p:boldItalic r:id="rId35"/>
    </p:embeddedFont>
    <p:embeddedFont>
      <p:font typeface="Inter"/>
      <p:bold r:id="rId36"/>
      <p:boldItalic r:id="rId37"/>
    </p:embeddedFont>
    <p:embeddedFont>
      <p:font typeface="Helvetica Neue"/>
      <p:regular r:id="rId38"/>
      <p:bold r:id="rId39"/>
      <p:italic r:id="rId40"/>
      <p:boldItalic r:id="rId41"/>
    </p:embeddedFont>
    <p:embeddedFont>
      <p:font typeface="Helvetica Neue Light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6" roundtripDataSignature="AMtx7mjFukral6Kwfh9WijlMvL0NxJpi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82172F-A74D-4794-99BA-DCB96C77AC2A}">
  <a:tblStyle styleId="{5A82172F-A74D-4794-99BA-DCB96C77AC2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italic.fntdata"/><Relationship Id="rId20" Type="http://schemas.openxmlformats.org/officeDocument/2006/relationships/slide" Target="slides/slide15.xml"/><Relationship Id="rId42" Type="http://schemas.openxmlformats.org/officeDocument/2006/relationships/font" Target="fonts/HelveticaNeueLight-regular.fntdata"/><Relationship Id="rId41" Type="http://schemas.openxmlformats.org/officeDocument/2006/relationships/font" Target="fonts/HelveticaNeue-boldItalic.fntdata"/><Relationship Id="rId22" Type="http://schemas.openxmlformats.org/officeDocument/2006/relationships/slide" Target="slides/slide17.xml"/><Relationship Id="rId44" Type="http://schemas.openxmlformats.org/officeDocument/2006/relationships/font" Target="fonts/HelveticaNeueLight-italic.fntdata"/><Relationship Id="rId21" Type="http://schemas.openxmlformats.org/officeDocument/2006/relationships/slide" Target="slides/slide16.xml"/><Relationship Id="rId43" Type="http://schemas.openxmlformats.org/officeDocument/2006/relationships/font" Target="fonts/HelveticaNeueLight-bold.fntdata"/><Relationship Id="rId24" Type="http://schemas.openxmlformats.org/officeDocument/2006/relationships/slide" Target="slides/slide19.xml"/><Relationship Id="rId46" Type="http://customschemas.google.com/relationships/presentationmetadata" Target="metadata"/><Relationship Id="rId23" Type="http://schemas.openxmlformats.org/officeDocument/2006/relationships/slide" Target="slides/slide18.xml"/><Relationship Id="rId45" Type="http://schemas.openxmlformats.org/officeDocument/2006/relationships/font" Target="fonts/HelveticaNeueLight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Arimo-bold.fntdata"/><Relationship Id="rId10" Type="http://schemas.openxmlformats.org/officeDocument/2006/relationships/slide" Target="slides/slide5.xml"/><Relationship Id="rId32" Type="http://schemas.openxmlformats.org/officeDocument/2006/relationships/font" Target="fonts/Arimo-regular.fntdata"/><Relationship Id="rId13" Type="http://schemas.openxmlformats.org/officeDocument/2006/relationships/slide" Target="slides/slide8.xml"/><Relationship Id="rId35" Type="http://schemas.openxmlformats.org/officeDocument/2006/relationships/font" Target="fonts/Arimo-boldItalic.fntdata"/><Relationship Id="rId12" Type="http://schemas.openxmlformats.org/officeDocument/2006/relationships/slide" Target="slides/slide7.xml"/><Relationship Id="rId34" Type="http://schemas.openxmlformats.org/officeDocument/2006/relationships/font" Target="fonts/Arimo-italic.fntdata"/><Relationship Id="rId15" Type="http://schemas.openxmlformats.org/officeDocument/2006/relationships/slide" Target="slides/slide10.xml"/><Relationship Id="rId37" Type="http://schemas.openxmlformats.org/officeDocument/2006/relationships/font" Target="fonts/Inter-boldItalic.fntdata"/><Relationship Id="rId14" Type="http://schemas.openxmlformats.org/officeDocument/2006/relationships/slide" Target="slides/slide9.xml"/><Relationship Id="rId36" Type="http://schemas.openxmlformats.org/officeDocument/2006/relationships/font" Target="fonts/Inter-bold.fntdata"/><Relationship Id="rId17" Type="http://schemas.openxmlformats.org/officeDocument/2006/relationships/slide" Target="slides/slide12.xml"/><Relationship Id="rId39" Type="http://schemas.openxmlformats.org/officeDocument/2006/relationships/font" Target="fonts/HelveticaNeue-bold.fntdata"/><Relationship Id="rId16" Type="http://schemas.openxmlformats.org/officeDocument/2006/relationships/slide" Target="slides/slide11.xml"/><Relationship Id="rId38" Type="http://schemas.openxmlformats.org/officeDocument/2006/relationships/font" Target="fonts/HelveticaNeue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Good morning, everyone. I'm Jaewon, and I'll be presenting our research: "Predicting Aviation Accident Severity."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We designed a dual-branch machine learning architecture specifically to handle highly imbalanced safety data. Let's begin.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Our methodology is built on a collaborative foundation. We bring together diverse expertise from Biomedical and Electronic Engineering to DataScience and Statistics to effectively process both complex unstructured text and rigid tabular data.</a:t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534395cd3_17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f534395cd3_17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Today's roadmap is straightforward. We'll start with the data and our core objectives, walk through the dual-branch pipeline, explain the specific algorithms we used for text and tabular data, and finally share our results and fusion strategy.</a:t>
            </a:r>
            <a:endParaRPr/>
          </a:p>
        </p:txBody>
      </p:sp>
      <p:sp>
        <p:nvSpPr>
          <p:cNvPr id="64" name="Google Shape;64;g3f534395cd3_17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Let's start with our motivation. As you can see, commercial aviation accidents have fallen sharply over the decades. However, the proportion of fatal events remains stubbornly persistent at around 13%. This extreme data imbalance breaks standard classifiers, which tend to simply predict that every flight is safe.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Our goal was to build a severity-focused model that aggressively defends against the most catastrophic error: missing a fatal accident.</a:t>
            </a:r>
            <a:endParaRPr/>
          </a:p>
        </p:txBody>
      </p:sp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To achieve this, we defined three main objectives. First, automating the severity classification of unstructured accident reports to help allocate limited investigative resources instantly. Second, establishing a proactive, data-driven safety management system.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And most importantly, shifting the paradigm from simple classification to macro-level statistics, which can ultimately inform real-world safety policies.</a:t>
            </a:r>
            <a:endParaRPr/>
          </a:p>
        </p:txBody>
      </p:sp>
      <p:sp>
        <p:nvSpPr>
          <p:cNvPr id="114" name="Google Shape;11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We used the NTSB dataset and strictly selected inputs based on their association with the highest injury level. We prioritized variables like "Findings", "Weather Condition," and "Flight Phase."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However, we made a crucial decision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to completely exclude "Aircraft Damage." Even though it correlates strongly with severity, damage is a post-accident outcome. Including it would cause severe data leakage. Our model is built for proactive prevention, so it relies solely on information available before the investigation concludes.</a:t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This brings us to a pivotal step: Target Redefinition. The original data had four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classes, heavily dominated by "no-injury" records. We dropped those to force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 model to learn actual severity. We then found the boundary between Minor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and Serious injuries was too noisy and operationally less critical than detecting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fatalities. So, we merged them into "Non-Fatal." By reframing this as a binary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Fatal versus Non-Fatal problem, we eliminated class confusion. Because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this, our primary evaluation metric is Fatal Recall, not just overall accuracy. We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used a strict stratified split to preserve this imbalanced ratio perfectly across all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sets.</a:t>
            </a:r>
            <a:endParaRPr/>
          </a:p>
        </p:txBody>
      </p:sp>
      <p:sp>
        <p:nvSpPr>
          <p:cNvPr id="150" name="Google Shape;15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the three key preprocessing decisions: dropping no-injury records and binarizing the target, the stratified split, and the deliberate choice of Fatal Recall and Macro-F1 over accuracy.</a:t>
            </a:r>
            <a:endParaRPr/>
          </a:p>
        </p:txBody>
      </p:sp>
      <p:sp>
        <p:nvSpPr>
          <p:cNvPr id="186" name="Google Shape;18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Prior work applied separate models to text and structured data. We adopt a parallel dual-branch architecture: a text branch and a tabular branch feeding a late-fusion classifier.</a:t>
            </a:r>
            <a:endParaRPr/>
          </a:p>
        </p:txBody>
      </p:sp>
      <p:sp>
        <p:nvSpPr>
          <p:cNvPr id="256" name="Google Shape;25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deliberate modeling choices: a domain-specialized BERT for text, and tree ensembles rather than deep nets for structured categorical data.</a:t>
            </a:r>
            <a:endParaRPr/>
          </a:p>
        </p:txBody>
      </p:sp>
      <p:sp>
        <p:nvSpPr>
          <p:cNvPr id="299" name="Google Shape;29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f534395cd3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3f534395cd3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text branch concatenates a 768-D SafeAeroBERT embedding with a 187-D Findings-taxonomy feature into a 955-D vector fed to a 4-layer MLP. SafeAeroBERT captures aviation terminology; the taxonomy encodes the causal hierarchy of findings.</a:t>
            </a:r>
            <a:endParaRPr/>
          </a:p>
        </p:txBody>
      </p:sp>
      <p:sp>
        <p:nvSpPr>
          <p:cNvPr id="320" name="Google Shape;320;g3f534395cd3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f534395cd3_2_2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g3f534395cd3_2_2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With all other settings fixed, only MLP depth and width were varied. Deeper MLP-4 trades a little accuracy for a large Fatal-Recall gain, so it was selected. On the test set MLP-4 reaches 0.896 Fatal Recall.</a:t>
            </a:r>
            <a:endParaRPr/>
          </a:p>
        </p:txBody>
      </p:sp>
      <p:sp>
        <p:nvSpPr>
          <p:cNvPr id="410" name="Google Shape;410;g3f534395cd3_2_2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Distance-based, tree, and ensemble classifiers were compared as baselines. Random Forest wins on every metric and is selected as the tabular baseline.</a:t>
            </a:r>
            <a:endParaRPr/>
          </a:p>
        </p:txBody>
      </p:sp>
      <p:sp>
        <p:nvSpPr>
          <p:cNvPr id="481" name="Google Shape;48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f534395cd3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g3f534395cd3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prioritize Fatal Recall over accuracy to minimize false negatives. Balancing and class-weighting the Random Forest raises Fatal Recall; the tuned class-weighted RF is the best overall.</a:t>
            </a:r>
            <a:endParaRPr/>
          </a:p>
        </p:txBody>
      </p:sp>
      <p:sp>
        <p:nvSpPr>
          <p:cNvPr id="522" name="Google Shape;522;g3f534395cd3_0_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Comparing the two final branches across four metrics shows they are complementary: the tabular branch is steady, the text branch dominates Fatal Recall. Late fusion combines their probabilities.</a:t>
            </a:r>
            <a:endParaRPr/>
          </a:p>
        </p:txBody>
      </p:sp>
      <p:sp>
        <p:nvSpPr>
          <p:cNvPr id="538" name="Google Shape;53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Sources and references for the datasets and prior work cited throughout.</a:t>
            </a:r>
            <a:endParaRPr/>
          </a:p>
        </p:txBody>
      </p:sp>
      <p:sp>
        <p:nvSpPr>
          <p:cNvPr id="556" name="Google Shape;55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f534395cd3_2_7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g3f534395cd3_2_7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Sources and references for the datasets and prior work cited throughout.</a:t>
            </a:r>
            <a:endParaRPr/>
          </a:p>
        </p:txBody>
      </p:sp>
      <p:sp>
        <p:nvSpPr>
          <p:cNvPr id="585" name="Google Shape;585;g3f534395cd3_2_7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4" name="Google Shape;61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Close: an AI-based safety net built to defend against even a single fatal accident. Invite questions.</a:t>
            </a:r>
            <a:endParaRPr/>
          </a:p>
        </p:txBody>
      </p:sp>
      <p:sp>
        <p:nvSpPr>
          <p:cNvPr id="615" name="Google Shape;61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f5382d2c19_12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4" name="Google Shape;624;g3f5382d2c19_12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Close: an AI-based safety net built to defend against even a single fatal accident. Invite questions.</a:t>
            </a:r>
            <a:endParaRPr/>
          </a:p>
        </p:txBody>
      </p:sp>
      <p:sp>
        <p:nvSpPr>
          <p:cNvPr id="625" name="Google Shape;625;g3f5382d2c19_12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4" name="Google Shape;63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EDA reframed severity as binary Fatal / Non-Fatal. IMC weather shows a higher fatal ratio, fatal patterns vary by flight phase and by purpose of flight — informing the final variable selection.</a:t>
            </a:r>
            <a:endParaRPr/>
          </a:p>
        </p:txBody>
      </p:sp>
      <p:sp>
        <p:nvSpPr>
          <p:cNvPr id="635" name="Google Shape;635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f534395cd3_1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7" name="Google Shape;657;g3f534395cd3_1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EDA reframed severity as binary Fatal / Non-Fatal. IMC weather shows a higher fatal ratio, fatal patterns vary by flight phase and by purpose of flight — informing the final variable selection.</a:t>
            </a:r>
            <a:endParaRPr/>
          </a:p>
        </p:txBody>
      </p:sp>
      <p:sp>
        <p:nvSpPr>
          <p:cNvPr id="658" name="Google Shape;658;g3f534395cd3_1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1" name="Google Shape;67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initial 4-class target was dominated by None (57%). Excluding None refocuses the task on the severity of injury-producing accidents, giving a 3-class problem.</a:t>
            </a:r>
            <a:endParaRPr/>
          </a:p>
        </p:txBody>
      </p:sp>
      <p:sp>
        <p:nvSpPr>
          <p:cNvPr id="672" name="Google Shape;67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f534395cd3_1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7" name="Google Shape;687;g3f534395cd3_1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initial 4-class target was dominated by None (57%). Excluding None refocuses the task on the severity of injury-producing accidents, giving a 3-class problem.</a:t>
            </a:r>
            <a:endParaRPr/>
          </a:p>
        </p:txBody>
      </p:sp>
      <p:sp>
        <p:nvSpPr>
          <p:cNvPr id="688" name="Google Shape;688;g3f534395cd3_1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6" name="Google Shape;76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3-class experiments Minor and Serious were persistently confused; raising one class's recall dropped the other and Macro-F1. Merging them into Non-Fatal gives the final binary target.</a:t>
            </a:r>
            <a:endParaRPr/>
          </a:p>
        </p:txBody>
      </p:sp>
      <p:sp>
        <p:nvSpPr>
          <p:cNvPr id="767" name="Google Shape;76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f534395cd3_2_4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3" name="Google Shape;863;g3f534395cd3_2_4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3-class experiments Minor and Serious were persistently confused; raising one class's recall dropped the other and Macro-F1. Merging them into Non-Fatal gives the final binary target.</a:t>
            </a:r>
            <a:endParaRPr/>
          </a:p>
        </p:txBody>
      </p:sp>
      <p:sp>
        <p:nvSpPr>
          <p:cNvPr id="864" name="Google Shape;864;g3f534395cd3_2_4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8" name="Google Shape;93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Across text-branch candidates, SafeAeroBERT + Taxonomy + MLP-4 gives the best Accuracy and Macro-F1. HistGradientBoosting edges Fatal Recall but is much weaker overall, so MLP-4 is chosen for balance.</a:t>
            </a:r>
            <a:endParaRPr/>
          </a:p>
        </p:txBody>
      </p:sp>
      <p:sp>
        <p:nvSpPr>
          <p:cNvPr id="939" name="Google Shape;939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1.png"/><Relationship Id="rId5" Type="http://schemas.openxmlformats.org/officeDocument/2006/relationships/image" Target="../media/image20.jpg"/><Relationship Id="rId6" Type="http://schemas.openxmlformats.org/officeDocument/2006/relationships/image" Target="../media/image37.png"/><Relationship Id="rId7" Type="http://schemas.openxmlformats.org/officeDocument/2006/relationships/image" Target="../media/image40.png"/><Relationship Id="rId8" Type="http://schemas.openxmlformats.org/officeDocument/2006/relationships/image" Target="../media/image3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5.png"/><Relationship Id="rId6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3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2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3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3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09600" y="479125"/>
            <a:ext cx="7069800" cy="16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5669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950"/>
              <a:buFont typeface="Arimo"/>
              <a:buNone/>
            </a:pPr>
            <a:r>
              <a:rPr i="0" lang="en-US" sz="625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Predicting Aviation</a:t>
            </a:r>
            <a:endParaRPr sz="6250">
              <a:solidFill>
                <a:srgbClr val="11111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85669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950"/>
              <a:buFont typeface="Arimo"/>
              <a:buNone/>
            </a:pPr>
            <a:r>
              <a:rPr i="0" lang="en-US" sz="625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Accident</a:t>
            </a:r>
            <a:r>
              <a:rPr lang="en-US" sz="6250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i="0" lang="en-US" sz="625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Severity</a:t>
            </a:r>
            <a:endParaRPr i="0" sz="62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preencoded.png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65977" y="402923"/>
            <a:ext cx="2066998" cy="371517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 txBox="1"/>
          <p:nvPr/>
        </p:nvSpPr>
        <p:spPr>
          <a:xfrm>
            <a:off x="609588" y="5917825"/>
            <a:ext cx="166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Hanyu Jee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2733638" y="5917825"/>
            <a:ext cx="166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Minsol Kim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5211828" y="5917825"/>
            <a:ext cx="206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Junho Lee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7425700" y="5917825"/>
            <a:ext cx="188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Dana Jeong</a:t>
            </a:r>
            <a:endParaRPr sz="1300">
              <a:solidFill>
                <a:srgbClr val="1111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9912013" y="5917825"/>
            <a:ext cx="166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Jaewon Kim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" name="Google Shape;23;p1"/>
          <p:cNvCxnSpPr/>
          <p:nvPr/>
        </p:nvCxnSpPr>
        <p:spPr>
          <a:xfrm flipH="1" rot="10800000">
            <a:off x="515275" y="5588500"/>
            <a:ext cx="11117700" cy="1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1"/>
          <p:cNvSpPr txBox="1"/>
          <p:nvPr/>
        </p:nvSpPr>
        <p:spPr>
          <a:xfrm>
            <a:off x="609600" y="2127992"/>
            <a:ext cx="55983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7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558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Dual-Branch Machine Learning Architecture for Imbalanced Safety Data</a:t>
            </a:r>
            <a:endParaRPr sz="2000">
              <a:solidFill>
                <a:srgbClr val="55585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5" name="Google Shape;25;p1"/>
          <p:cNvPicPr preferRelativeResize="0"/>
          <p:nvPr/>
        </p:nvPicPr>
        <p:blipFill rotWithShape="1">
          <a:blip r:embed="rId4">
            <a:alphaModFix/>
          </a:blip>
          <a:srcRect b="4322" l="0" r="0" t="10098"/>
          <a:stretch/>
        </p:blipFill>
        <p:spPr>
          <a:xfrm>
            <a:off x="640675" y="3211875"/>
            <a:ext cx="10992323" cy="3325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6789" y="361950"/>
            <a:ext cx="1271811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/>
          <p:nvPr/>
        </p:nvSpPr>
        <p:spPr>
          <a:xfrm>
            <a:off x="533400" y="495300"/>
            <a:ext cx="4961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975"/>
              <a:buFont typeface="Arimo"/>
              <a:buNone/>
            </a:pPr>
            <a:r>
              <a:rPr b="1" lang="en-US" sz="975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Our Team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33400" y="700092"/>
            <a:ext cx="8488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mo"/>
              <a:buNone/>
            </a:pPr>
            <a:r>
              <a:rPr lang="en-US" sz="3000">
                <a:latin typeface="Helvetica Neue"/>
                <a:ea typeface="Helvetica Neue"/>
                <a:cs typeface="Helvetica Neue"/>
                <a:sym typeface="Helvetica Neue"/>
              </a:rPr>
              <a:t>One Team</a:t>
            </a:r>
            <a:endParaRPr i="0" sz="3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33400" y="6372225"/>
            <a:ext cx="11125200" cy="9525"/>
          </a:xfrm>
          <a:prstGeom prst="rect">
            <a:avLst/>
          </a:prstGeom>
          <a:solidFill>
            <a:srgbClr val="DAD7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533400" y="6457950"/>
            <a:ext cx="278275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i="0" lang="en-US" sz="788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PREDICTING AVIATION ACCIDENT SEVERITY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1527334" y="6457950"/>
            <a:ext cx="20746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i="0" lang="en-US" sz="788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93088" y="1603125"/>
            <a:ext cx="2203500" cy="3895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2823497" y="1603125"/>
            <a:ext cx="2203500" cy="3895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053908" y="1603125"/>
            <a:ext cx="2203500" cy="3895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7284330" y="1603125"/>
            <a:ext cx="2203500" cy="3895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9514752" y="1603125"/>
            <a:ext cx="2203500" cy="3895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 txBox="1"/>
          <p:nvPr/>
        </p:nvSpPr>
        <p:spPr>
          <a:xfrm>
            <a:off x="5452158" y="3424800"/>
            <a:ext cx="140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Junho Lee</a:t>
            </a:r>
            <a:endParaRPr sz="1800"/>
          </a:p>
        </p:txBody>
      </p:sp>
      <p:sp>
        <p:nvSpPr>
          <p:cNvPr id="43" name="Google Shape;43;p2"/>
          <p:cNvSpPr txBox="1"/>
          <p:nvPr/>
        </p:nvSpPr>
        <p:spPr>
          <a:xfrm>
            <a:off x="5336958" y="3825013"/>
            <a:ext cx="1637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Seoul Nat’l Univ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BME &amp; Business</a:t>
            </a:r>
            <a:endParaRPr/>
          </a:p>
        </p:txBody>
      </p:sp>
      <p:sp>
        <p:nvSpPr>
          <p:cNvPr id="44" name="Google Shape;44;p2"/>
          <p:cNvSpPr txBox="1"/>
          <p:nvPr/>
        </p:nvSpPr>
        <p:spPr>
          <a:xfrm>
            <a:off x="7567380" y="3424800"/>
            <a:ext cx="163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Dana Jeong</a:t>
            </a:r>
            <a:endParaRPr sz="1800"/>
          </a:p>
        </p:txBody>
      </p:sp>
      <p:sp>
        <p:nvSpPr>
          <p:cNvPr id="45" name="Google Shape;45;p2"/>
          <p:cNvSpPr txBox="1"/>
          <p:nvPr/>
        </p:nvSpPr>
        <p:spPr>
          <a:xfrm>
            <a:off x="991338" y="3389825"/>
            <a:ext cx="140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Hanyu</a:t>
            </a:r>
            <a:r>
              <a:rPr lang="en-US" sz="1800"/>
              <a:t> Jee</a:t>
            </a:r>
            <a:endParaRPr sz="1800"/>
          </a:p>
        </p:txBody>
      </p:sp>
      <p:sp>
        <p:nvSpPr>
          <p:cNvPr id="46" name="Google Shape;46;p2"/>
          <p:cNvSpPr txBox="1"/>
          <p:nvPr/>
        </p:nvSpPr>
        <p:spPr>
          <a:xfrm>
            <a:off x="3221747" y="3424800"/>
            <a:ext cx="140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Minsol Kim</a:t>
            </a:r>
            <a:endParaRPr sz="1800"/>
          </a:p>
        </p:txBody>
      </p:sp>
      <p:sp>
        <p:nvSpPr>
          <p:cNvPr id="47" name="Google Shape;47;p2"/>
          <p:cNvSpPr txBox="1"/>
          <p:nvPr/>
        </p:nvSpPr>
        <p:spPr>
          <a:xfrm>
            <a:off x="5177058" y="4645925"/>
            <a:ext cx="195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Preprocessing</a:t>
            </a:r>
            <a:r>
              <a:rPr lang="en-US"/>
              <a:t> &amp; EDA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Optimization</a:t>
            </a:r>
            <a:endParaRPr/>
          </a:p>
        </p:txBody>
      </p:sp>
      <p:sp>
        <p:nvSpPr>
          <p:cNvPr id="48" name="Google Shape;48;p2"/>
          <p:cNvSpPr txBox="1"/>
          <p:nvPr/>
        </p:nvSpPr>
        <p:spPr>
          <a:xfrm>
            <a:off x="593088" y="3868575"/>
            <a:ext cx="22035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Handong Global University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Science &amp; Statistics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Team lead</a:t>
            </a:r>
            <a:endParaRPr/>
          </a:p>
        </p:txBody>
      </p:sp>
      <p:sp>
        <p:nvSpPr>
          <p:cNvPr id="49" name="Google Shape;49;p2"/>
          <p:cNvSpPr txBox="1"/>
          <p:nvPr/>
        </p:nvSpPr>
        <p:spPr>
          <a:xfrm>
            <a:off x="7349730" y="3825013"/>
            <a:ext cx="2072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Gyeongsang Nat’l Univ</a:t>
            </a:r>
            <a:br>
              <a:rPr lang="en-US"/>
            </a:br>
            <a:r>
              <a:rPr lang="en-US"/>
              <a:t>Electronic Engineering</a:t>
            </a:r>
            <a:endParaRPr/>
          </a:p>
        </p:txBody>
      </p:sp>
      <p:sp>
        <p:nvSpPr>
          <p:cNvPr id="50" name="Google Shape;50;p2"/>
          <p:cNvSpPr txBox="1"/>
          <p:nvPr/>
        </p:nvSpPr>
        <p:spPr>
          <a:xfrm>
            <a:off x="2946647" y="3825000"/>
            <a:ext cx="195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Jeonbuk </a:t>
            </a:r>
            <a:r>
              <a:rPr lang="en-US"/>
              <a:t>Nat’l Univ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Statistic &amp; Economics</a:t>
            </a:r>
            <a:endParaRPr/>
          </a:p>
        </p:txBody>
      </p:sp>
      <p:sp>
        <p:nvSpPr>
          <p:cNvPr id="51" name="Google Shape;51;p2"/>
          <p:cNvSpPr txBox="1"/>
          <p:nvPr/>
        </p:nvSpPr>
        <p:spPr>
          <a:xfrm>
            <a:off x="2946647" y="4596863"/>
            <a:ext cx="195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Tabular Branch Modeling</a:t>
            </a:r>
            <a:endParaRPr/>
          </a:p>
        </p:txBody>
      </p:sp>
      <p:sp>
        <p:nvSpPr>
          <p:cNvPr id="52" name="Google Shape;52;p2"/>
          <p:cNvSpPr txBox="1"/>
          <p:nvPr/>
        </p:nvSpPr>
        <p:spPr>
          <a:xfrm>
            <a:off x="7407480" y="4645925"/>
            <a:ext cx="195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Text Branch Modeling</a:t>
            </a:r>
            <a:endParaRPr/>
          </a:p>
        </p:txBody>
      </p:sp>
      <p:pic>
        <p:nvPicPr>
          <p:cNvPr id="53" name="Google Shape;53;p2" title="증명사진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9347" y="1665994"/>
            <a:ext cx="1271801" cy="158920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54" name="Google Shape;54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0925" y="1632534"/>
            <a:ext cx="1271825" cy="1635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2" title="image 9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05708" y="1195596"/>
            <a:ext cx="1499900" cy="2073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2"/>
          <p:cNvPicPr preferRelativeResize="0"/>
          <p:nvPr/>
        </p:nvPicPr>
        <p:blipFill rotWithShape="1">
          <a:blip r:embed="rId7">
            <a:alphaModFix/>
          </a:blip>
          <a:srcRect b="0" l="0" r="0" t="5078"/>
          <a:stretch/>
        </p:blipFill>
        <p:spPr>
          <a:xfrm>
            <a:off x="7750180" y="1640825"/>
            <a:ext cx="1271800" cy="16352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"/>
          <p:cNvSpPr txBox="1"/>
          <p:nvPr/>
        </p:nvSpPr>
        <p:spPr>
          <a:xfrm>
            <a:off x="9797805" y="3389825"/>
            <a:ext cx="163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Jaewon Kim</a:t>
            </a:r>
            <a:endParaRPr sz="1800"/>
          </a:p>
        </p:txBody>
      </p:sp>
      <p:sp>
        <p:nvSpPr>
          <p:cNvPr id="58" name="Google Shape;58;p2"/>
          <p:cNvSpPr txBox="1"/>
          <p:nvPr/>
        </p:nvSpPr>
        <p:spPr>
          <a:xfrm>
            <a:off x="9580150" y="3825013"/>
            <a:ext cx="2072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Gyeonggi University of Science Technology</a:t>
            </a:r>
            <a:endParaRPr/>
          </a:p>
        </p:txBody>
      </p:sp>
      <p:sp>
        <p:nvSpPr>
          <p:cNvPr id="59" name="Google Shape;59;p2"/>
          <p:cNvSpPr txBox="1"/>
          <p:nvPr/>
        </p:nvSpPr>
        <p:spPr>
          <a:xfrm>
            <a:off x="9580153" y="4645925"/>
            <a:ext cx="195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Design &amp; Documentation</a:t>
            </a:r>
            <a:endParaRPr/>
          </a:p>
        </p:txBody>
      </p:sp>
      <p:pic>
        <p:nvPicPr>
          <p:cNvPr id="60" name="Google Shape;60;p2" title="Frame 2.png"/>
          <p:cNvPicPr preferRelativeResize="0"/>
          <p:nvPr/>
        </p:nvPicPr>
        <p:blipFill rotWithShape="1">
          <a:blip r:embed="rId8">
            <a:alphaModFix/>
          </a:blip>
          <a:srcRect b="6264" l="6255" r="6264" t="6255"/>
          <a:stretch/>
        </p:blipFill>
        <p:spPr>
          <a:xfrm>
            <a:off x="10008550" y="1602608"/>
            <a:ext cx="1271801" cy="169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6" name="Google Shape;66;g3f534395cd3_17_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6789" y="361950"/>
            <a:ext cx="127181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g3f534395cd3_17_37"/>
          <p:cNvSpPr/>
          <p:nvPr/>
        </p:nvSpPr>
        <p:spPr>
          <a:xfrm>
            <a:off x="533400" y="495300"/>
            <a:ext cx="122376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975"/>
              <a:buFont typeface="Arimo"/>
              <a:buNone/>
            </a:pPr>
            <a:r>
              <a:rPr b="1" i="0" lang="en-US" sz="975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PRESENTATION SUMMARY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3f534395cd3_17_37"/>
          <p:cNvSpPr/>
          <p:nvPr/>
        </p:nvSpPr>
        <p:spPr>
          <a:xfrm>
            <a:off x="533400" y="700088"/>
            <a:ext cx="12237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mo"/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Overview</a:t>
            </a:r>
            <a:endParaRPr i="0" sz="3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" name="Google Shape;69;g3f534395cd3_17_37"/>
          <p:cNvSpPr/>
          <p:nvPr/>
        </p:nvSpPr>
        <p:spPr>
          <a:xfrm>
            <a:off x="533400" y="1604963"/>
            <a:ext cx="5257800" cy="9600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f534395cd3_17_37"/>
          <p:cNvSpPr/>
          <p:nvPr/>
        </p:nvSpPr>
        <p:spPr>
          <a:xfrm>
            <a:off x="533400" y="1766888"/>
            <a:ext cx="394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957"/>
              </a:lnSpc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2250"/>
              <a:buFont typeface="Arimo"/>
              <a:buNone/>
            </a:pPr>
            <a:r>
              <a:rPr b="1" i="0" lang="en-US" sz="2350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g3f534395cd3_17_37"/>
          <p:cNvSpPr/>
          <p:nvPr/>
        </p:nvSpPr>
        <p:spPr>
          <a:xfrm>
            <a:off x="1041797" y="1766888"/>
            <a:ext cx="3713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mo"/>
              <a:buNone/>
            </a:pPr>
            <a:r>
              <a:rPr b="1" i="0" lang="en-US" sz="167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Recent Trends in Aircraft Accidents</a:t>
            </a:r>
            <a:endParaRPr b="0" i="0" sz="1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3f534395cd3_17_37"/>
          <p:cNvSpPr/>
          <p:nvPr/>
        </p:nvSpPr>
        <p:spPr>
          <a:xfrm>
            <a:off x="1041797" y="2024062"/>
            <a:ext cx="3713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1125"/>
              <a:buFont typeface="Arimo"/>
              <a:buNone/>
            </a:pPr>
            <a:r>
              <a:rPr b="0" i="0" lang="en-US" sz="1225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Where fatal risk still concentrates</a:t>
            </a:r>
            <a:endParaRPr b="0" i="0" sz="12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g3f534395cd3_17_37"/>
          <p:cNvSpPr/>
          <p:nvPr/>
        </p:nvSpPr>
        <p:spPr>
          <a:xfrm>
            <a:off x="6400800" y="1604963"/>
            <a:ext cx="5257800" cy="9600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f534395cd3_17_37"/>
          <p:cNvSpPr/>
          <p:nvPr/>
        </p:nvSpPr>
        <p:spPr>
          <a:xfrm>
            <a:off x="6400800" y="1766888"/>
            <a:ext cx="394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957"/>
              </a:lnSpc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2250"/>
              <a:buFont typeface="Arimo"/>
              <a:buNone/>
            </a:pPr>
            <a:r>
              <a:rPr b="1" i="0" lang="en-US" sz="2350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3f534395cd3_17_37"/>
          <p:cNvSpPr/>
          <p:nvPr/>
        </p:nvSpPr>
        <p:spPr>
          <a:xfrm>
            <a:off x="6909197" y="1766888"/>
            <a:ext cx="3877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mo"/>
              <a:buNone/>
            </a:pPr>
            <a:r>
              <a:rPr b="1" i="0" lang="en-US" sz="167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Text Branch — SafeAeroBERT + MLP</a:t>
            </a:r>
            <a:endParaRPr b="0" i="0" sz="1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g3f534395cd3_17_37"/>
          <p:cNvSpPr/>
          <p:nvPr/>
        </p:nvSpPr>
        <p:spPr>
          <a:xfrm>
            <a:off x="6909197" y="2024062"/>
            <a:ext cx="3877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1125"/>
              <a:buFont typeface="Arimo"/>
              <a:buNone/>
            </a:pPr>
            <a:r>
              <a:rPr b="0" i="0" lang="en-US" sz="1225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Learning from investigator narratives</a:t>
            </a:r>
            <a:endParaRPr b="0" i="0" sz="12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g3f534395cd3_17_37"/>
          <p:cNvSpPr/>
          <p:nvPr/>
        </p:nvSpPr>
        <p:spPr>
          <a:xfrm>
            <a:off x="533400" y="3165425"/>
            <a:ext cx="5257800" cy="9600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f534395cd3_17_37"/>
          <p:cNvSpPr/>
          <p:nvPr/>
        </p:nvSpPr>
        <p:spPr>
          <a:xfrm>
            <a:off x="533400" y="3327350"/>
            <a:ext cx="394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957"/>
              </a:lnSpc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2250"/>
              <a:buFont typeface="Arimo"/>
              <a:buNone/>
            </a:pPr>
            <a:r>
              <a:rPr b="1" i="0" lang="en-US" sz="2350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f534395cd3_17_37"/>
          <p:cNvSpPr/>
          <p:nvPr/>
        </p:nvSpPr>
        <p:spPr>
          <a:xfrm>
            <a:off x="1041797" y="3327350"/>
            <a:ext cx="2922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mo"/>
              <a:buNone/>
            </a:pPr>
            <a:r>
              <a:rPr b="1" i="0" lang="en-US" sz="167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Research Objectives &amp; Data</a:t>
            </a:r>
            <a:endParaRPr b="0" i="0" sz="1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3f534395cd3_17_37"/>
          <p:cNvSpPr/>
          <p:nvPr/>
        </p:nvSpPr>
        <p:spPr>
          <a:xfrm>
            <a:off x="1041797" y="3584525"/>
            <a:ext cx="2922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1125"/>
              <a:buFont typeface="Arimo"/>
              <a:buNone/>
            </a:pPr>
            <a:r>
              <a:rPr b="0" i="0" lang="en-US" sz="1225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NTSB dataset and feature selection</a:t>
            </a:r>
            <a:endParaRPr b="0" i="0" sz="12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3f534395cd3_17_37"/>
          <p:cNvSpPr/>
          <p:nvPr/>
        </p:nvSpPr>
        <p:spPr>
          <a:xfrm>
            <a:off x="6400800" y="3165425"/>
            <a:ext cx="5257800" cy="9600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f534395cd3_17_37"/>
          <p:cNvSpPr/>
          <p:nvPr/>
        </p:nvSpPr>
        <p:spPr>
          <a:xfrm>
            <a:off x="6400800" y="3327350"/>
            <a:ext cx="394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957"/>
              </a:lnSpc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2250"/>
              <a:buFont typeface="Arimo"/>
              <a:buNone/>
            </a:pPr>
            <a:r>
              <a:rPr b="1" i="0" lang="en-US" sz="2350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05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g3f534395cd3_17_37"/>
          <p:cNvSpPr/>
          <p:nvPr/>
        </p:nvSpPr>
        <p:spPr>
          <a:xfrm>
            <a:off x="6909197" y="3327350"/>
            <a:ext cx="3370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mo"/>
              <a:buNone/>
            </a:pPr>
            <a:r>
              <a:rPr b="1" i="0" lang="en-US" sz="167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Tabular Branch — Classification</a:t>
            </a:r>
            <a:endParaRPr b="0" i="0" sz="1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g3f534395cd3_17_37"/>
          <p:cNvSpPr/>
          <p:nvPr/>
        </p:nvSpPr>
        <p:spPr>
          <a:xfrm>
            <a:off x="6909197" y="3584525"/>
            <a:ext cx="3370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1125"/>
              <a:buFont typeface="Arimo"/>
              <a:buNone/>
            </a:pPr>
            <a:r>
              <a:rPr b="0" i="0" lang="en-US" sz="1225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Tree ensembles on structured data</a:t>
            </a:r>
            <a:endParaRPr b="0" i="0" sz="12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f534395cd3_17_37"/>
          <p:cNvSpPr/>
          <p:nvPr/>
        </p:nvSpPr>
        <p:spPr>
          <a:xfrm>
            <a:off x="533400" y="4725963"/>
            <a:ext cx="5257800" cy="9600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f534395cd3_17_37"/>
          <p:cNvSpPr/>
          <p:nvPr/>
        </p:nvSpPr>
        <p:spPr>
          <a:xfrm>
            <a:off x="533400" y="4887888"/>
            <a:ext cx="394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957"/>
              </a:lnSpc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2250"/>
              <a:buFont typeface="Arimo"/>
              <a:buNone/>
            </a:pPr>
            <a:r>
              <a:rPr b="1" i="0" lang="en-US" sz="2350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f534395cd3_17_37"/>
          <p:cNvSpPr/>
          <p:nvPr/>
        </p:nvSpPr>
        <p:spPr>
          <a:xfrm>
            <a:off x="1041797" y="4887888"/>
            <a:ext cx="2609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mo"/>
              <a:buNone/>
            </a:pPr>
            <a:r>
              <a:rPr b="1" i="0" lang="en-US" sz="167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Overall Analysis Pipeline</a:t>
            </a:r>
            <a:endParaRPr b="0" i="0" sz="1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f534395cd3_17_37"/>
          <p:cNvSpPr/>
          <p:nvPr/>
        </p:nvSpPr>
        <p:spPr>
          <a:xfrm>
            <a:off x="1041797" y="5145063"/>
            <a:ext cx="2609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1125"/>
              <a:buFont typeface="Arimo"/>
              <a:buNone/>
            </a:pPr>
            <a:r>
              <a:rPr b="0" i="0" lang="en-US" sz="1225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The dual-branch architecture</a:t>
            </a:r>
            <a:endParaRPr b="0" i="0" sz="12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3f534395cd3_17_37"/>
          <p:cNvSpPr/>
          <p:nvPr/>
        </p:nvSpPr>
        <p:spPr>
          <a:xfrm>
            <a:off x="6400800" y="4725963"/>
            <a:ext cx="5257800" cy="9600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f534395cd3_17_37"/>
          <p:cNvSpPr/>
          <p:nvPr/>
        </p:nvSpPr>
        <p:spPr>
          <a:xfrm>
            <a:off x="6400800" y="4887888"/>
            <a:ext cx="394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957"/>
              </a:lnSpc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2250"/>
              <a:buFont typeface="Arimo"/>
              <a:buNone/>
            </a:pPr>
            <a:r>
              <a:rPr b="1" i="0" lang="en-US" sz="2350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06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f534395cd3_17_37"/>
          <p:cNvSpPr/>
          <p:nvPr/>
        </p:nvSpPr>
        <p:spPr>
          <a:xfrm>
            <a:off x="6909197" y="4887888"/>
            <a:ext cx="2507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mo"/>
              <a:buNone/>
            </a:pPr>
            <a:r>
              <a:rPr b="1" i="0" lang="en-US" sz="167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Conclusion &amp; Appendix</a:t>
            </a:r>
            <a:endParaRPr b="0" i="0" sz="1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f534395cd3_17_37"/>
          <p:cNvSpPr/>
          <p:nvPr/>
        </p:nvSpPr>
        <p:spPr>
          <a:xfrm>
            <a:off x="6909197" y="5145063"/>
            <a:ext cx="2507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1125"/>
              <a:buFont typeface="Arimo"/>
              <a:buNone/>
            </a:pPr>
            <a:r>
              <a:rPr b="0" i="0" lang="en-US" sz="1225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Fusion plan and supporting analysis</a:t>
            </a:r>
            <a:endParaRPr b="0" i="0" sz="12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f534395cd3_17_37"/>
          <p:cNvSpPr/>
          <p:nvPr/>
        </p:nvSpPr>
        <p:spPr>
          <a:xfrm>
            <a:off x="533400" y="6372225"/>
            <a:ext cx="11125200" cy="9600"/>
          </a:xfrm>
          <a:prstGeom prst="rect">
            <a:avLst/>
          </a:prstGeom>
          <a:solidFill>
            <a:srgbClr val="DAD7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f534395cd3_17_37"/>
          <p:cNvSpPr/>
          <p:nvPr/>
        </p:nvSpPr>
        <p:spPr>
          <a:xfrm>
            <a:off x="533400" y="6457950"/>
            <a:ext cx="2782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i="0" lang="en-US" sz="788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PREDICTING AVIATION ACCIDENT SEVERITY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f534395cd3_17_37"/>
          <p:cNvSpPr/>
          <p:nvPr/>
        </p:nvSpPr>
        <p:spPr>
          <a:xfrm>
            <a:off x="11527334" y="6457950"/>
            <a:ext cx="207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i="0" lang="en-US" sz="788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6789" y="361950"/>
            <a:ext cx="1271811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/>
          <p:nvPr/>
        </p:nvSpPr>
        <p:spPr>
          <a:xfrm>
            <a:off x="533400" y="495300"/>
            <a:ext cx="12237720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975"/>
              <a:buFont typeface="Arimo"/>
              <a:buNone/>
            </a:pPr>
            <a:r>
              <a:rPr b="1" i="0" lang="en-US" sz="975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OBJECTIVE · 01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533400" y="700088"/>
            <a:ext cx="1223772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mo"/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Recent Trends in Aircraft Accidents</a:t>
            </a:r>
            <a:endParaRPr i="0" sz="3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533400" y="1285900"/>
            <a:ext cx="9426300" cy="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051"/>
              </a:lnSpc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1275"/>
              <a:buFont typeface="Arimo"/>
              <a:buNone/>
            </a:pPr>
            <a:r>
              <a:rPr i="0" lang="en-US" sz="1275" u="none" cap="none" strike="noStrike">
                <a:solidFill>
                  <a:srgbClr val="5558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Across the global commercial jet fleet, total accidents fell dramatically between the two periods, yet fatal events remain a persistent share of all occurrences — the core motivation for a severity-focused model. </a:t>
            </a:r>
            <a:endParaRPr i="0" sz="1275" u="none" cap="none" strike="noStrike">
              <a:solidFill>
                <a:srgbClr val="55585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22051"/>
              </a:lnSpc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1275"/>
              <a:buFont typeface="Arimo"/>
              <a:buNone/>
            </a:pPr>
            <a:r>
              <a:rPr i="0" lang="en-US" sz="1050" u="none" cap="none" strike="noStrike">
                <a:solidFill>
                  <a:srgbClr val="9D969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(Boeing &amp; NTSB statistical reports)</a:t>
            </a:r>
            <a:endParaRPr i="0" sz="127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533400" y="6372225"/>
            <a:ext cx="11125200" cy="9525"/>
          </a:xfrm>
          <a:prstGeom prst="rect">
            <a:avLst/>
          </a:prstGeom>
          <a:solidFill>
            <a:srgbClr val="DAD7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533400" y="6457950"/>
            <a:ext cx="278275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i="0" lang="en-US" sz="788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PREDICTING AVIATION ACCIDENT SEVERITY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11527334" y="6457950"/>
            <a:ext cx="20746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i="0" lang="en-US" sz="788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400" y="2074725"/>
            <a:ext cx="3565226" cy="4166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3650" y="2074725"/>
            <a:ext cx="7394949" cy="4166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37000" y="5910957"/>
            <a:ext cx="1413366" cy="269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6789" y="361950"/>
            <a:ext cx="1271811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/>
          <p:nvPr/>
        </p:nvSpPr>
        <p:spPr>
          <a:xfrm>
            <a:off x="533400" y="495300"/>
            <a:ext cx="12237720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975"/>
              <a:buFont typeface="Arimo"/>
              <a:buNone/>
            </a:pPr>
            <a:r>
              <a:rPr b="1" i="0" lang="en-US" sz="975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OBJECTIVE · 02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33400" y="700088"/>
            <a:ext cx="1223772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mo"/>
              <a:buNone/>
            </a:pPr>
            <a:r>
              <a:rPr lang="en-US" sz="3000">
                <a:latin typeface="Helvetica Neue"/>
                <a:ea typeface="Helvetica Neue"/>
                <a:cs typeface="Helvetica Neue"/>
                <a:sym typeface="Helvetica Neue"/>
              </a:rPr>
              <a:t>Research Purpose </a:t>
            </a:r>
            <a:endParaRPr i="0" sz="3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533400" y="1544577"/>
            <a:ext cx="4953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7179"/>
              </a:lnSpc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2550"/>
              <a:buFont typeface="Arimo"/>
              <a:buNone/>
            </a:pPr>
            <a:r>
              <a:rPr b="1" lang="en-US" sz="2550">
                <a:solidFill>
                  <a:srgbClr val="CFB9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r>
              <a:rPr b="1" i="0" lang="en-US" sz="2550" u="none" cap="none" strike="noStrike">
                <a:solidFill>
                  <a:srgbClr val="CFB9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b="1" i="0" sz="25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1162050" y="1544577"/>
            <a:ext cx="6441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mo"/>
              <a:buNone/>
            </a:pPr>
            <a:r>
              <a:rPr i="0" lang="en-US" sz="1575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Automated Accident Severity Classification</a:t>
            </a:r>
            <a:endParaRPr i="0" sz="157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1162050" y="1820802"/>
            <a:ext cx="60315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405"/>
              </a:lnSpc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1200"/>
              <a:buFont typeface="Arimo"/>
              <a:buNone/>
            </a:pPr>
            <a:r>
              <a:rPr i="0" lang="en-US" sz="1200" u="none" cap="none" strike="noStrike">
                <a:solidFill>
                  <a:srgbClr val="8080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aviation industry generates massive volumes of unstructured accident reports. Efficiently processing this big data is critical for the optimal allocation of limited investigation resources.</a:t>
            </a:r>
            <a:endParaRPr i="0" sz="1200" u="none" cap="none" strike="noStrike">
              <a:solidFill>
                <a:srgbClr val="80808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533400" y="3243496"/>
            <a:ext cx="4953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7179"/>
              </a:lnSpc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2550"/>
              <a:buFont typeface="Arimo"/>
              <a:buNone/>
            </a:pPr>
            <a:r>
              <a:rPr b="1" lang="en-US" sz="2550">
                <a:solidFill>
                  <a:srgbClr val="CFB9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r>
              <a:rPr b="1" i="0" lang="en-US" sz="2550" u="none" cap="none" strike="noStrike">
                <a:solidFill>
                  <a:srgbClr val="CFB9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b="1" i="0" sz="25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1162050" y="3243496"/>
            <a:ext cx="6441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mo"/>
              <a:buNone/>
            </a:pPr>
            <a:r>
              <a:rPr i="0" lang="en-US" sz="1575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Data-Driven Safety Management</a:t>
            </a:r>
            <a:endParaRPr i="0" sz="157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1162050" y="3519721"/>
            <a:ext cx="60315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405"/>
              </a:lnSpc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1200"/>
              <a:buFont typeface="Arimo"/>
              <a:buNone/>
            </a:pPr>
            <a:r>
              <a:rPr i="0" lang="en-US" sz="1200" u="none" cap="none" strike="noStrike">
                <a:solidFill>
                  <a:srgbClr val="8080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 a machine-learning architecture that automatically classifies the severity of post-event occurrences from factual data and investigator narratives.</a:t>
            </a:r>
            <a:endParaRPr i="0" sz="1200" u="none" cap="none" strike="noStrike">
              <a:solidFill>
                <a:srgbClr val="80808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533400" y="4874003"/>
            <a:ext cx="4953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7179"/>
              </a:lnSpc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2550"/>
              <a:buFont typeface="Arimo"/>
              <a:buNone/>
            </a:pPr>
            <a:r>
              <a:rPr b="1" lang="en-US" sz="2550">
                <a:solidFill>
                  <a:srgbClr val="CFB9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r>
              <a:rPr b="1" i="0" lang="en-US" sz="2550" u="none" cap="none" strike="noStrike">
                <a:solidFill>
                  <a:srgbClr val="CFB9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b="1" i="0" sz="25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1162050" y="4874003"/>
            <a:ext cx="64413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mo"/>
              <a:buNone/>
            </a:pPr>
            <a:r>
              <a:rPr i="0" lang="en-US" sz="1575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Paradigm Shift: Classification → Statistics → Policy</a:t>
            </a:r>
            <a:endParaRPr i="0" sz="157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1162050" y="5212141"/>
            <a:ext cx="60315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405"/>
              </a:lnSpc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1200"/>
              <a:buFont typeface="Arimo"/>
              <a:buNone/>
            </a:pPr>
            <a:r>
              <a:rPr i="0" lang="en-US" sz="1200" u="none" cap="none" strike="noStrike">
                <a:solidFill>
                  <a:srgbClr val="8080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Beyond simple categorization, accumulating classified data unlocks macro-level risk-pattern analysis to inform safety policy.</a:t>
            </a:r>
            <a:endParaRPr i="0" sz="1200" u="none" cap="none" strike="noStrike">
              <a:solidFill>
                <a:srgbClr val="80808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preencoded.png" id="128" name="Google Shape;128;p4"/>
          <p:cNvPicPr preferRelativeResize="0"/>
          <p:nvPr/>
        </p:nvPicPr>
        <p:blipFill rotWithShape="1">
          <a:blip r:embed="rId4">
            <a:alphaModFix/>
          </a:blip>
          <a:srcRect b="0" l="20432" r="20432" t="0"/>
          <a:stretch/>
        </p:blipFill>
        <p:spPr>
          <a:xfrm>
            <a:off x="7475041" y="1576388"/>
            <a:ext cx="4183560" cy="471963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/>
          <p:nvPr/>
        </p:nvSpPr>
        <p:spPr>
          <a:xfrm>
            <a:off x="7475041" y="1566863"/>
            <a:ext cx="57150" cy="4719638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533400" y="6372225"/>
            <a:ext cx="11125200" cy="9525"/>
          </a:xfrm>
          <a:prstGeom prst="rect">
            <a:avLst/>
          </a:prstGeom>
          <a:solidFill>
            <a:srgbClr val="DAD7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533400" y="6457950"/>
            <a:ext cx="278275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i="0" lang="en-US" sz="788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PREDICTING AVIATION ACCIDENT SEVERITY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11527334" y="6457950"/>
            <a:ext cx="20746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i="0" lang="en-US" sz="788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8" name="Google Shape;1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6789" y="361950"/>
            <a:ext cx="1271811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/>
          <p:nvPr/>
        </p:nvSpPr>
        <p:spPr>
          <a:xfrm>
            <a:off x="533400" y="495300"/>
            <a:ext cx="12237720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975"/>
              <a:buFont typeface="Arimo"/>
              <a:buNone/>
            </a:pPr>
            <a:r>
              <a:rPr b="1" i="0" lang="en-US" sz="975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EDA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533400" y="700088"/>
            <a:ext cx="1223772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mo"/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Feature Selection</a:t>
            </a:r>
            <a:endParaRPr i="0" sz="3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533400" y="1305163"/>
            <a:ext cx="103014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081"/>
              </a:lnSpc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1200"/>
              <a:buFont typeface="Arimo"/>
              <a:buNone/>
            </a:pPr>
            <a:r>
              <a:rPr lang="en-US" sz="1200">
                <a:solidFill>
                  <a:srgbClr val="5558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Input variables were selected by comparing their association with the Highest Injury Level. </a:t>
            </a:r>
            <a:endParaRPr sz="1200">
              <a:solidFill>
                <a:srgbClr val="55585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21081"/>
              </a:lnSpc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1200"/>
              <a:buFont typeface="Arimo"/>
              <a:buNone/>
            </a:pPr>
            <a:r>
              <a:rPr lang="en-US" sz="1200">
                <a:solidFill>
                  <a:srgbClr val="5558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Variables with relatively stronger associations were prioritized while considering their availability and practical usefulness for prediction. </a:t>
            </a:r>
            <a:endParaRPr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533400" y="6372225"/>
            <a:ext cx="11125200" cy="9525"/>
          </a:xfrm>
          <a:prstGeom prst="rect">
            <a:avLst/>
          </a:prstGeom>
          <a:solidFill>
            <a:srgbClr val="DAD7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533400" y="6457950"/>
            <a:ext cx="278275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i="0" lang="en-US" sz="788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PREDICTING AVIATION ACCIDENT SEVERITY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11527334" y="6457950"/>
            <a:ext cx="20746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i="0" lang="en-US" sz="788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0</a:t>
            </a:r>
            <a:r>
              <a:rPr b="1" lang="en-US" sz="788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5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400" y="1898700"/>
            <a:ext cx="7569276" cy="409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7" title="Frame 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2684" y="2629263"/>
            <a:ext cx="4145899" cy="2290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2" name="Google Shape;15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6789" y="361950"/>
            <a:ext cx="1271811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/>
          <p:nvPr/>
        </p:nvSpPr>
        <p:spPr>
          <a:xfrm>
            <a:off x="533400" y="495300"/>
            <a:ext cx="12237720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975"/>
              <a:buFont typeface="Arimo"/>
              <a:buNone/>
            </a:pPr>
            <a:r>
              <a:rPr b="1" i="0" lang="en-US" sz="975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NTSB DATA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533400" y="700088"/>
            <a:ext cx="1223772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mo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Dataset Description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533400" y="1452575"/>
            <a:ext cx="74643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081"/>
              </a:lnSpc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1200"/>
              <a:buFont typeface="Arimo"/>
              <a:buNone/>
            </a:pPr>
            <a:r>
              <a:rPr i="0" lang="en-US" sz="1200" u="none" cap="none" strike="noStrike">
                <a:solidFill>
                  <a:srgbClr val="5558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NTSB dataset contains detailed investigation records of transportation accidents and </a:t>
            </a:r>
            <a:r>
              <a:rPr i="0" lang="en-US" sz="1200" u="none" cap="none" strike="noStrike">
                <a:solidFill>
                  <a:srgbClr val="5558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i="0" lang="en-US" sz="1200" u="none" cap="none" strike="noStrike">
                <a:solidFill>
                  <a:srgbClr val="5558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ncidents — aviation, railroad, highway, and marine.</a:t>
            </a:r>
            <a:endParaRPr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533400" y="2452200"/>
            <a:ext cx="3426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6900" lIns="26900" spcFirstLastPara="1" rIns="26900" wrap="square" tIns="269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1191"/>
              <a:buFont typeface="Arimo"/>
              <a:buNone/>
            </a:pPr>
            <a:r>
              <a:rPr b="1" i="0" lang="en-US" sz="1191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  <a:endParaRPr b="0" i="0" sz="1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956831" y="2452200"/>
            <a:ext cx="47223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6900" lIns="26900" spcFirstLastPara="1" rIns="26900" wrap="square" tIns="269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Arimo"/>
              <a:buNone/>
            </a:pPr>
            <a:r>
              <a:rPr b="1" i="0" lang="en-US" sz="127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HighestInjuryLevel</a:t>
            </a:r>
            <a:r>
              <a:rPr b="0" i="0" lang="en-US" sz="1191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— extent of injury caused by the accident.</a:t>
            </a:r>
            <a:endParaRPr b="0" i="0" sz="12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533400" y="2910916"/>
            <a:ext cx="3426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6900" lIns="26900" spcFirstLastPara="1" rIns="26900" wrap="square" tIns="269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1191"/>
              <a:buFont typeface="Arimo"/>
              <a:buNone/>
            </a:pPr>
            <a:r>
              <a:rPr b="1" i="0" lang="en-US" sz="1191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  <a:endParaRPr b="0" i="0" sz="1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956831" y="2910916"/>
            <a:ext cx="42249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6900" lIns="26900" spcFirstLastPara="1" rIns="26900" wrap="square" tIns="269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Arimo"/>
              <a:buNone/>
            </a:pPr>
            <a:r>
              <a:rPr b="1" i="0" lang="en-US" sz="127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Findings</a:t>
            </a:r>
            <a:r>
              <a:rPr b="0" i="0" lang="en-US" sz="1191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— investigator narrative of contributing factors.</a:t>
            </a:r>
            <a:endParaRPr b="0" i="0" sz="12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533400" y="3369633"/>
            <a:ext cx="3426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6900" lIns="26900" spcFirstLastPara="1" rIns="26900" wrap="square" tIns="269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1191"/>
              <a:buFont typeface="Arimo"/>
              <a:buNone/>
            </a:pPr>
            <a:r>
              <a:rPr b="1" i="0" lang="en-US" sz="1191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  <a:endParaRPr b="0" i="0" sz="1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956831" y="3369633"/>
            <a:ext cx="41409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6900" lIns="26900" spcFirstLastPara="1" rIns="26900" wrap="square" tIns="269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Arimo"/>
              <a:buNone/>
            </a:pPr>
            <a:r>
              <a:rPr b="1" i="0" lang="en-US" sz="127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WeatherCondition</a:t>
            </a:r>
            <a:r>
              <a:rPr b="0" i="0" lang="en-US" sz="1191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— flight weather, e.g. VMC or IMC.</a:t>
            </a:r>
            <a:endParaRPr b="0" i="0" sz="12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533400" y="3828348"/>
            <a:ext cx="3426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6900" lIns="26900" spcFirstLastPara="1" rIns="26900" wrap="square" tIns="269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1191"/>
              <a:buFont typeface="Arimo"/>
              <a:buNone/>
            </a:pPr>
            <a:r>
              <a:rPr b="1" i="0" lang="en-US" sz="1191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  <a:endParaRPr b="0" i="0" sz="1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956831" y="3828348"/>
            <a:ext cx="47928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6900" lIns="26900" spcFirstLastPara="1" rIns="26900" wrap="square" tIns="269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Arimo"/>
              <a:buNone/>
            </a:pPr>
            <a:r>
              <a:rPr b="1" i="0" lang="en-US" sz="127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BroadPhaseofFlight</a:t>
            </a:r>
            <a:r>
              <a:rPr b="0" i="0" lang="en-US" sz="1191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— flight phase at the time of the accident.</a:t>
            </a:r>
            <a:endParaRPr b="0" i="0" sz="12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533400" y="4287065"/>
            <a:ext cx="3426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6900" lIns="26900" spcFirstLastPara="1" rIns="26900" wrap="square" tIns="269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1191"/>
              <a:buFont typeface="Arimo"/>
              <a:buNone/>
            </a:pPr>
            <a:r>
              <a:rPr b="1" i="0" lang="en-US" sz="1191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05</a:t>
            </a:r>
            <a:endParaRPr b="0" i="0" sz="1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956831" y="4287065"/>
            <a:ext cx="36051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6900" lIns="26900" spcFirstLastPara="1" rIns="26900" wrap="square" tIns="269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Arimo"/>
              <a:buNone/>
            </a:pPr>
            <a:r>
              <a:rPr b="1" i="0" lang="en-US" sz="127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State</a:t>
            </a:r>
            <a:r>
              <a:rPr b="0" i="0" lang="en-US" sz="1191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— U.S. state where the accident occurred.</a:t>
            </a:r>
            <a:endParaRPr b="0" i="0" sz="12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533400" y="4745781"/>
            <a:ext cx="3426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6900" lIns="26900" spcFirstLastPara="1" rIns="26900" wrap="square" tIns="269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1191"/>
              <a:buFont typeface="Arimo"/>
              <a:buNone/>
            </a:pPr>
            <a:r>
              <a:rPr b="1" i="0" lang="en-US" sz="1191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06</a:t>
            </a:r>
            <a:endParaRPr b="0" i="0" sz="1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956831" y="4745781"/>
            <a:ext cx="49923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6900" lIns="26900" spcFirstLastPara="1" rIns="26900" wrap="square" tIns="269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Arimo"/>
              <a:buNone/>
            </a:pPr>
            <a:r>
              <a:rPr b="1" i="0" lang="en-US" sz="127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AircraftDamage</a:t>
            </a:r>
            <a:r>
              <a:rPr b="0" i="0" lang="en-US" sz="1191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— damage extent: Minor, Substantial, Destroyed.</a:t>
            </a:r>
            <a:endParaRPr b="0" i="0" sz="12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533400" y="6372225"/>
            <a:ext cx="11125200" cy="9525"/>
          </a:xfrm>
          <a:prstGeom prst="rect">
            <a:avLst/>
          </a:prstGeom>
          <a:solidFill>
            <a:srgbClr val="DAD7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533400" y="6457950"/>
            <a:ext cx="278275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i="0" lang="en-US" sz="788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PREDICTING AVIATION ACCIDENT SEVERITY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11527334" y="6457950"/>
            <a:ext cx="20746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i="0" lang="en-US" sz="788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0</a:t>
            </a:r>
            <a:r>
              <a:rPr b="1" lang="en-US" sz="788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6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6091350" y="2454850"/>
            <a:ext cx="3240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1125"/>
              <a:buFont typeface="Arimo"/>
              <a:buNone/>
            </a:pPr>
            <a:r>
              <a:rPr b="1" i="0" lang="en-US" sz="1125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07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6491400" y="2454850"/>
            <a:ext cx="32709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AircraftCategory</a:t>
            </a:r>
            <a:r>
              <a:rPr b="0" i="0" lang="en-US" sz="1125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— e.g. Airplane, Helicopter.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6091350" y="2926338"/>
            <a:ext cx="3240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1125"/>
              <a:buFont typeface="Arimo"/>
              <a:buNone/>
            </a:pPr>
            <a:r>
              <a:rPr b="1" i="0" lang="en-US" sz="1125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09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6491400" y="2926338"/>
            <a:ext cx="30693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EngineType</a:t>
            </a:r>
            <a:r>
              <a:rPr b="0" i="0" lang="en-US" sz="1125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— e.g. Jet, Turboprop, Piston.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6091350" y="3397825"/>
            <a:ext cx="3240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1125"/>
              <a:buFont typeface="Arimo"/>
              <a:buNone/>
            </a:pPr>
            <a:r>
              <a:rPr b="1" i="0" lang="en-US" sz="1125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11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6491400" y="3397825"/>
            <a:ext cx="3646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FAR</a:t>
            </a:r>
            <a:r>
              <a:rPr b="0" i="0" lang="en-US" sz="1125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— applicable regulation, e.g. Part 121, Part 91.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6091350" y="3936525"/>
            <a:ext cx="3240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1125"/>
              <a:buFont typeface="Arimo"/>
              <a:buNone/>
            </a:pPr>
            <a:r>
              <a:rPr b="1" i="0" lang="en-US" sz="1125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08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6491400" y="3936525"/>
            <a:ext cx="39354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NumberOfEngines</a:t>
            </a:r>
            <a:r>
              <a:rPr b="0" i="0" lang="en-US" sz="1125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— engines installed on the aircraft.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6091350" y="4408013"/>
            <a:ext cx="3240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1125"/>
              <a:buFont typeface="Arimo"/>
              <a:buNone/>
            </a:pPr>
            <a:r>
              <a:rPr b="1" i="0" lang="en-US" sz="1125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10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6491400" y="4408013"/>
            <a:ext cx="35184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AmateurBuilt</a:t>
            </a:r>
            <a:r>
              <a:rPr b="0" i="0" lang="en-US" sz="1125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— amateur-built aircraft (Yes / No).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6091350" y="4879500"/>
            <a:ext cx="3240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1125"/>
              <a:buFont typeface="Arimo"/>
              <a:buNone/>
            </a:pPr>
            <a:r>
              <a:rPr b="1" i="0" lang="en-US" sz="1125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12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6491400" y="4879500"/>
            <a:ext cx="4099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PurposeOfFlight</a:t>
            </a:r>
            <a:r>
              <a:rPr b="0" i="0" lang="en-US" sz="1125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— e.g. Personal, Training, Commercial.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8" name="Google Shape;18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6789" y="361950"/>
            <a:ext cx="1271811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9"/>
          <p:cNvSpPr/>
          <p:nvPr/>
        </p:nvSpPr>
        <p:spPr>
          <a:xfrm>
            <a:off x="533400" y="495300"/>
            <a:ext cx="12237720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975"/>
              <a:buFont typeface="Arimo"/>
              <a:buNone/>
            </a:pPr>
            <a:r>
              <a:rPr b="1" i="0" lang="en-US" sz="975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METHODOLOGY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533400" y="700088"/>
            <a:ext cx="1223772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mo"/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Cleaning &amp; Transformation</a:t>
            </a:r>
            <a:endParaRPr i="0" sz="3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533400" y="3435738"/>
            <a:ext cx="3492600" cy="285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533400" y="3635775"/>
            <a:ext cx="34926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975"/>
              <a:buFont typeface="Arimo"/>
              <a:buNone/>
            </a:pPr>
            <a:r>
              <a:rPr i="0" lang="en-US" sz="975" u="none" cap="none" strike="noStrike">
                <a:solidFill>
                  <a:srgbClr val="8E6F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TARGET</a:t>
            </a:r>
            <a:endParaRPr i="0" sz="97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533400" y="3859600"/>
            <a:ext cx="34572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mo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reframing</a:t>
            </a:r>
            <a:endParaRPr b="1" i="0" sz="15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533400" y="4169175"/>
            <a:ext cx="3422700" cy="1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2353"/>
              </a:lnSpc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1125"/>
              <a:buFont typeface="Arimo"/>
              <a:buNone/>
            </a:pPr>
            <a:r>
              <a:rPr i="0" lang="en-US" sz="1125" u="none" cap="none" strike="noStrike">
                <a:solidFill>
                  <a:srgbClr val="5558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Removed None (no-injury) records and collapsed the ambiguous 4-class label into </a:t>
            </a:r>
            <a:r>
              <a:rPr b="1" i="0" lang="en-US" sz="1125" u="none" cap="none" strike="noStrike">
                <a:solidFill>
                  <a:srgbClr val="5558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Fatal / Non-Fatal</a:t>
            </a:r>
            <a:r>
              <a:rPr i="0" lang="en-US" sz="1125" u="none" cap="none" strike="noStrike">
                <a:solidFill>
                  <a:srgbClr val="5558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— eliminating class confusion and, operationally, guarding against the most catastrophic error: missing a fatal accident.</a:t>
            </a:r>
            <a:endParaRPr i="0" sz="112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4349725" y="3435750"/>
            <a:ext cx="3492600" cy="285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4336158" y="3635775"/>
            <a:ext cx="35061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975"/>
              <a:buFont typeface="Arimo"/>
              <a:buNone/>
            </a:pPr>
            <a:r>
              <a:rPr i="0" lang="en-US" sz="975" u="none" cap="none" strike="noStrike">
                <a:solidFill>
                  <a:srgbClr val="8E6F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SPLIT</a:t>
            </a:r>
            <a:endParaRPr i="0" sz="97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4349725" y="3850498"/>
            <a:ext cx="38418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mo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Train / Val / Test</a:t>
            </a:r>
            <a:endParaRPr b="1" i="0" sz="15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4349725" y="4169175"/>
            <a:ext cx="34926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2353"/>
              </a:lnSpc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1125"/>
              <a:buFont typeface="Arimo"/>
              <a:buNone/>
            </a:pPr>
            <a:r>
              <a:rPr i="0" lang="en-US" sz="1125" u="none" cap="none" strike="noStrike">
                <a:solidFill>
                  <a:srgbClr val="5558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Stratified </a:t>
            </a:r>
            <a:r>
              <a:rPr b="1" i="0" lang="en-US" sz="1125" u="none" cap="none" strike="noStrike">
                <a:solidFill>
                  <a:srgbClr val="5558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80 : 10 : 10</a:t>
            </a:r>
            <a:r>
              <a:rPr i="0" lang="en-US" sz="1125" u="none" cap="none" strike="noStrike">
                <a:solidFill>
                  <a:srgbClr val="5558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split (SEED = 123) preserving the Fatal / Non-Fatal ratio across all partitions so evaluation reflects the true class balance.</a:t>
            </a:r>
            <a:endParaRPr i="0" sz="112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8166050" y="3438398"/>
            <a:ext cx="3492600" cy="285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8166050" y="3638423"/>
            <a:ext cx="38418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975"/>
              <a:buFont typeface="Arimo"/>
              <a:buNone/>
            </a:pPr>
            <a:r>
              <a:rPr i="0" lang="en-US" sz="975" u="none" cap="none" strike="noStrike">
                <a:solidFill>
                  <a:srgbClr val="8E6F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METRICS</a:t>
            </a:r>
            <a:endParaRPr i="0" sz="97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8166050" y="3862261"/>
            <a:ext cx="38418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mo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Recall over accuracy</a:t>
            </a:r>
            <a:endParaRPr b="1" i="0" sz="15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8166050" y="4171823"/>
            <a:ext cx="35973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2353"/>
              </a:lnSpc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1125"/>
              <a:buFont typeface="Arimo"/>
              <a:buNone/>
            </a:pPr>
            <a:r>
              <a:rPr lang="en-US" sz="1125">
                <a:solidFill>
                  <a:srgbClr val="5558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Although Accuracy is reported, Fatal Recall is prioritized because detecting fatal accidents is the primary objective. Macro-F1 is used to evaluate balanced performance across classes. </a:t>
            </a:r>
            <a:endParaRPr i="0" sz="112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533400" y="6372225"/>
            <a:ext cx="11125200" cy="9525"/>
          </a:xfrm>
          <a:prstGeom prst="rect">
            <a:avLst/>
          </a:prstGeom>
          <a:solidFill>
            <a:srgbClr val="DAD7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533400" y="6457950"/>
            <a:ext cx="278275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i="0" lang="en-US" sz="788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PREDICTING AVIATION ACCIDENT SEVERITY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11527334" y="6457950"/>
            <a:ext cx="20746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i="0" lang="en-US" sz="788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07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4336150" y="1917788"/>
            <a:ext cx="3457200" cy="242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61950" lIns="61950" spcFirstLastPara="1" rIns="61950" wrap="square" tIns="61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4435356" y="1966044"/>
            <a:ext cx="1302000" cy="1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225" lIns="17225" spcFirstLastPara="1" rIns="17225" wrap="square" tIns="17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1"/>
              <a:buFont typeface="Arimo"/>
              <a:buNone/>
            </a:pPr>
            <a:r>
              <a:rPr b="1" i="0" lang="en-US" sz="1061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PARTITION</a:t>
            </a:r>
            <a:endParaRPr b="0" i="0" sz="106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5604102" y="1988794"/>
            <a:ext cx="548400" cy="1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225" lIns="17225" spcFirstLastPara="1" rIns="17225" wrap="square" tIns="172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1"/>
              <a:buFont typeface="Arimo"/>
              <a:buNone/>
            </a:pPr>
            <a:r>
              <a:rPr b="1" i="0" lang="en-US" sz="1061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ALL</a:t>
            </a:r>
            <a:endParaRPr b="0" i="0" sz="106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6216218" y="1966044"/>
            <a:ext cx="872100" cy="1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225" lIns="17225" spcFirstLastPara="1" rIns="17225" wrap="square" tIns="172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1"/>
              <a:buFont typeface="Arimo"/>
              <a:buNone/>
            </a:pPr>
            <a:r>
              <a:rPr b="1" i="0" lang="en-US" sz="1061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NON-FATAL</a:t>
            </a:r>
            <a:endParaRPr b="0" i="0" sz="106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7199241" y="1966046"/>
            <a:ext cx="499800" cy="1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225" lIns="17225" spcFirstLastPara="1" rIns="17225" wrap="square" tIns="172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1"/>
              <a:buFont typeface="Arimo"/>
              <a:buNone/>
            </a:pPr>
            <a:r>
              <a:rPr b="1" i="0" lang="en-US" sz="1061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FATAL</a:t>
            </a:r>
            <a:endParaRPr b="0" i="0" sz="106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4336150" y="2430984"/>
            <a:ext cx="3457200" cy="6600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txBody>
          <a:bodyPr anchorCtr="0" anchor="ctr" bIns="61950" lIns="61950" spcFirstLastPara="1" rIns="61950" wrap="square" tIns="61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4435356" y="2221186"/>
            <a:ext cx="13020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225" lIns="17225" spcFirstLastPara="1" rIns="17225" wrap="square" tIns="17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mo"/>
              <a:buNone/>
            </a:pPr>
            <a:r>
              <a:rPr b="1" i="0" lang="en-US" sz="1013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Train (80%)</a:t>
            </a:r>
            <a:endParaRPr b="0" i="0" sz="10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5604102" y="2221186"/>
            <a:ext cx="5484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225" lIns="17225" spcFirstLastPara="1" rIns="17225" wrap="square" tIns="172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mo"/>
              <a:buNone/>
            </a:pPr>
            <a:r>
              <a:rPr b="0" i="0" lang="en-US" sz="1013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2,593</a:t>
            </a:r>
            <a:endParaRPr b="0" i="0" sz="10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6216218" y="2221186"/>
            <a:ext cx="8721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225" lIns="17225" spcFirstLastPara="1" rIns="17225" wrap="square" tIns="172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mo"/>
              <a:buNone/>
            </a:pPr>
            <a:r>
              <a:rPr b="0" i="0" lang="en-US" sz="1013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1,678</a:t>
            </a:r>
            <a:endParaRPr b="0" i="0" sz="10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7199241" y="2221188"/>
            <a:ext cx="4998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225" lIns="17225" spcFirstLastPara="1" rIns="17225" wrap="square" tIns="172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mo"/>
              <a:buNone/>
            </a:pPr>
            <a:r>
              <a:rPr b="0" i="0" lang="en-US" sz="1013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915</a:t>
            </a:r>
            <a:endParaRPr b="0" i="0" sz="10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4336150" y="2437440"/>
            <a:ext cx="3457200" cy="2808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 anchorCtr="0" anchor="ctr" bIns="61950" lIns="61950" spcFirstLastPara="1" rIns="61950" wrap="square" tIns="61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4336150" y="2711791"/>
            <a:ext cx="3457200" cy="6600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txBody>
          <a:bodyPr anchorCtr="0" anchor="ctr" bIns="61950" lIns="61950" spcFirstLastPara="1" rIns="61950" wrap="square" tIns="61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4435356" y="2498790"/>
            <a:ext cx="13020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225" lIns="17225" spcFirstLastPara="1" rIns="17225" wrap="square" tIns="17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mo"/>
              <a:buNone/>
            </a:pPr>
            <a:r>
              <a:rPr b="1" i="0" lang="en-US" sz="1013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Validation (10%)</a:t>
            </a:r>
            <a:endParaRPr b="0" i="0" sz="10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5604102" y="2498790"/>
            <a:ext cx="548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225" lIns="17225" spcFirstLastPara="1" rIns="17225" wrap="square" tIns="172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mo"/>
              <a:buNone/>
            </a:pPr>
            <a:r>
              <a:rPr b="0" i="0" lang="en-US" sz="1013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324</a:t>
            </a:r>
            <a:endParaRPr b="0" i="0" sz="10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6216218" y="2498790"/>
            <a:ext cx="872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225" lIns="17225" spcFirstLastPara="1" rIns="17225" wrap="square" tIns="172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mo"/>
              <a:buNone/>
            </a:pPr>
            <a:r>
              <a:rPr b="0" i="0" lang="en-US" sz="1013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210</a:t>
            </a:r>
            <a:endParaRPr b="0" i="0" sz="10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7199241" y="2498791"/>
            <a:ext cx="4998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225" lIns="17225" spcFirstLastPara="1" rIns="17225" wrap="square" tIns="172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mo"/>
              <a:buNone/>
            </a:pPr>
            <a:r>
              <a:rPr b="0" i="0" lang="en-US" sz="1013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114</a:t>
            </a:r>
            <a:endParaRPr b="0" i="0" sz="10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4336150" y="2989369"/>
            <a:ext cx="3457200" cy="129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txBody>
          <a:bodyPr anchorCtr="0" anchor="ctr" bIns="61950" lIns="61950" spcFirstLastPara="1" rIns="61950" wrap="square" tIns="61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4435356" y="2776421"/>
            <a:ext cx="13020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225" lIns="17225" spcFirstLastPara="1" rIns="17225" wrap="square" tIns="17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mo"/>
              <a:buNone/>
            </a:pPr>
            <a:r>
              <a:rPr b="1" i="0" lang="en-US" sz="1013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Test (10%)</a:t>
            </a:r>
            <a:endParaRPr b="0" i="0" sz="10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5604102" y="2776422"/>
            <a:ext cx="5484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225" lIns="17225" spcFirstLastPara="1" rIns="17225" wrap="square" tIns="172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mo"/>
              <a:buNone/>
            </a:pPr>
            <a:r>
              <a:rPr b="0" i="0" lang="en-US" sz="1013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324</a:t>
            </a:r>
            <a:endParaRPr b="0" i="0" sz="10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6216218" y="2776422"/>
            <a:ext cx="8721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225" lIns="17225" spcFirstLastPara="1" rIns="17225" wrap="square" tIns="172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mo"/>
              <a:buNone/>
            </a:pPr>
            <a:r>
              <a:rPr b="0" i="0" lang="en-US" sz="1013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209</a:t>
            </a:r>
            <a:endParaRPr b="0" i="0" sz="10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7199241" y="2776423"/>
            <a:ext cx="4998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225" lIns="17225" spcFirstLastPara="1" rIns="17225" wrap="square" tIns="172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mo"/>
              <a:buNone/>
            </a:pPr>
            <a:r>
              <a:rPr b="0" i="0" lang="en-US" sz="1013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115</a:t>
            </a:r>
            <a:endParaRPr b="0" i="0" sz="10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4336160" y="2992638"/>
            <a:ext cx="3457200" cy="1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225" lIns="17225" spcFirstLastPara="1" rIns="17225" wrap="square" tIns="17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610"/>
              <a:buFont typeface="Arimo"/>
              <a:buNone/>
            </a:pPr>
            <a:r>
              <a:rPr b="0" i="0" lang="en-US" sz="610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Total 3,241 records · Non-Fatal 2,097 · Fatal 1,144</a:t>
            </a:r>
            <a:endParaRPr b="0" i="0" sz="6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8219200" y="1877463"/>
            <a:ext cx="1968000" cy="2508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txBody>
          <a:bodyPr anchorCtr="0" anchor="ctr" bIns="70800" lIns="70800" spcFirstLastPara="1" rIns="70800" wrap="square" tIns="7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8322135" y="1921734"/>
            <a:ext cx="18312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75" lIns="19675" spcFirstLastPara="1" rIns="19675" wrap="square" tIns="19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1"/>
              <a:buFont typeface="Arimo"/>
              <a:buNone/>
            </a:pPr>
            <a:r>
              <a:rPr b="1" i="0" lang="en-US" sz="871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Minor + Serious → Non-Fatal</a:t>
            </a:r>
            <a:endParaRPr b="0" i="0" sz="87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10307391" y="1905808"/>
            <a:ext cx="858300" cy="1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75" lIns="19675" spcFirstLastPara="1" rIns="19675" wrap="square" tIns="19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6"/>
              <a:buFont typeface="Arimo"/>
              <a:buNone/>
            </a:pPr>
            <a:r>
              <a:rPr b="1" i="0" lang="en-US" sz="1046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2,097 rows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8219200" y="2231633"/>
            <a:ext cx="1007100" cy="250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70800" lIns="70800" spcFirstLastPara="1" rIns="70800" wrap="square" tIns="7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8322135" y="2275904"/>
            <a:ext cx="8694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75" lIns="19675" spcFirstLastPara="1" rIns="19675" wrap="square" tIns="19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1"/>
              <a:buFont typeface="Arimo"/>
              <a:buNone/>
            </a:pPr>
            <a:r>
              <a:rPr b="1" i="0" lang="en-US" sz="871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Fatal → Fatal</a:t>
            </a:r>
            <a:endParaRPr b="0" i="0" sz="87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9345992" y="2251301"/>
            <a:ext cx="858300" cy="1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75" lIns="19675" spcFirstLastPara="1" rIns="19675" wrap="square" tIns="19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6"/>
              <a:buFont typeface="Arimo"/>
              <a:buNone/>
            </a:pPr>
            <a:r>
              <a:rPr b="1" i="0" lang="en-US" sz="1046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1,144 rows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8329975" y="2644825"/>
            <a:ext cx="3328800" cy="516300"/>
          </a:xfrm>
          <a:prstGeom prst="rect">
            <a:avLst/>
          </a:prstGeom>
          <a:solidFill>
            <a:srgbClr val="F4F3F1"/>
          </a:solidFill>
          <a:ln>
            <a:noFill/>
          </a:ln>
        </p:spPr>
        <p:txBody>
          <a:bodyPr anchorCtr="0" anchor="ctr" bIns="70800" lIns="70800" spcFirstLastPara="1" rIns="70800" wrap="square" tIns="7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8219200" y="2644822"/>
            <a:ext cx="29400" cy="5163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txBody>
          <a:bodyPr anchorCtr="0" anchor="ctr" bIns="70800" lIns="70800" spcFirstLastPara="1" rIns="70800" wrap="square" tIns="7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8485425" y="2748125"/>
            <a:ext cx="31731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75" lIns="19675" spcFirstLastPara="1" rIns="19675" wrap="square" tIns="19675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13"/>
              <a:buFont typeface="Arimo"/>
              <a:buNone/>
            </a:pPr>
            <a:r>
              <a:rPr b="1" i="0" lang="en-US" sz="813" u="none" cap="none" strike="noStrike">
                <a:solidFill>
                  <a:srgbClr val="111111"/>
                </a:solidFill>
                <a:latin typeface="Arimo"/>
                <a:ea typeface="Arimo"/>
                <a:cs typeface="Arimo"/>
                <a:sym typeface="Arimo"/>
              </a:rPr>
              <a:t>Fatal </a:t>
            </a:r>
            <a:r>
              <a:rPr b="0" i="0" lang="en-US" sz="813" u="none" cap="none" strike="noStrike">
                <a:solidFill>
                  <a:srgbClr val="55585F"/>
                </a:solidFill>
                <a:highlight>
                  <a:srgbClr val="F4F3F1"/>
                </a:highlight>
                <a:latin typeface="Arimo"/>
                <a:ea typeface="Arimo"/>
                <a:cs typeface="Arimo"/>
                <a:sym typeface="Arimo"/>
              </a:rPr>
              <a:t>is the primary prediction target. A stratified </a:t>
            </a:r>
            <a:r>
              <a:rPr b="1" i="0" lang="en-US" sz="813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80 : 10 : 10 </a:t>
            </a:r>
            <a:r>
              <a:rPr b="0" i="0" lang="en-US" sz="813" u="none" cap="none" strike="noStrike">
                <a:solidFill>
                  <a:srgbClr val="55585F"/>
                </a:solidFill>
                <a:highlight>
                  <a:srgbClr val="F4F3F1"/>
                </a:highlight>
                <a:latin typeface="Arimo"/>
                <a:ea typeface="Arimo"/>
                <a:cs typeface="Arimo"/>
                <a:sym typeface="Arimo"/>
              </a:rPr>
              <a:t>split (SEED = 123) preserves the class ratio in every partition.</a:t>
            </a:r>
            <a:endParaRPr b="0" i="0" sz="8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1386002" y="1722125"/>
            <a:ext cx="633600" cy="4167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txBody>
          <a:bodyPr anchorCtr="0" anchor="ctr" bIns="17150" lIns="34350" spcFirstLastPara="1" rIns="3435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551"/>
              <a:buFont typeface="Malgun Gothic"/>
              <a:buNone/>
            </a:pPr>
            <a:r>
              <a:rPr b="1" i="0" lang="en-US" sz="551" u="none" cap="none" strike="noStrike">
                <a:solidFill>
                  <a:srgbClr val="1A365D"/>
                </a:solidFill>
                <a:latin typeface="Malgun Gothic"/>
                <a:ea typeface="Malgun Gothic"/>
                <a:cs typeface="Malgun Gothic"/>
                <a:sym typeface="Malgun Gothic"/>
              </a:rPr>
              <a:t>Minor</a:t>
            </a:r>
            <a:endParaRPr b="0" i="0" sz="55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2323392" y="1722125"/>
            <a:ext cx="633600" cy="416700"/>
          </a:xfrm>
          <a:prstGeom prst="rect">
            <a:avLst/>
          </a:prstGeom>
          <a:solidFill>
            <a:srgbClr val="CFB991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350" spcFirstLastPara="1" rIns="3435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1"/>
              <a:buFont typeface="Malgun Gothic"/>
              <a:buNone/>
            </a:pPr>
            <a:r>
              <a:rPr b="1" i="0" lang="en-US" sz="55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Serious</a:t>
            </a:r>
            <a:endParaRPr b="0" i="0" sz="55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3140711" y="1727344"/>
            <a:ext cx="876000" cy="416700"/>
          </a:xfrm>
          <a:prstGeom prst="roundRect">
            <a:avLst>
              <a:gd fmla="val 10000" name="adj"/>
            </a:avLst>
          </a:prstGeom>
          <a:solidFill>
            <a:srgbClr val="E53E3E"/>
          </a:solidFill>
          <a:ln cap="flat" cmpd="sng" w="6325">
            <a:solidFill>
              <a:srgbClr val="E53E3E"/>
            </a:solidFill>
            <a:prstDash val="solid"/>
            <a:round/>
            <a:headEnd len="sm" w="sm" type="none"/>
            <a:tailEnd len="sm" w="sm" type="none"/>
          </a:ln>
          <a:effectLst>
            <a:outerShdw blurRad="50902" rotWithShape="0" algn="bl" dir="5400000" dist="12725">
              <a:srgbClr val="1A365D">
                <a:alpha val="12160"/>
              </a:srgbClr>
            </a:outerShdw>
          </a:effectLst>
        </p:spPr>
        <p:txBody>
          <a:bodyPr anchorCtr="0" anchor="ctr" bIns="34350" lIns="34350" spcFirstLastPara="1" rIns="34350" wrap="square" tIns="34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3140711" y="1727344"/>
            <a:ext cx="876000" cy="416700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anchorCtr="0" anchor="ctr" bIns="17150" lIns="34350" spcFirstLastPara="1" rIns="3435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1"/>
              <a:buFont typeface="Malgun Gothic"/>
              <a:buNone/>
            </a:pPr>
            <a:r>
              <a:rPr b="1" i="0" lang="en-US" sz="551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Fatal</a:t>
            </a:r>
            <a:endParaRPr b="0" i="0" sz="55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" name="Google Shape;241;p9"/>
          <p:cNvCxnSpPr>
            <a:stCxn id="237" idx="2"/>
            <a:endCxn id="242" idx="0"/>
          </p:cNvCxnSpPr>
          <p:nvPr/>
        </p:nvCxnSpPr>
        <p:spPr>
          <a:xfrm>
            <a:off x="1702802" y="2138825"/>
            <a:ext cx="443700" cy="666000"/>
          </a:xfrm>
          <a:prstGeom prst="straightConnector1">
            <a:avLst/>
          </a:prstGeom>
          <a:noFill/>
          <a:ln cap="flat" cmpd="sng" w="9550">
            <a:solidFill>
              <a:srgbClr val="A0AE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3" name="Google Shape;243;p9"/>
          <p:cNvCxnSpPr>
            <a:stCxn id="238" idx="2"/>
            <a:endCxn id="242" idx="0"/>
          </p:cNvCxnSpPr>
          <p:nvPr/>
        </p:nvCxnSpPr>
        <p:spPr>
          <a:xfrm flipH="1">
            <a:off x="2146392" y="2138825"/>
            <a:ext cx="493800" cy="666000"/>
          </a:xfrm>
          <a:prstGeom prst="straightConnector1">
            <a:avLst/>
          </a:prstGeom>
          <a:noFill/>
          <a:ln cap="flat" cmpd="sng" w="9550">
            <a:solidFill>
              <a:srgbClr val="A0AE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4" name="Google Shape;244;p9"/>
          <p:cNvCxnSpPr>
            <a:stCxn id="240" idx="2"/>
            <a:endCxn id="245" idx="0"/>
          </p:cNvCxnSpPr>
          <p:nvPr/>
        </p:nvCxnSpPr>
        <p:spPr>
          <a:xfrm>
            <a:off x="3578711" y="2144044"/>
            <a:ext cx="0" cy="664800"/>
          </a:xfrm>
          <a:prstGeom prst="straightConnector1">
            <a:avLst/>
          </a:prstGeom>
          <a:noFill/>
          <a:ln cap="flat" cmpd="sng" w="9550">
            <a:solidFill>
              <a:srgbClr val="FEB2B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" name="Google Shape;246;p9"/>
          <p:cNvSpPr/>
          <p:nvPr/>
        </p:nvSpPr>
        <p:spPr>
          <a:xfrm>
            <a:off x="1510914" y="2742213"/>
            <a:ext cx="1271100" cy="522000"/>
          </a:xfrm>
          <a:prstGeom prst="roundRect">
            <a:avLst>
              <a:gd fmla="val 8000" name="adj"/>
            </a:avLst>
          </a:prstGeom>
          <a:solidFill>
            <a:srgbClr val="DAAA00"/>
          </a:solidFill>
          <a:ln cap="flat" cmpd="sng" w="6325">
            <a:solidFill>
              <a:srgbClr val="EDF2F7"/>
            </a:solidFill>
            <a:prstDash val="solid"/>
            <a:round/>
            <a:headEnd len="sm" w="sm" type="none"/>
            <a:tailEnd len="sm" w="sm" type="none"/>
          </a:ln>
          <a:effectLst>
            <a:outerShdw blurRad="50902" rotWithShape="0" algn="bl" dir="5400000" dist="12725">
              <a:srgbClr val="1A365D">
                <a:alpha val="12160"/>
              </a:srgbClr>
            </a:outerShdw>
          </a:effectLst>
        </p:spPr>
        <p:txBody>
          <a:bodyPr anchorCtr="0" anchor="ctr" bIns="34350" lIns="34350" spcFirstLastPara="1" rIns="34350" wrap="square" tIns="34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1510914" y="2804828"/>
            <a:ext cx="12711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50" spcFirstLastPara="1" rIns="3435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1"/>
              <a:buFont typeface="Malgun Gothic"/>
              <a:buNone/>
            </a:pPr>
            <a:r>
              <a:rPr b="1" i="0" lang="en-US" sz="65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Non-Fatal</a:t>
            </a:r>
            <a:endParaRPr b="0" i="0" sz="65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1510914" y="3029199"/>
            <a:ext cx="1271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50" spcFirstLastPara="1" rIns="3435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0"/>
              </a:buClr>
              <a:buSzPts val="451"/>
              <a:buFont typeface="Malgun Gothic"/>
              <a:buNone/>
            </a:pPr>
            <a:r>
              <a:rPr b="0" i="0" lang="en-US" sz="65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Minor + Serious </a:t>
            </a:r>
            <a:endParaRPr b="0" i="0" sz="65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3174438" y="2791825"/>
            <a:ext cx="808500" cy="416700"/>
          </a:xfrm>
          <a:prstGeom prst="roundRect">
            <a:avLst>
              <a:gd fmla="val 8000" name="adj"/>
            </a:avLst>
          </a:prstGeom>
          <a:solidFill>
            <a:srgbClr val="8E6F3E"/>
          </a:solidFill>
          <a:ln cap="flat" cmpd="sng" w="6325">
            <a:solidFill>
              <a:srgbClr val="EDF2F7"/>
            </a:solidFill>
            <a:prstDash val="solid"/>
            <a:round/>
            <a:headEnd len="sm" w="sm" type="none"/>
            <a:tailEnd len="sm" w="sm" type="none"/>
          </a:ln>
          <a:effectLst>
            <a:outerShdw blurRad="50902" rotWithShape="0" algn="bl" dir="5400000" dist="12725">
              <a:srgbClr val="1A365D">
                <a:alpha val="12160"/>
              </a:srgbClr>
            </a:outerShdw>
          </a:effectLst>
        </p:spPr>
        <p:txBody>
          <a:bodyPr anchorCtr="0" anchor="ctr" bIns="34350" lIns="34350" spcFirstLastPara="1" rIns="34350" wrap="square" tIns="34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3328773" y="2808707"/>
            <a:ext cx="4998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50" spcFirstLastPara="1" rIns="3435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1"/>
              <a:buFont typeface="Malgun Gothic"/>
              <a:buNone/>
            </a:pPr>
            <a:r>
              <a:rPr b="1" i="0" lang="en-US" sz="651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Fatal</a:t>
            </a:r>
            <a:endParaRPr b="0" i="0" sz="65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3201462" y="2984375"/>
            <a:ext cx="754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50" spcFirstLastPara="1" rIns="3435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ED7D7"/>
              </a:buClr>
              <a:buSzPts val="451"/>
              <a:buFont typeface="Malgun Gothic"/>
              <a:buNone/>
            </a:pPr>
            <a:r>
              <a:rPr lang="en-US" sz="65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Primary Prediction Target </a:t>
            </a:r>
            <a:endParaRPr b="0" i="0" sz="65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595525" y="2424876"/>
            <a:ext cx="668100" cy="3396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txBody>
          <a:bodyPr anchorCtr="0" anchor="ctr" bIns="17150" lIns="34350" spcFirstLastPara="1" rIns="3435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551"/>
              <a:buFont typeface="Malgun Gothic"/>
              <a:buNone/>
            </a:pPr>
            <a:r>
              <a:rPr b="1" lang="en-US" sz="551">
                <a:solidFill>
                  <a:srgbClr val="1A365D"/>
                </a:solidFill>
                <a:latin typeface="Malgun Gothic"/>
                <a:ea typeface="Malgun Gothic"/>
                <a:cs typeface="Malgun Gothic"/>
                <a:sym typeface="Malgun Gothic"/>
              </a:rPr>
              <a:t>None</a:t>
            </a:r>
            <a:endParaRPr b="1" sz="551">
              <a:solidFill>
                <a:srgbClr val="1A365D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51" name="Google Shape;251;p9"/>
          <p:cNvCxnSpPr/>
          <p:nvPr/>
        </p:nvCxnSpPr>
        <p:spPr>
          <a:xfrm>
            <a:off x="627475" y="2250713"/>
            <a:ext cx="567000" cy="687900"/>
          </a:xfrm>
          <a:prstGeom prst="straightConnector1">
            <a:avLst/>
          </a:prstGeom>
          <a:noFill/>
          <a:ln cap="flat" cmpd="sng" w="19050">
            <a:solidFill>
              <a:srgbClr val="E53E3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9"/>
          <p:cNvCxnSpPr/>
          <p:nvPr/>
        </p:nvCxnSpPr>
        <p:spPr>
          <a:xfrm flipH="1" rot="10800000">
            <a:off x="583100" y="2248613"/>
            <a:ext cx="680400" cy="687900"/>
          </a:xfrm>
          <a:prstGeom prst="straightConnector1">
            <a:avLst/>
          </a:prstGeom>
          <a:noFill/>
          <a:ln cap="flat" cmpd="sng" w="19050">
            <a:solidFill>
              <a:srgbClr val="E53E3E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8" name="Google Shape;25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6789" y="361950"/>
            <a:ext cx="1271811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8"/>
          <p:cNvSpPr/>
          <p:nvPr/>
        </p:nvSpPr>
        <p:spPr>
          <a:xfrm>
            <a:off x="533400" y="495300"/>
            <a:ext cx="12237720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975"/>
              <a:buFont typeface="Arimo"/>
              <a:buNone/>
            </a:pPr>
            <a:r>
              <a:rPr b="1" i="0" lang="en-US" sz="975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METHODOLOGY · 0</a:t>
            </a:r>
            <a:r>
              <a:rPr b="1" lang="en-US" sz="975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533463" y="738113"/>
            <a:ext cx="12237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mo"/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Research Design: Dual-Branch Pipeline</a:t>
            </a:r>
            <a:endParaRPr i="0" sz="3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533400" y="1443038"/>
            <a:ext cx="10301288" cy="4647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081"/>
              </a:lnSpc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1200"/>
              <a:buFont typeface="Arimo"/>
              <a:buNone/>
            </a:pPr>
            <a:r>
              <a:rPr b="0" i="0" lang="en-US" sz="1200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Prior work independently applied SVM to unstructured text and KNN to structured data, showing that separate learning approaches are necessary. We adopt that parallel architecture </a:t>
            </a:r>
            <a:r>
              <a:rPr b="0" i="0" lang="en-US" sz="1050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(Anushree &amp; Sowmya, 2020)</a:t>
            </a:r>
            <a:r>
              <a:rPr b="0" i="0" lang="en-US" sz="1200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4336001" y="3631774"/>
            <a:ext cx="2696100" cy="957900"/>
          </a:xfrm>
          <a:prstGeom prst="rect">
            <a:avLst/>
          </a:prstGeom>
          <a:noFill/>
          <a:ln cap="flat" cmpd="sng" w="16650">
            <a:solidFill>
              <a:srgbClr val="CFB99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9950" lIns="79950" spcFirstLastPara="1" rIns="79950" wrap="square" tIns="79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4421137" y="3735904"/>
            <a:ext cx="2526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225" lIns="22225" spcFirstLastPara="1" rIns="22225" wrap="square" tIns="222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918"/>
              <a:buFont typeface="Arimo"/>
              <a:buNone/>
            </a:pPr>
            <a:r>
              <a:rPr b="1" i="0" lang="en-US" sz="918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TEST RECORD</a:t>
            </a:r>
            <a:endParaRPr b="0" i="0" sz="9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4535933" y="4014974"/>
            <a:ext cx="1067700" cy="424800"/>
          </a:xfrm>
          <a:prstGeom prst="rect">
            <a:avLst/>
          </a:prstGeom>
          <a:solidFill>
            <a:srgbClr val="F4F3F1"/>
          </a:solidFill>
          <a:ln cap="flat" cmpd="sng" w="8325">
            <a:solidFill>
              <a:srgbClr val="D9D6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950" lIns="79950" spcFirstLastPara="1" rIns="79950" wrap="square" tIns="79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4677551" y="4106608"/>
            <a:ext cx="8511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mo"/>
              <a:buNone/>
            </a:pPr>
            <a:r>
              <a:rPr b="0" i="0" lang="en-US" sz="918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Event synopsis</a:t>
            </a:r>
            <a:endParaRPr b="0" i="0" sz="9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4644229" y="4239895"/>
            <a:ext cx="8511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225" lIns="22225" spcFirstLastPara="1" rIns="22225" wrap="square" tIns="222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22"/>
              <a:buFont typeface="Arimo"/>
              <a:buNone/>
            </a:pPr>
            <a:r>
              <a:rPr b="0" i="0" lang="en-US" sz="722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unstructured text</a:t>
            </a:r>
            <a:endParaRPr b="0" i="0" sz="7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5703567" y="4014974"/>
            <a:ext cx="1128600" cy="424800"/>
          </a:xfrm>
          <a:prstGeom prst="rect">
            <a:avLst/>
          </a:prstGeom>
          <a:solidFill>
            <a:srgbClr val="F4F3F1"/>
          </a:solidFill>
          <a:ln cap="flat" cmpd="sng" w="8325">
            <a:solidFill>
              <a:srgbClr val="D9D6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950" lIns="79950" spcFirstLastPara="1" rIns="79950" wrap="square" tIns="79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5869200" y="4106608"/>
            <a:ext cx="8640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mo"/>
              <a:buNone/>
            </a:pPr>
            <a:r>
              <a:rPr b="0" i="0" lang="en-US" sz="918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Structured data</a:t>
            </a:r>
            <a:endParaRPr b="0" i="0" sz="9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5811863" y="4239895"/>
            <a:ext cx="912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225" lIns="22225" spcFirstLastPara="1" rIns="22225" wrap="square" tIns="222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22"/>
              <a:buFont typeface="Arimo"/>
              <a:buNone/>
            </a:pPr>
            <a:r>
              <a:rPr b="0" i="0" lang="en-US" sz="722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categorical / numeric</a:t>
            </a:r>
            <a:endParaRPr b="0" i="0" sz="7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7119497" y="3889698"/>
            <a:ext cx="2781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225" lIns="22225" spcFirstLastPara="1" rIns="22225" wrap="square" tIns="222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1705"/>
              <a:buFont typeface="Arimo"/>
              <a:buNone/>
            </a:pPr>
            <a:r>
              <a:rPr b="1" i="0" lang="en-US" sz="1705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→</a:t>
            </a:r>
            <a:endParaRPr b="0" i="0" sz="170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7436742" y="3487798"/>
            <a:ext cx="1999200" cy="516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79950" lIns="79950" spcFirstLastPara="1" rIns="79950" wrap="square" tIns="79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7520047" y="3604424"/>
            <a:ext cx="18327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225" lIns="22225" spcFirstLastPara="1" rIns="22225" wrap="square" tIns="222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mo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Text Branch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7520047" y="3758536"/>
            <a:ext cx="18327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225" lIns="22225" spcFirstLastPara="1" rIns="22225" wrap="square" tIns="222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853"/>
              <a:buFont typeface="Arimo"/>
              <a:buNone/>
            </a:pPr>
            <a:r>
              <a:rPr b="0" i="0" lang="en-US" sz="853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SafeAeroBERT + MLP</a:t>
            </a:r>
            <a:endParaRPr b="0" i="0" sz="85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7436742" y="4120911"/>
            <a:ext cx="1999200" cy="516600"/>
          </a:xfrm>
          <a:prstGeom prst="rect">
            <a:avLst/>
          </a:prstGeom>
          <a:solidFill>
            <a:srgbClr val="55585F"/>
          </a:solidFill>
          <a:ln>
            <a:noFill/>
          </a:ln>
        </p:spPr>
        <p:txBody>
          <a:bodyPr anchorCtr="0" anchor="ctr" bIns="79950" lIns="79950" spcFirstLastPara="1" rIns="79950" wrap="square" tIns="79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7520047" y="4237537"/>
            <a:ext cx="18327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225" lIns="22225" spcFirstLastPara="1" rIns="22225" wrap="square" tIns="222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mo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Tabular Branch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7520047" y="4391649"/>
            <a:ext cx="18327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225" lIns="22225" spcFirstLastPara="1" rIns="22225" wrap="square" tIns="222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853"/>
              <a:buFont typeface="Arimo"/>
              <a:buNone/>
            </a:pPr>
            <a:r>
              <a:rPr b="0" i="0" lang="en-US" sz="853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Random Forest Classifier</a:t>
            </a:r>
            <a:endParaRPr b="0" i="0" sz="85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9489634" y="3889705"/>
            <a:ext cx="2781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225" lIns="22225" spcFirstLastPara="1" rIns="22225" wrap="square" tIns="222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1705"/>
              <a:buFont typeface="Arimo"/>
              <a:buNone/>
            </a:pPr>
            <a:r>
              <a:rPr b="1" i="0" lang="en-US" sz="1705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→</a:t>
            </a:r>
            <a:endParaRPr b="0" i="0" sz="170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9806865" y="3624650"/>
            <a:ext cx="1605600" cy="876000"/>
          </a:xfrm>
          <a:prstGeom prst="rect">
            <a:avLst/>
          </a:prstGeom>
          <a:noFill/>
          <a:ln cap="flat" cmpd="sng" w="141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825" lIns="67825" spcFirstLastPara="1" rIns="67825" wrap="square" tIns="67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9913124" y="3751835"/>
            <a:ext cx="1393200" cy="1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850" lIns="18850" spcFirstLastPara="1" rIns="18850" wrap="square" tIns="188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779"/>
              <a:buFont typeface="Arimo"/>
              <a:buNone/>
            </a:pPr>
            <a:r>
              <a:rPr b="1" i="0" lang="en-US" sz="779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LATE FUSION</a:t>
            </a:r>
            <a:endParaRPr b="0" i="0" sz="7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9976446" y="3949678"/>
            <a:ext cx="485400" cy="254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67825" lIns="67825" spcFirstLastPara="1" rIns="67825" wrap="square" tIns="67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10075367" y="4020336"/>
            <a:ext cx="287700" cy="1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850" lIns="18850" spcFirstLastPara="1" rIns="18850" wrap="square" tIns="188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79"/>
              <a:buFont typeface="Arimo"/>
              <a:buNone/>
            </a:pPr>
            <a:r>
              <a:rPr b="1" i="0" lang="en-US" sz="77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Fatal</a:t>
            </a:r>
            <a:endParaRPr b="0" i="0" sz="7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10532384" y="3965292"/>
            <a:ext cx="710400" cy="2541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txBody>
          <a:bodyPr anchorCtr="0" anchor="ctr" bIns="67825" lIns="67825" spcFirstLastPara="1" rIns="67825" wrap="square" tIns="67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8"/>
          <p:cNvSpPr/>
          <p:nvPr/>
        </p:nvSpPr>
        <p:spPr>
          <a:xfrm>
            <a:off x="10631306" y="4020336"/>
            <a:ext cx="512700" cy="1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850" lIns="18850" spcFirstLastPara="1" rIns="18850" wrap="square" tIns="188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9"/>
              <a:buFont typeface="Arimo"/>
              <a:buNone/>
            </a:pPr>
            <a:r>
              <a:rPr b="1" i="0" lang="en-US" sz="779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Non-Fatal</a:t>
            </a:r>
            <a:endParaRPr b="0" i="0" sz="7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9913124" y="4260573"/>
            <a:ext cx="1393200" cy="1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850" lIns="18850" spcFirstLastPara="1" rIns="18850" wrap="square" tIns="188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612"/>
              <a:buFont typeface="Arimo"/>
              <a:buNone/>
            </a:pPr>
            <a:r>
              <a:rPr b="0" i="0" lang="en-US" sz="612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class probabilities → prediction</a:t>
            </a:r>
            <a:endParaRPr b="0" i="0" sz="6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533400" y="6372225"/>
            <a:ext cx="11125200" cy="9525"/>
          </a:xfrm>
          <a:prstGeom prst="rect">
            <a:avLst/>
          </a:prstGeom>
          <a:solidFill>
            <a:srgbClr val="DAD7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533400" y="6457950"/>
            <a:ext cx="278275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i="0" lang="en-US" sz="788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PREDICTING AVIATION ACCIDENT SEVERITY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11527334" y="6457950"/>
            <a:ext cx="20746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i="0" lang="en-US" sz="788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08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3124" y="2562489"/>
            <a:ext cx="3528987" cy="3611051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8"/>
          <p:cNvSpPr/>
          <p:nvPr/>
        </p:nvSpPr>
        <p:spPr>
          <a:xfrm>
            <a:off x="1167810" y="2174527"/>
            <a:ext cx="2585700" cy="337500"/>
          </a:xfrm>
          <a:prstGeom prst="roundRect">
            <a:avLst>
              <a:gd fmla="val 40000" name="adj"/>
            </a:avLst>
          </a:prstGeom>
          <a:solidFill>
            <a:srgbClr val="55585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1167810" y="2343139"/>
            <a:ext cx="2585700" cy="168300"/>
          </a:xfrm>
          <a:prstGeom prst="rect">
            <a:avLst/>
          </a:prstGeom>
          <a:solidFill>
            <a:srgbClr val="55585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8"/>
          <p:cNvSpPr txBox="1"/>
          <p:nvPr/>
        </p:nvSpPr>
        <p:spPr>
          <a:xfrm>
            <a:off x="1336421" y="2253213"/>
            <a:ext cx="22479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BIG PIPE LINE</a:t>
            </a:r>
            <a:endParaRPr b="1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7032110" y="2730015"/>
            <a:ext cx="2585700" cy="337500"/>
          </a:xfrm>
          <a:prstGeom prst="roundRect">
            <a:avLst>
              <a:gd fmla="val 40000" name="adj"/>
            </a:avLst>
          </a:prstGeom>
          <a:solidFill>
            <a:srgbClr val="55585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7032110" y="2898626"/>
            <a:ext cx="2585700" cy="168300"/>
          </a:xfrm>
          <a:prstGeom prst="rect">
            <a:avLst/>
          </a:prstGeom>
          <a:solidFill>
            <a:srgbClr val="55585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8"/>
          <p:cNvSpPr txBox="1"/>
          <p:nvPr/>
        </p:nvSpPr>
        <p:spPr>
          <a:xfrm>
            <a:off x="7200721" y="2808700"/>
            <a:ext cx="22479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ML</a:t>
            </a:r>
            <a:r>
              <a:rPr b="1" lang="en-US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PIPE LINE</a:t>
            </a:r>
            <a:endParaRPr b="1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95" name="Google Shape;295;p8"/>
          <p:cNvCxnSpPr/>
          <p:nvPr/>
        </p:nvCxnSpPr>
        <p:spPr>
          <a:xfrm>
            <a:off x="4081075" y="2247150"/>
            <a:ext cx="0" cy="3873600"/>
          </a:xfrm>
          <a:prstGeom prst="straightConnector1">
            <a:avLst/>
          </a:prstGeom>
          <a:noFill/>
          <a:ln cap="flat" cmpd="sng" w="28575">
            <a:solidFill>
              <a:srgbClr val="CFB991"/>
            </a:solidFill>
            <a:prstDash val="lg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1" name="Google Shape;30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6789" y="361950"/>
            <a:ext cx="1271811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1"/>
          <p:cNvSpPr/>
          <p:nvPr/>
        </p:nvSpPr>
        <p:spPr>
          <a:xfrm>
            <a:off x="533400" y="495300"/>
            <a:ext cx="12237720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975"/>
              <a:buFont typeface="Arimo"/>
              <a:buNone/>
            </a:pPr>
            <a:r>
              <a:rPr b="1" i="0" lang="en-US" sz="975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METHODOLOGY · 0</a:t>
            </a:r>
            <a:r>
              <a:rPr b="1" lang="en-US" sz="975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533400" y="700088"/>
            <a:ext cx="1223772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mo"/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Method Selection</a:t>
            </a:r>
            <a:endParaRPr i="0" sz="3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533400" y="4123363"/>
            <a:ext cx="5372100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600000" y="4409137"/>
            <a:ext cx="52389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975"/>
              <a:buFont typeface="Arimo"/>
              <a:buNone/>
            </a:pPr>
            <a:r>
              <a:rPr i="0" lang="en-US" sz="975" u="none" cap="none" strike="noStrike">
                <a:solidFill>
                  <a:srgbClr val="8E6F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TEXT BRANCH</a:t>
            </a:r>
            <a:endParaRPr i="0" sz="97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600000" y="4652025"/>
            <a:ext cx="5238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mo"/>
              <a:buNone/>
            </a:pPr>
            <a:r>
              <a:rPr i="0" lang="en-US" sz="195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SafeAeroBERT</a:t>
            </a:r>
            <a:endParaRPr i="0" sz="19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600000" y="5110175"/>
            <a:ext cx="49053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4054"/>
              </a:lnSpc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1200"/>
              <a:buFont typeface="Arimo"/>
              <a:buNone/>
            </a:pPr>
            <a:r>
              <a:rPr i="0" lang="en-US" sz="1200" u="none" cap="none" strike="noStrike">
                <a:solidFill>
                  <a:srgbClr val="5558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Rather than a general language model, we adopt a BERT embedding specialized for the aviation domain — capturing the safety-report terminology and investigation context that generic models miss.</a:t>
            </a:r>
            <a:endParaRPr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6286500" y="4123351"/>
            <a:ext cx="5372100" cy="381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6591300" y="4466250"/>
            <a:ext cx="52389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975"/>
              <a:buFont typeface="Arimo"/>
              <a:buNone/>
            </a:pPr>
            <a:r>
              <a:rPr i="0" lang="en-US" sz="975" u="none" cap="none" strike="noStrike">
                <a:solidFill>
                  <a:srgbClr val="8E6F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TABULAR BRANCH</a:t>
            </a:r>
            <a:endParaRPr i="0" sz="97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6591300" y="4709138"/>
            <a:ext cx="5238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mo"/>
              <a:buNone/>
            </a:pPr>
            <a:r>
              <a:rPr i="0" lang="en-US" sz="195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Tree-based Ensemble</a:t>
            </a:r>
            <a:endParaRPr i="0" sz="19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6591300" y="5128238"/>
            <a:ext cx="49053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4054"/>
              </a:lnSpc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1200"/>
              <a:buFont typeface="Arimo"/>
              <a:buNone/>
            </a:pPr>
            <a:r>
              <a:rPr i="0" lang="en-US" sz="1200" u="none" cap="none" strike="noStrike">
                <a:solidFill>
                  <a:srgbClr val="5558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capture the non-linear relationships among structured categorical features, we use tree-based ensembles instead of deep learning — a choice supported by prior aviation-safety research.</a:t>
            </a:r>
            <a:endParaRPr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533400" y="6372225"/>
            <a:ext cx="11125200" cy="9525"/>
          </a:xfrm>
          <a:prstGeom prst="rect">
            <a:avLst/>
          </a:prstGeom>
          <a:solidFill>
            <a:srgbClr val="DAD7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533400" y="6457950"/>
            <a:ext cx="278275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i="0" lang="en-US" sz="788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PREDICTING AVIATION ACCIDENT SEVERITY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11533436" y="6457950"/>
            <a:ext cx="201364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lang="en-US" sz="788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09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5" name="Google Shape;315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400" y="1915612"/>
            <a:ext cx="5372100" cy="165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11"/>
          <p:cNvPicPr preferRelativeResize="0"/>
          <p:nvPr/>
        </p:nvPicPr>
        <p:blipFill rotWithShape="1">
          <a:blip r:embed="rId5">
            <a:alphaModFix/>
          </a:blip>
          <a:srcRect b="41" l="0" r="0" t="17898"/>
          <a:stretch/>
        </p:blipFill>
        <p:spPr>
          <a:xfrm>
            <a:off x="6286500" y="1431192"/>
            <a:ext cx="5372100" cy="2522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2" name="Google Shape;322;g3f534395cd3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6789" y="373709"/>
            <a:ext cx="127181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g3f534395cd3_2_0"/>
          <p:cNvSpPr/>
          <p:nvPr/>
        </p:nvSpPr>
        <p:spPr>
          <a:xfrm>
            <a:off x="533400" y="495300"/>
            <a:ext cx="122376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975"/>
              <a:buFont typeface="Arimo"/>
              <a:buNone/>
            </a:pPr>
            <a:r>
              <a:rPr b="1" i="0" lang="en-US" sz="975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TEXT BRANCH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g3f534395cd3_2_0"/>
          <p:cNvSpPr/>
          <p:nvPr/>
        </p:nvSpPr>
        <p:spPr>
          <a:xfrm>
            <a:off x="533400" y="700088"/>
            <a:ext cx="12237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mo"/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Feature Architecture &amp; Findings Taxonomy</a:t>
            </a:r>
            <a:endParaRPr i="0" sz="3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5" name="Google Shape;325;g3f534395cd3_2_0"/>
          <p:cNvSpPr/>
          <p:nvPr/>
        </p:nvSpPr>
        <p:spPr>
          <a:xfrm>
            <a:off x="533400" y="6372225"/>
            <a:ext cx="11125200" cy="9600"/>
          </a:xfrm>
          <a:prstGeom prst="rect">
            <a:avLst/>
          </a:prstGeom>
          <a:solidFill>
            <a:srgbClr val="DAD7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f534395cd3_2_0"/>
          <p:cNvSpPr/>
          <p:nvPr/>
        </p:nvSpPr>
        <p:spPr>
          <a:xfrm>
            <a:off x="533400" y="6457950"/>
            <a:ext cx="2782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i="0" lang="en-US" sz="788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PREDICTING AVIATION ACCIDENT SEVERITY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g3f534395cd3_2_0"/>
          <p:cNvSpPr/>
          <p:nvPr/>
        </p:nvSpPr>
        <p:spPr>
          <a:xfrm>
            <a:off x="11527334" y="6457950"/>
            <a:ext cx="207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lang="en-US" sz="788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10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3f534395cd3_2_0"/>
          <p:cNvSpPr/>
          <p:nvPr/>
        </p:nvSpPr>
        <p:spPr>
          <a:xfrm>
            <a:off x="1313796" y="3095246"/>
            <a:ext cx="1563900" cy="337500"/>
          </a:xfrm>
          <a:prstGeom prst="roundRect">
            <a:avLst>
              <a:gd fmla="val 40000" name="adj"/>
            </a:avLst>
          </a:prstGeom>
          <a:solidFill>
            <a:srgbClr val="188038"/>
          </a:solidFill>
          <a:ln>
            <a:noFill/>
          </a:ln>
          <a:effectLst>
            <a:outerShdw blurRad="67440" rotWithShape="0" algn="bl" dir="5400000" dist="22480">
              <a:srgbClr val="000000">
                <a:alpha val="6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f534395cd3_2_0"/>
          <p:cNvSpPr txBox="1"/>
          <p:nvPr/>
        </p:nvSpPr>
        <p:spPr>
          <a:xfrm>
            <a:off x="1415789" y="3147836"/>
            <a:ext cx="1359900" cy="224700"/>
          </a:xfrm>
          <a:prstGeom prst="rect">
            <a:avLst/>
          </a:prstGeom>
          <a:solidFill>
            <a:srgbClr val="188038"/>
          </a:solidFill>
          <a:ln>
            <a:noFill/>
          </a:ln>
          <a:effectLst>
            <a:outerShdw blurRad="67440" rotWithShape="0" algn="bl" dir="5400000" dist="22480">
              <a:srgbClr val="000000">
                <a:alpha val="6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SafeAeroBert</a:t>
            </a:r>
            <a:endParaRPr b="1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30" name="Google Shape;330;g3f534395cd3_2_0"/>
          <p:cNvPicPr preferRelativeResize="0"/>
          <p:nvPr/>
        </p:nvPicPr>
        <p:blipFill rotWithShape="1">
          <a:blip r:embed="rId4">
            <a:alphaModFix/>
          </a:blip>
          <a:srcRect b="0" l="0" r="0" t="52544"/>
          <a:stretch/>
        </p:blipFill>
        <p:spPr>
          <a:xfrm>
            <a:off x="1800585" y="2022653"/>
            <a:ext cx="2844000" cy="770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g3f534395cd3_2_0"/>
          <p:cNvSpPr/>
          <p:nvPr/>
        </p:nvSpPr>
        <p:spPr>
          <a:xfrm>
            <a:off x="1929810" y="1685252"/>
            <a:ext cx="2585700" cy="337500"/>
          </a:xfrm>
          <a:prstGeom prst="roundRect">
            <a:avLst>
              <a:gd fmla="val 40000" name="adj"/>
            </a:avLst>
          </a:prstGeom>
          <a:solidFill>
            <a:srgbClr val="55585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f534395cd3_2_0"/>
          <p:cNvSpPr/>
          <p:nvPr/>
        </p:nvSpPr>
        <p:spPr>
          <a:xfrm>
            <a:off x="1929810" y="1853864"/>
            <a:ext cx="2585700" cy="168300"/>
          </a:xfrm>
          <a:prstGeom prst="rect">
            <a:avLst/>
          </a:prstGeom>
          <a:solidFill>
            <a:srgbClr val="55585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f534395cd3_2_0"/>
          <p:cNvSpPr txBox="1"/>
          <p:nvPr/>
        </p:nvSpPr>
        <p:spPr>
          <a:xfrm>
            <a:off x="2098421" y="1763938"/>
            <a:ext cx="22479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NTSB Accident Record</a:t>
            </a:r>
            <a:endParaRPr b="1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4" name="Google Shape;334;g3f534395cd3_2_0"/>
          <p:cNvSpPr/>
          <p:nvPr/>
        </p:nvSpPr>
        <p:spPr>
          <a:xfrm>
            <a:off x="2440573" y="2183475"/>
            <a:ext cx="1563900" cy="337500"/>
          </a:xfrm>
          <a:prstGeom prst="roundRect">
            <a:avLst>
              <a:gd fmla="val 40000" name="adj"/>
            </a:avLst>
          </a:prstGeom>
          <a:solidFill>
            <a:srgbClr val="8E6F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f534395cd3_2_0"/>
          <p:cNvSpPr txBox="1"/>
          <p:nvPr/>
        </p:nvSpPr>
        <p:spPr>
          <a:xfrm>
            <a:off x="2542566" y="2236065"/>
            <a:ext cx="1359900" cy="224700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Findings</a:t>
            </a:r>
            <a:endParaRPr b="1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6" name="Google Shape;336;g3f534395cd3_2_0"/>
          <p:cNvSpPr/>
          <p:nvPr/>
        </p:nvSpPr>
        <p:spPr>
          <a:xfrm>
            <a:off x="3492968" y="3095246"/>
            <a:ext cx="1563900" cy="337500"/>
          </a:xfrm>
          <a:prstGeom prst="roundRect">
            <a:avLst>
              <a:gd fmla="val 40000" name="adj"/>
            </a:avLst>
          </a:prstGeom>
          <a:solidFill>
            <a:srgbClr val="3E508E"/>
          </a:solidFill>
          <a:ln>
            <a:noFill/>
          </a:ln>
          <a:effectLst>
            <a:outerShdw blurRad="67440" rotWithShape="0" algn="bl" dir="5400000" dist="22480">
              <a:srgbClr val="000000">
                <a:alpha val="6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f534395cd3_2_0"/>
          <p:cNvSpPr txBox="1"/>
          <p:nvPr/>
        </p:nvSpPr>
        <p:spPr>
          <a:xfrm>
            <a:off x="3594962" y="3147836"/>
            <a:ext cx="1359900" cy="224700"/>
          </a:xfrm>
          <a:prstGeom prst="rect">
            <a:avLst/>
          </a:prstGeom>
          <a:solidFill>
            <a:srgbClr val="3E508E"/>
          </a:solidFill>
          <a:ln>
            <a:noFill/>
          </a:ln>
          <a:effectLst>
            <a:outerShdw blurRad="67440" rotWithShape="0" algn="bl" dir="5400000" dist="22480">
              <a:srgbClr val="000000">
                <a:alpha val="6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Findings Taxonomy</a:t>
            </a:r>
            <a:endParaRPr b="1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Google Shape;338;g3f534395cd3_2_0"/>
          <p:cNvSpPr/>
          <p:nvPr/>
        </p:nvSpPr>
        <p:spPr>
          <a:xfrm>
            <a:off x="1584656" y="3605388"/>
            <a:ext cx="1022400" cy="337500"/>
          </a:xfrm>
          <a:prstGeom prst="roundRect">
            <a:avLst>
              <a:gd fmla="val 40000" name="adj"/>
            </a:avLst>
          </a:prstGeom>
          <a:solidFill>
            <a:srgbClr val="188038"/>
          </a:solidFill>
          <a:ln>
            <a:noFill/>
          </a:ln>
          <a:effectLst>
            <a:outerShdw blurRad="67440" rotWithShape="0" algn="bl" dir="5400000" dist="22480">
              <a:srgbClr val="000000">
                <a:alpha val="6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f534395cd3_2_0"/>
          <p:cNvSpPr txBox="1"/>
          <p:nvPr/>
        </p:nvSpPr>
        <p:spPr>
          <a:xfrm>
            <a:off x="1651325" y="3657978"/>
            <a:ext cx="888900" cy="224700"/>
          </a:xfrm>
          <a:prstGeom prst="rect">
            <a:avLst/>
          </a:prstGeom>
          <a:solidFill>
            <a:srgbClr val="188038"/>
          </a:solidFill>
          <a:ln>
            <a:noFill/>
          </a:ln>
          <a:effectLst>
            <a:outerShdw blurRad="67440" rotWithShape="0" algn="bl" dir="5400000" dist="22480">
              <a:srgbClr val="000000">
                <a:alpha val="6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768-D</a:t>
            </a:r>
            <a:endParaRPr b="1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0" name="Google Shape;340;g3f534395cd3_2_0"/>
          <p:cNvSpPr/>
          <p:nvPr/>
        </p:nvSpPr>
        <p:spPr>
          <a:xfrm>
            <a:off x="2440602" y="4250803"/>
            <a:ext cx="1563900" cy="337500"/>
          </a:xfrm>
          <a:prstGeom prst="roundRect">
            <a:avLst>
              <a:gd fmla="val 40000" name="adj"/>
            </a:avLst>
          </a:prstGeom>
          <a:solidFill>
            <a:srgbClr val="8E6F3E"/>
          </a:solidFill>
          <a:ln>
            <a:noFill/>
          </a:ln>
          <a:effectLst>
            <a:outerShdw blurRad="67440" rotWithShape="0" algn="bl" dir="5400000" dist="22480">
              <a:srgbClr val="000000">
                <a:alpha val="6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f534395cd3_2_0"/>
          <p:cNvSpPr txBox="1"/>
          <p:nvPr/>
        </p:nvSpPr>
        <p:spPr>
          <a:xfrm>
            <a:off x="2542595" y="4303393"/>
            <a:ext cx="1359900" cy="224700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Concat</a:t>
            </a:r>
            <a:endParaRPr b="1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2" name="Google Shape;342;g3f534395cd3_2_0"/>
          <p:cNvSpPr/>
          <p:nvPr/>
        </p:nvSpPr>
        <p:spPr>
          <a:xfrm>
            <a:off x="3764225" y="3591419"/>
            <a:ext cx="1022400" cy="337500"/>
          </a:xfrm>
          <a:prstGeom prst="roundRect">
            <a:avLst>
              <a:gd fmla="val 40000" name="adj"/>
            </a:avLst>
          </a:prstGeom>
          <a:solidFill>
            <a:srgbClr val="3E508E"/>
          </a:solidFill>
          <a:ln>
            <a:noFill/>
          </a:ln>
          <a:effectLst>
            <a:outerShdw blurRad="67440" rotWithShape="0" algn="bl" dir="5400000" dist="22480">
              <a:srgbClr val="000000">
                <a:alpha val="6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3f534395cd3_2_0"/>
          <p:cNvSpPr txBox="1"/>
          <p:nvPr/>
        </p:nvSpPr>
        <p:spPr>
          <a:xfrm>
            <a:off x="3830900" y="3644008"/>
            <a:ext cx="888900" cy="224700"/>
          </a:xfrm>
          <a:prstGeom prst="rect">
            <a:avLst/>
          </a:prstGeom>
          <a:solidFill>
            <a:srgbClr val="3E508E"/>
          </a:solidFill>
          <a:ln>
            <a:noFill/>
          </a:ln>
          <a:effectLst>
            <a:outerShdw blurRad="67440" rotWithShape="0" algn="bl" dir="5400000" dist="22480">
              <a:srgbClr val="000000">
                <a:alpha val="6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187-D</a:t>
            </a:r>
            <a:endParaRPr b="1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44" name="Google Shape;344;g3f534395cd3_2_0"/>
          <p:cNvCxnSpPr>
            <a:stCxn id="330" idx="2"/>
            <a:endCxn id="328" idx="0"/>
          </p:cNvCxnSpPr>
          <p:nvPr/>
        </p:nvCxnSpPr>
        <p:spPr>
          <a:xfrm rot="5400000">
            <a:off x="2508285" y="2380853"/>
            <a:ext cx="301800" cy="1126800"/>
          </a:xfrm>
          <a:prstGeom prst="bentConnector3">
            <a:avLst>
              <a:gd fmla="val 50016" name="adj1"/>
            </a:avLst>
          </a:prstGeom>
          <a:noFill/>
          <a:ln cap="flat" cmpd="sng" w="112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" name="Google Shape;345;g3f534395cd3_2_0"/>
          <p:cNvCxnSpPr>
            <a:stCxn id="330" idx="2"/>
            <a:endCxn id="336" idx="0"/>
          </p:cNvCxnSpPr>
          <p:nvPr/>
        </p:nvCxnSpPr>
        <p:spPr>
          <a:xfrm flipH="1" rot="-5400000">
            <a:off x="3597885" y="2418053"/>
            <a:ext cx="301800" cy="1052400"/>
          </a:xfrm>
          <a:prstGeom prst="bentConnector3">
            <a:avLst>
              <a:gd fmla="val 50016" name="adj1"/>
            </a:avLst>
          </a:prstGeom>
          <a:noFill/>
          <a:ln cap="flat" cmpd="sng" w="112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" name="Google Shape;346;g3f534395cd3_2_0"/>
          <p:cNvCxnSpPr>
            <a:stCxn id="329" idx="2"/>
            <a:endCxn id="338" idx="0"/>
          </p:cNvCxnSpPr>
          <p:nvPr/>
        </p:nvCxnSpPr>
        <p:spPr>
          <a:xfrm>
            <a:off x="2095739" y="3372536"/>
            <a:ext cx="0" cy="232800"/>
          </a:xfrm>
          <a:prstGeom prst="straightConnector1">
            <a:avLst/>
          </a:prstGeom>
          <a:noFill/>
          <a:ln cap="flat" cmpd="sng" w="112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7" name="Google Shape;347;g3f534395cd3_2_0"/>
          <p:cNvCxnSpPr>
            <a:endCxn id="328" idx="0"/>
          </p:cNvCxnSpPr>
          <p:nvPr/>
        </p:nvCxnSpPr>
        <p:spPr>
          <a:xfrm flipH="1">
            <a:off x="2095746" y="2963546"/>
            <a:ext cx="900" cy="131700"/>
          </a:xfrm>
          <a:prstGeom prst="straightConnector1">
            <a:avLst/>
          </a:prstGeom>
          <a:noFill/>
          <a:ln cap="flat" cmpd="sng" w="112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8" name="Google Shape;348;g3f534395cd3_2_0"/>
          <p:cNvCxnSpPr>
            <a:stCxn id="337" idx="2"/>
            <a:endCxn id="342" idx="0"/>
          </p:cNvCxnSpPr>
          <p:nvPr/>
        </p:nvCxnSpPr>
        <p:spPr>
          <a:xfrm>
            <a:off x="4274912" y="3372536"/>
            <a:ext cx="600" cy="219000"/>
          </a:xfrm>
          <a:prstGeom prst="straightConnector1">
            <a:avLst/>
          </a:prstGeom>
          <a:noFill/>
          <a:ln cap="flat" cmpd="sng" w="112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9" name="Google Shape;349;g3f534395cd3_2_0"/>
          <p:cNvCxnSpPr>
            <a:stCxn id="339" idx="2"/>
            <a:endCxn id="340" idx="1"/>
          </p:cNvCxnSpPr>
          <p:nvPr/>
        </p:nvCxnSpPr>
        <p:spPr>
          <a:xfrm flipH="1" rot="-5400000">
            <a:off x="1999625" y="3978828"/>
            <a:ext cx="537000" cy="344700"/>
          </a:xfrm>
          <a:prstGeom prst="bentConnector2">
            <a:avLst/>
          </a:prstGeom>
          <a:noFill/>
          <a:ln cap="flat" cmpd="sng" w="112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g3f534395cd3_2_0"/>
          <p:cNvCxnSpPr>
            <a:stCxn id="343" idx="2"/>
            <a:endCxn id="340" idx="3"/>
          </p:cNvCxnSpPr>
          <p:nvPr/>
        </p:nvCxnSpPr>
        <p:spPr>
          <a:xfrm rot="5400000">
            <a:off x="3864500" y="4008658"/>
            <a:ext cx="550800" cy="270900"/>
          </a:xfrm>
          <a:prstGeom prst="bentConnector2">
            <a:avLst/>
          </a:prstGeom>
          <a:noFill/>
          <a:ln cap="flat" cmpd="sng" w="112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" name="Google Shape;351;g3f534395cd3_2_0"/>
          <p:cNvCxnSpPr>
            <a:endCxn id="340" idx="1"/>
          </p:cNvCxnSpPr>
          <p:nvPr/>
        </p:nvCxnSpPr>
        <p:spPr>
          <a:xfrm flipH="1" rot="10800000">
            <a:off x="2319102" y="4419553"/>
            <a:ext cx="121500" cy="3600"/>
          </a:xfrm>
          <a:prstGeom prst="straightConnector1">
            <a:avLst/>
          </a:prstGeom>
          <a:noFill/>
          <a:ln cap="flat" cmpd="sng" w="112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2" name="Google Shape;352;g3f534395cd3_2_0"/>
          <p:cNvSpPr txBox="1"/>
          <p:nvPr/>
        </p:nvSpPr>
        <p:spPr>
          <a:xfrm>
            <a:off x="449941" y="2840698"/>
            <a:ext cx="9033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7900" lIns="107900" spcFirstLastPara="1" rIns="107900" wrap="square" tIns="107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Text Branch</a:t>
            </a:r>
            <a:endParaRPr sz="900"/>
          </a:p>
        </p:txBody>
      </p:sp>
      <p:cxnSp>
        <p:nvCxnSpPr>
          <p:cNvPr id="353" name="Google Shape;353;g3f534395cd3_2_0"/>
          <p:cNvCxnSpPr>
            <a:endCxn id="340" idx="3"/>
          </p:cNvCxnSpPr>
          <p:nvPr/>
        </p:nvCxnSpPr>
        <p:spPr>
          <a:xfrm rot="10800000">
            <a:off x="4004502" y="4419553"/>
            <a:ext cx="156300" cy="21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4" name="Google Shape;354;g3f534395cd3_2_0"/>
          <p:cNvCxnSpPr>
            <a:endCxn id="336" idx="0"/>
          </p:cNvCxnSpPr>
          <p:nvPr/>
        </p:nvCxnSpPr>
        <p:spPr>
          <a:xfrm>
            <a:off x="4274018" y="2969246"/>
            <a:ext cx="900" cy="1260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355" name="Google Shape;355;g3f534395cd3_2_0"/>
          <p:cNvGrpSpPr/>
          <p:nvPr/>
        </p:nvGrpSpPr>
        <p:grpSpPr>
          <a:xfrm>
            <a:off x="5818021" y="3321667"/>
            <a:ext cx="5921153" cy="2871471"/>
            <a:chOff x="3894606" y="831080"/>
            <a:chExt cx="5017927" cy="2433450"/>
          </a:xfrm>
        </p:grpSpPr>
        <p:grpSp>
          <p:nvGrpSpPr>
            <p:cNvPr id="356" name="Google Shape;356;g3f534395cd3_2_0"/>
            <p:cNvGrpSpPr/>
            <p:nvPr/>
          </p:nvGrpSpPr>
          <p:grpSpPr>
            <a:xfrm>
              <a:off x="6034224" y="849738"/>
              <a:ext cx="1173008" cy="253050"/>
              <a:chOff x="6477000" y="3000375"/>
              <a:chExt cx="2190900" cy="285900"/>
            </a:xfrm>
          </p:grpSpPr>
          <p:sp>
            <p:nvSpPr>
              <p:cNvPr id="357" name="Google Shape;357;g3f534395cd3_2_0"/>
              <p:cNvSpPr/>
              <p:nvPr/>
            </p:nvSpPr>
            <p:spPr>
              <a:xfrm>
                <a:off x="6477000" y="3000375"/>
                <a:ext cx="2190900" cy="285900"/>
              </a:xfrm>
              <a:prstGeom prst="roundRect">
                <a:avLst>
                  <a:gd fmla="val 40000" name="adj"/>
                </a:avLst>
              </a:prstGeom>
              <a:solidFill>
                <a:srgbClr val="47556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g3f534395cd3_2_0"/>
              <p:cNvSpPr txBox="1"/>
              <p:nvPr/>
            </p:nvSpPr>
            <p:spPr>
              <a:xfrm>
                <a:off x="6619875" y="3048810"/>
                <a:ext cx="1905000" cy="190500"/>
              </a:xfrm>
              <a:prstGeom prst="rect">
                <a:avLst/>
              </a:prstGeom>
              <a:solidFill>
                <a:srgbClr val="47556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Findings</a:t>
                </a:r>
                <a:endParaRPr b="1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59" name="Google Shape;359;g3f534395cd3_2_0"/>
            <p:cNvGrpSpPr/>
            <p:nvPr/>
          </p:nvGrpSpPr>
          <p:grpSpPr>
            <a:xfrm>
              <a:off x="6034224" y="1393338"/>
              <a:ext cx="1173008" cy="253050"/>
              <a:chOff x="6477000" y="3000375"/>
              <a:chExt cx="2190900" cy="285900"/>
            </a:xfrm>
          </p:grpSpPr>
          <p:sp>
            <p:nvSpPr>
              <p:cNvPr id="360" name="Google Shape;360;g3f534395cd3_2_0"/>
              <p:cNvSpPr/>
              <p:nvPr/>
            </p:nvSpPr>
            <p:spPr>
              <a:xfrm>
                <a:off x="6477000" y="3000375"/>
                <a:ext cx="2190900" cy="285900"/>
              </a:xfrm>
              <a:prstGeom prst="roundRect">
                <a:avLst>
                  <a:gd fmla="val 40000" name="adj"/>
                </a:avLst>
              </a:prstGeom>
              <a:solidFill>
                <a:srgbClr val="D2956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g3f534395cd3_2_0"/>
              <p:cNvSpPr txBox="1"/>
              <p:nvPr/>
            </p:nvSpPr>
            <p:spPr>
              <a:xfrm>
                <a:off x="6619875" y="3048810"/>
                <a:ext cx="1905000" cy="190500"/>
              </a:xfrm>
              <a:prstGeom prst="rect">
                <a:avLst/>
              </a:prstGeom>
              <a:solidFill>
                <a:srgbClr val="D2956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Personnel issues</a:t>
                </a:r>
                <a:endParaRPr b="1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62" name="Google Shape;362;g3f534395cd3_2_0"/>
            <p:cNvGrpSpPr/>
            <p:nvPr/>
          </p:nvGrpSpPr>
          <p:grpSpPr>
            <a:xfrm>
              <a:off x="6034224" y="1783863"/>
              <a:ext cx="1173008" cy="253050"/>
              <a:chOff x="6477000" y="3000375"/>
              <a:chExt cx="2190900" cy="285900"/>
            </a:xfrm>
          </p:grpSpPr>
          <p:sp>
            <p:nvSpPr>
              <p:cNvPr id="363" name="Google Shape;363;g3f534395cd3_2_0"/>
              <p:cNvSpPr/>
              <p:nvPr/>
            </p:nvSpPr>
            <p:spPr>
              <a:xfrm>
                <a:off x="6477000" y="3000375"/>
                <a:ext cx="2190900" cy="285900"/>
              </a:xfrm>
              <a:prstGeom prst="roundRect">
                <a:avLst>
                  <a:gd fmla="val 40000" name="adj"/>
                </a:avLst>
              </a:prstGeom>
              <a:solidFill>
                <a:srgbClr val="D2956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g3f534395cd3_2_0"/>
              <p:cNvSpPr txBox="1"/>
              <p:nvPr/>
            </p:nvSpPr>
            <p:spPr>
              <a:xfrm>
                <a:off x="6619875" y="3048810"/>
                <a:ext cx="1905000" cy="190500"/>
              </a:xfrm>
              <a:prstGeom prst="rect">
                <a:avLst/>
              </a:prstGeom>
              <a:solidFill>
                <a:srgbClr val="D2956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Task performance</a:t>
                </a:r>
                <a:endParaRPr b="1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65" name="Google Shape;365;g3f534395cd3_2_0"/>
            <p:cNvGrpSpPr/>
            <p:nvPr/>
          </p:nvGrpSpPr>
          <p:grpSpPr>
            <a:xfrm>
              <a:off x="6034224" y="2174388"/>
              <a:ext cx="1173008" cy="253050"/>
              <a:chOff x="6477000" y="3000375"/>
              <a:chExt cx="2190900" cy="285900"/>
            </a:xfrm>
          </p:grpSpPr>
          <p:sp>
            <p:nvSpPr>
              <p:cNvPr id="366" name="Google Shape;366;g3f534395cd3_2_0"/>
              <p:cNvSpPr/>
              <p:nvPr/>
            </p:nvSpPr>
            <p:spPr>
              <a:xfrm>
                <a:off x="6477000" y="3000375"/>
                <a:ext cx="2190900" cy="285900"/>
              </a:xfrm>
              <a:prstGeom prst="roundRect">
                <a:avLst>
                  <a:gd fmla="val 40000" name="adj"/>
                </a:avLst>
              </a:prstGeom>
              <a:solidFill>
                <a:srgbClr val="D2956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g3f534395cd3_2_0"/>
              <p:cNvSpPr txBox="1"/>
              <p:nvPr/>
            </p:nvSpPr>
            <p:spPr>
              <a:xfrm>
                <a:off x="6619875" y="3048810"/>
                <a:ext cx="1905000" cy="190500"/>
              </a:xfrm>
              <a:prstGeom prst="rect">
                <a:avLst/>
              </a:prstGeom>
              <a:solidFill>
                <a:srgbClr val="D2956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Use of equip/info</a:t>
                </a:r>
                <a:endParaRPr b="1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68" name="Google Shape;368;g3f534395cd3_2_0"/>
            <p:cNvGrpSpPr/>
            <p:nvPr/>
          </p:nvGrpSpPr>
          <p:grpSpPr>
            <a:xfrm>
              <a:off x="6034224" y="2564913"/>
              <a:ext cx="1173008" cy="253050"/>
              <a:chOff x="6477000" y="3000375"/>
              <a:chExt cx="2190900" cy="285900"/>
            </a:xfrm>
          </p:grpSpPr>
          <p:sp>
            <p:nvSpPr>
              <p:cNvPr id="369" name="Google Shape;369;g3f534395cd3_2_0"/>
              <p:cNvSpPr/>
              <p:nvPr/>
            </p:nvSpPr>
            <p:spPr>
              <a:xfrm>
                <a:off x="6477000" y="3000375"/>
                <a:ext cx="2190900" cy="285900"/>
              </a:xfrm>
              <a:prstGeom prst="roundRect">
                <a:avLst>
                  <a:gd fmla="val 40000" name="adj"/>
                </a:avLst>
              </a:prstGeom>
              <a:solidFill>
                <a:srgbClr val="D2956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g3f534395cd3_2_0"/>
              <p:cNvSpPr txBox="1"/>
              <p:nvPr/>
            </p:nvSpPr>
            <p:spPr>
              <a:xfrm>
                <a:off x="6619875" y="3048810"/>
                <a:ext cx="1905000" cy="190500"/>
              </a:xfrm>
              <a:prstGeom prst="rect">
                <a:avLst/>
              </a:prstGeom>
              <a:solidFill>
                <a:srgbClr val="D2956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Aircraft control</a:t>
                </a:r>
                <a:endParaRPr b="1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71" name="Google Shape;371;g3f534395cd3_2_0"/>
            <p:cNvGrpSpPr/>
            <p:nvPr/>
          </p:nvGrpSpPr>
          <p:grpSpPr>
            <a:xfrm>
              <a:off x="6034224" y="2955438"/>
              <a:ext cx="1173008" cy="253050"/>
              <a:chOff x="6477000" y="3000375"/>
              <a:chExt cx="2190900" cy="285900"/>
            </a:xfrm>
          </p:grpSpPr>
          <p:sp>
            <p:nvSpPr>
              <p:cNvPr id="372" name="Google Shape;372;g3f534395cd3_2_0"/>
              <p:cNvSpPr/>
              <p:nvPr/>
            </p:nvSpPr>
            <p:spPr>
              <a:xfrm>
                <a:off x="6477000" y="3000375"/>
                <a:ext cx="2190900" cy="285900"/>
              </a:xfrm>
              <a:prstGeom prst="roundRect">
                <a:avLst>
                  <a:gd fmla="val 40000" name="adj"/>
                </a:avLst>
              </a:prstGeom>
              <a:solidFill>
                <a:srgbClr val="47556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g3f534395cd3_2_0"/>
              <p:cNvSpPr txBox="1"/>
              <p:nvPr/>
            </p:nvSpPr>
            <p:spPr>
              <a:xfrm>
                <a:off x="6619875" y="3048810"/>
                <a:ext cx="1905000" cy="190500"/>
              </a:xfrm>
              <a:prstGeom prst="rect">
                <a:avLst/>
              </a:prstGeom>
              <a:solidFill>
                <a:srgbClr val="47556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Pilot</a:t>
                </a:r>
                <a:endParaRPr b="1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74" name="Google Shape;374;g3f534395cd3_2_0"/>
            <p:cNvGrpSpPr/>
            <p:nvPr/>
          </p:nvGrpSpPr>
          <p:grpSpPr>
            <a:xfrm>
              <a:off x="7437619" y="1393351"/>
              <a:ext cx="1474914" cy="253050"/>
              <a:chOff x="6477000" y="3000375"/>
              <a:chExt cx="2190900" cy="285900"/>
            </a:xfrm>
          </p:grpSpPr>
          <p:sp>
            <p:nvSpPr>
              <p:cNvPr id="375" name="Google Shape;375;g3f534395cd3_2_0"/>
              <p:cNvSpPr/>
              <p:nvPr/>
            </p:nvSpPr>
            <p:spPr>
              <a:xfrm>
                <a:off x="6477000" y="3000375"/>
                <a:ext cx="2190900" cy="285900"/>
              </a:xfrm>
              <a:prstGeom prst="roundRect">
                <a:avLst>
                  <a:gd fmla="val 40000" name="adj"/>
                </a:avLst>
              </a:prstGeom>
              <a:solidFill>
                <a:srgbClr val="71809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g3f534395cd3_2_0"/>
              <p:cNvSpPr txBox="1"/>
              <p:nvPr/>
            </p:nvSpPr>
            <p:spPr>
              <a:xfrm>
                <a:off x="6619875" y="3048810"/>
                <a:ext cx="1905000" cy="190500"/>
              </a:xfrm>
              <a:prstGeom prst="rect">
                <a:avLst/>
              </a:prstGeom>
              <a:solidFill>
                <a:srgbClr val="71809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Environmental issues…</a:t>
                </a:r>
                <a:endParaRPr b="1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77" name="Google Shape;377;g3f534395cd3_2_0"/>
            <p:cNvGrpSpPr/>
            <p:nvPr/>
          </p:nvGrpSpPr>
          <p:grpSpPr>
            <a:xfrm>
              <a:off x="4630974" y="1393338"/>
              <a:ext cx="1173008" cy="253050"/>
              <a:chOff x="6477000" y="3000375"/>
              <a:chExt cx="2190900" cy="285900"/>
            </a:xfrm>
          </p:grpSpPr>
          <p:sp>
            <p:nvSpPr>
              <p:cNvPr id="378" name="Google Shape;378;g3f534395cd3_2_0"/>
              <p:cNvSpPr/>
              <p:nvPr/>
            </p:nvSpPr>
            <p:spPr>
              <a:xfrm>
                <a:off x="6477000" y="3000375"/>
                <a:ext cx="2190900" cy="285900"/>
              </a:xfrm>
              <a:prstGeom prst="roundRect">
                <a:avLst>
                  <a:gd fmla="val 40000" name="adj"/>
                </a:avLst>
              </a:prstGeom>
              <a:solidFill>
                <a:srgbClr val="71809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g3f534395cd3_2_0"/>
              <p:cNvSpPr txBox="1"/>
              <p:nvPr/>
            </p:nvSpPr>
            <p:spPr>
              <a:xfrm>
                <a:off x="6619875" y="3048810"/>
                <a:ext cx="1905000" cy="190500"/>
              </a:xfrm>
              <a:prstGeom prst="rect">
                <a:avLst/>
              </a:prstGeom>
              <a:solidFill>
                <a:srgbClr val="71809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Aircraft…</a:t>
                </a:r>
                <a:endParaRPr b="1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cxnSp>
          <p:nvCxnSpPr>
            <p:cNvPr id="380" name="Google Shape;380;g3f534395cd3_2_0"/>
            <p:cNvCxnSpPr>
              <a:endCxn id="360" idx="0"/>
            </p:cNvCxnSpPr>
            <p:nvPr/>
          </p:nvCxnSpPr>
          <p:spPr>
            <a:xfrm>
              <a:off x="6620728" y="1102938"/>
              <a:ext cx="0" cy="290400"/>
            </a:xfrm>
            <a:prstGeom prst="straightConnector1">
              <a:avLst/>
            </a:prstGeom>
            <a:noFill/>
            <a:ln cap="flat" cmpd="sng" w="112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1" name="Google Shape;381;g3f534395cd3_2_0"/>
            <p:cNvCxnSpPr>
              <a:stCxn id="360" idx="2"/>
              <a:endCxn id="363" idx="0"/>
            </p:cNvCxnSpPr>
            <p:nvPr/>
          </p:nvCxnSpPr>
          <p:spPr>
            <a:xfrm>
              <a:off x="6620728" y="1646388"/>
              <a:ext cx="0" cy="137400"/>
            </a:xfrm>
            <a:prstGeom prst="straightConnector1">
              <a:avLst/>
            </a:prstGeom>
            <a:noFill/>
            <a:ln cap="flat" cmpd="sng" w="112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2" name="Google Shape;382;g3f534395cd3_2_0"/>
            <p:cNvCxnSpPr>
              <a:endCxn id="366" idx="0"/>
            </p:cNvCxnSpPr>
            <p:nvPr/>
          </p:nvCxnSpPr>
          <p:spPr>
            <a:xfrm>
              <a:off x="6620728" y="2036988"/>
              <a:ext cx="0" cy="137400"/>
            </a:xfrm>
            <a:prstGeom prst="straightConnector1">
              <a:avLst/>
            </a:prstGeom>
            <a:noFill/>
            <a:ln cap="flat" cmpd="sng" w="112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3" name="Google Shape;383;g3f534395cd3_2_0"/>
            <p:cNvCxnSpPr>
              <a:endCxn id="369" idx="0"/>
            </p:cNvCxnSpPr>
            <p:nvPr/>
          </p:nvCxnSpPr>
          <p:spPr>
            <a:xfrm>
              <a:off x="6620728" y="2427513"/>
              <a:ext cx="0" cy="137400"/>
            </a:xfrm>
            <a:prstGeom prst="straightConnector1">
              <a:avLst/>
            </a:prstGeom>
            <a:noFill/>
            <a:ln cap="flat" cmpd="sng" w="112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4" name="Google Shape;384;g3f534395cd3_2_0"/>
            <p:cNvCxnSpPr>
              <a:stCxn id="369" idx="2"/>
              <a:endCxn id="372" idx="0"/>
            </p:cNvCxnSpPr>
            <p:nvPr/>
          </p:nvCxnSpPr>
          <p:spPr>
            <a:xfrm>
              <a:off x="6620728" y="2817963"/>
              <a:ext cx="0" cy="137400"/>
            </a:xfrm>
            <a:prstGeom prst="straightConnector1">
              <a:avLst/>
            </a:prstGeom>
            <a:noFill/>
            <a:ln cap="flat" cmpd="sng" w="112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" name="Google Shape;385;g3f534395cd3_2_0"/>
            <p:cNvCxnSpPr>
              <a:stCxn id="378" idx="0"/>
              <a:endCxn id="375" idx="0"/>
            </p:cNvCxnSpPr>
            <p:nvPr/>
          </p:nvCxnSpPr>
          <p:spPr>
            <a:xfrm flipH="1" rot="-5400000">
              <a:off x="6696178" y="-85362"/>
              <a:ext cx="300" cy="2957700"/>
            </a:xfrm>
            <a:prstGeom prst="bentConnector3">
              <a:avLst>
                <a:gd fmla="val -67266949" name="adj1"/>
              </a:avLst>
            </a:prstGeom>
            <a:noFill/>
            <a:ln cap="flat" cmpd="sng" w="112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86" name="Google Shape;386;g3f534395cd3_2_0"/>
            <p:cNvSpPr txBox="1"/>
            <p:nvPr/>
          </p:nvSpPr>
          <p:spPr>
            <a:xfrm>
              <a:off x="3894606" y="831080"/>
              <a:ext cx="677400" cy="29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500" lIns="95500" spcFirstLastPara="1" rIns="95500" wrap="square" tIns="95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/>
                <a:t>Root</a:t>
              </a:r>
              <a:endParaRPr b="1" sz="1000"/>
            </a:p>
          </p:txBody>
        </p:sp>
        <p:sp>
          <p:nvSpPr>
            <p:cNvPr id="387" name="Google Shape;387;g3f534395cd3_2_0"/>
            <p:cNvSpPr txBox="1"/>
            <p:nvPr/>
          </p:nvSpPr>
          <p:spPr>
            <a:xfrm>
              <a:off x="3894606" y="1374680"/>
              <a:ext cx="677400" cy="29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500" lIns="95500" spcFirstLastPara="1" rIns="95500" wrap="square" tIns="95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/>
                <a:t>L1</a:t>
              </a:r>
              <a:endParaRPr b="1" sz="1000"/>
            </a:p>
          </p:txBody>
        </p:sp>
        <p:sp>
          <p:nvSpPr>
            <p:cNvPr id="388" name="Google Shape;388;g3f534395cd3_2_0"/>
            <p:cNvSpPr txBox="1"/>
            <p:nvPr/>
          </p:nvSpPr>
          <p:spPr>
            <a:xfrm>
              <a:off x="3894606" y="1765205"/>
              <a:ext cx="677400" cy="29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500" lIns="95500" spcFirstLastPara="1" rIns="95500" wrap="square" tIns="95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/>
                <a:t>L2</a:t>
              </a:r>
              <a:endParaRPr b="1" sz="1000"/>
            </a:p>
          </p:txBody>
        </p:sp>
        <p:sp>
          <p:nvSpPr>
            <p:cNvPr id="389" name="Google Shape;389;g3f534395cd3_2_0"/>
            <p:cNvSpPr txBox="1"/>
            <p:nvPr/>
          </p:nvSpPr>
          <p:spPr>
            <a:xfrm>
              <a:off x="3894606" y="2174405"/>
              <a:ext cx="677400" cy="29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500" lIns="95500" spcFirstLastPara="1" rIns="95500" wrap="square" tIns="95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/>
                <a:t>L3</a:t>
              </a:r>
              <a:endParaRPr b="1" sz="1000"/>
            </a:p>
          </p:txBody>
        </p:sp>
        <p:sp>
          <p:nvSpPr>
            <p:cNvPr id="390" name="Google Shape;390;g3f534395cd3_2_0"/>
            <p:cNvSpPr txBox="1"/>
            <p:nvPr/>
          </p:nvSpPr>
          <p:spPr>
            <a:xfrm>
              <a:off x="3894606" y="2546255"/>
              <a:ext cx="677400" cy="29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500" lIns="95500" spcFirstLastPara="1" rIns="95500" wrap="square" tIns="95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/>
                <a:t>L4</a:t>
              </a:r>
              <a:endParaRPr b="1" sz="1000"/>
            </a:p>
          </p:txBody>
        </p:sp>
        <p:sp>
          <p:nvSpPr>
            <p:cNvPr id="391" name="Google Shape;391;g3f534395cd3_2_0"/>
            <p:cNvSpPr txBox="1"/>
            <p:nvPr/>
          </p:nvSpPr>
          <p:spPr>
            <a:xfrm>
              <a:off x="3894606" y="2974130"/>
              <a:ext cx="677400" cy="29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500" lIns="95500" spcFirstLastPara="1" rIns="95500" wrap="square" tIns="95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/>
                <a:t>Leaf</a:t>
              </a:r>
              <a:endParaRPr b="1" sz="1000"/>
            </a:p>
          </p:txBody>
        </p:sp>
      </p:grpSp>
      <p:sp>
        <p:nvSpPr>
          <p:cNvPr id="392" name="Google Shape;392;g3f534395cd3_2_0"/>
          <p:cNvSpPr/>
          <p:nvPr/>
        </p:nvSpPr>
        <p:spPr>
          <a:xfrm>
            <a:off x="6000756" y="1252507"/>
            <a:ext cx="54774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1275"/>
              <a:buFont typeface="Arimo"/>
              <a:buNone/>
            </a:pPr>
            <a:r>
              <a:rPr b="1" i="0" lang="en-US" sz="1275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Why SafeAeroBERT?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g3f534395cd3_2_0"/>
          <p:cNvSpPr/>
          <p:nvPr/>
        </p:nvSpPr>
        <p:spPr>
          <a:xfrm>
            <a:off x="6000756" y="1495393"/>
            <a:ext cx="51291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53"/>
              </a:lnSpc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1125"/>
              <a:buFont typeface="Arimo"/>
              <a:buNone/>
            </a:pPr>
            <a:r>
              <a:rPr b="0" i="0" lang="en-US" sz="1125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Findings contain aviation-investigation-specific terminology and domain context. SafeAeroBERT captures the semantic information of safety reports that a general model would miss.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3f534395cd3_2_0"/>
          <p:cNvSpPr/>
          <p:nvPr/>
        </p:nvSpPr>
        <p:spPr>
          <a:xfrm>
            <a:off x="6000756" y="2256546"/>
            <a:ext cx="54774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1275"/>
              <a:buFont typeface="Arimo"/>
              <a:buNone/>
            </a:pPr>
            <a:r>
              <a:rPr b="1" i="0" lang="en-US" sz="1275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Why the Findings Taxonomy?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g3f534395cd3_2_0"/>
          <p:cNvSpPr/>
          <p:nvPr/>
        </p:nvSpPr>
        <p:spPr>
          <a:xfrm>
            <a:off x="6000749" y="2499425"/>
            <a:ext cx="56577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53"/>
              </a:lnSpc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1125"/>
              <a:buFont typeface="Arimo"/>
              <a:buNone/>
            </a:pPr>
            <a:r>
              <a:rPr b="0" i="0" lang="en-US" sz="1125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Findings record accident causes as hierarchical paths from L1 to leaf level. </a:t>
            </a:r>
            <a:br>
              <a:rPr b="0" i="0" lang="en-US" sz="1125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</a:br>
            <a:r>
              <a:rPr b="0" i="0" lang="en-US" sz="1125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Taxonomy features let the model identify causal hierarchies and structural information.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g3f534395cd3_2_0"/>
          <p:cNvSpPr/>
          <p:nvPr/>
        </p:nvSpPr>
        <p:spPr>
          <a:xfrm>
            <a:off x="6026792" y="6180075"/>
            <a:ext cx="5129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900"/>
              <a:buFont typeface="Arimo"/>
              <a:buNone/>
            </a:pPr>
            <a:r>
              <a:rPr b="0" i="0" lang="en-US" sz="900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* 180 train-only hierarchy tokens + 7 structural statistics = 187-D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g3f534395cd3_2_0"/>
          <p:cNvSpPr txBox="1"/>
          <p:nvPr/>
        </p:nvSpPr>
        <p:spPr>
          <a:xfrm>
            <a:off x="1770525" y="1252846"/>
            <a:ext cx="29037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7900" lIns="107900" spcFirstLastPara="1" rIns="107900" wrap="square" tIns="107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Text Branch Architecture</a:t>
            </a:r>
            <a:endParaRPr b="1"/>
          </a:p>
        </p:txBody>
      </p:sp>
      <p:pic>
        <p:nvPicPr>
          <p:cNvPr id="398" name="Google Shape;398;g3f534395cd3_2_0"/>
          <p:cNvPicPr preferRelativeResize="0"/>
          <p:nvPr/>
        </p:nvPicPr>
        <p:blipFill rotWithShape="1">
          <a:blip r:embed="rId4">
            <a:alphaModFix/>
          </a:blip>
          <a:srcRect b="0" l="0" r="0" t="52544"/>
          <a:stretch/>
        </p:blipFill>
        <p:spPr>
          <a:xfrm>
            <a:off x="1800660" y="5263615"/>
            <a:ext cx="2844000" cy="770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g3f534395cd3_2_0"/>
          <p:cNvSpPr/>
          <p:nvPr/>
        </p:nvSpPr>
        <p:spPr>
          <a:xfrm>
            <a:off x="1929885" y="4926215"/>
            <a:ext cx="2585700" cy="337500"/>
          </a:xfrm>
          <a:prstGeom prst="roundRect">
            <a:avLst>
              <a:gd fmla="val 40000" name="adj"/>
            </a:avLst>
          </a:prstGeom>
          <a:solidFill>
            <a:srgbClr val="55585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3f534395cd3_2_0"/>
          <p:cNvSpPr/>
          <p:nvPr/>
        </p:nvSpPr>
        <p:spPr>
          <a:xfrm>
            <a:off x="1929885" y="5094826"/>
            <a:ext cx="2585700" cy="168300"/>
          </a:xfrm>
          <a:prstGeom prst="rect">
            <a:avLst/>
          </a:prstGeom>
          <a:solidFill>
            <a:srgbClr val="55585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f534395cd3_2_0"/>
          <p:cNvSpPr txBox="1"/>
          <p:nvPr/>
        </p:nvSpPr>
        <p:spPr>
          <a:xfrm>
            <a:off x="2098496" y="5004900"/>
            <a:ext cx="22479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MLP-4</a:t>
            </a:r>
            <a:endParaRPr b="1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2" name="Google Shape;402;g3f534395cd3_2_0"/>
          <p:cNvSpPr/>
          <p:nvPr/>
        </p:nvSpPr>
        <p:spPr>
          <a:xfrm>
            <a:off x="2440648" y="5424438"/>
            <a:ext cx="1563900" cy="337500"/>
          </a:xfrm>
          <a:prstGeom prst="roundRect">
            <a:avLst>
              <a:gd fmla="val 40000" name="adj"/>
            </a:avLst>
          </a:prstGeom>
          <a:solidFill>
            <a:srgbClr val="8E6F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g3f534395cd3_2_0"/>
          <p:cNvSpPr txBox="1"/>
          <p:nvPr/>
        </p:nvSpPr>
        <p:spPr>
          <a:xfrm>
            <a:off x="2542641" y="5477027"/>
            <a:ext cx="1359900" cy="224700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955-&gt;512-&gt;128-&gt;1</a:t>
            </a:r>
            <a:endParaRPr b="1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04" name="Google Shape;404;g3f534395cd3_2_0"/>
          <p:cNvCxnSpPr>
            <a:stCxn id="340" idx="2"/>
            <a:endCxn id="399" idx="0"/>
          </p:cNvCxnSpPr>
          <p:nvPr/>
        </p:nvCxnSpPr>
        <p:spPr>
          <a:xfrm>
            <a:off x="3222552" y="4588303"/>
            <a:ext cx="300" cy="33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5" name="Google Shape;405;g3f534395cd3_2_0"/>
          <p:cNvSpPr/>
          <p:nvPr/>
        </p:nvSpPr>
        <p:spPr>
          <a:xfrm>
            <a:off x="533400" y="2810302"/>
            <a:ext cx="4805700" cy="3212400"/>
          </a:xfrm>
          <a:prstGeom prst="rect">
            <a:avLst/>
          </a:prstGeom>
          <a:noFill/>
          <a:ln cap="flat" cmpd="sng" w="22475">
            <a:solidFill>
              <a:srgbClr val="5558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7900" lIns="107900" spcFirstLastPara="1" rIns="107900" wrap="square" tIns="107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06" name="Google Shape;406;g3f534395cd3_2_0"/>
          <p:cNvSpPr txBox="1"/>
          <p:nvPr/>
        </p:nvSpPr>
        <p:spPr>
          <a:xfrm>
            <a:off x="7547375" y="2911354"/>
            <a:ext cx="29037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7900" lIns="107900" spcFirstLastPara="1" rIns="107900" wrap="square" tIns="107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Taxonomy Hierarchy</a:t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12" name="Google Shape;412;g3f534395cd3_2_2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6789" y="361950"/>
            <a:ext cx="127181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g3f534395cd3_2_203"/>
          <p:cNvSpPr/>
          <p:nvPr/>
        </p:nvSpPr>
        <p:spPr>
          <a:xfrm>
            <a:off x="533400" y="495300"/>
            <a:ext cx="122376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975"/>
              <a:buFont typeface="Arimo"/>
              <a:buNone/>
            </a:pPr>
            <a:r>
              <a:rPr b="1" i="0" lang="en-US" sz="975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TEXT BRANCH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g3f534395cd3_2_203"/>
          <p:cNvSpPr/>
          <p:nvPr/>
        </p:nvSpPr>
        <p:spPr>
          <a:xfrm>
            <a:off x="533400" y="700088"/>
            <a:ext cx="12237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mo"/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MLP Architecture Comparison</a:t>
            </a:r>
            <a:endParaRPr i="0" sz="3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5" name="Google Shape;415;g3f534395cd3_2_203"/>
          <p:cNvSpPr/>
          <p:nvPr/>
        </p:nvSpPr>
        <p:spPr>
          <a:xfrm>
            <a:off x="533400" y="1433513"/>
            <a:ext cx="6947400" cy="300000"/>
          </a:xfrm>
          <a:prstGeom prst="rect">
            <a:avLst/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g3f534395cd3_2_203"/>
          <p:cNvSpPr/>
          <p:nvPr/>
        </p:nvSpPr>
        <p:spPr>
          <a:xfrm>
            <a:off x="666750" y="1509712"/>
            <a:ext cx="68892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975"/>
              <a:buFont typeface="Arimo"/>
              <a:buNone/>
            </a:pPr>
            <a:r>
              <a:rPr b="0" i="0" lang="en-US" sz="975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Fixed: Weighted BCE (pos_weight = 1.83) · AdamW (lr = 5e-4) · dropout 0.20 · batch size 64 — only depth &amp; width varied.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g3f534395cd3_2_203"/>
          <p:cNvSpPr/>
          <p:nvPr/>
        </p:nvSpPr>
        <p:spPr>
          <a:xfrm>
            <a:off x="533400" y="2635793"/>
            <a:ext cx="6565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900"/>
              <a:buFont typeface="Arimo"/>
              <a:buNone/>
            </a:pPr>
            <a:r>
              <a:rPr b="1" i="0" lang="en-US" sz="1100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VALIDATION 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g3f534395cd3_2_203"/>
          <p:cNvSpPr/>
          <p:nvPr/>
        </p:nvSpPr>
        <p:spPr>
          <a:xfrm>
            <a:off x="533400" y="2897535"/>
            <a:ext cx="5969100" cy="30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3f534395cd3_2_203"/>
          <p:cNvSpPr/>
          <p:nvPr/>
        </p:nvSpPr>
        <p:spPr>
          <a:xfrm>
            <a:off x="647700" y="2960028"/>
            <a:ext cx="701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MLP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g3f534395cd3_2_203"/>
          <p:cNvSpPr/>
          <p:nvPr/>
        </p:nvSpPr>
        <p:spPr>
          <a:xfrm>
            <a:off x="1501601" y="2960028"/>
            <a:ext cx="1734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LAYERS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g3f534395cd3_2_203"/>
          <p:cNvSpPr/>
          <p:nvPr/>
        </p:nvSpPr>
        <p:spPr>
          <a:xfrm>
            <a:off x="3311798" y="2960028"/>
            <a:ext cx="609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ACC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g3f534395cd3_2_203"/>
          <p:cNvSpPr/>
          <p:nvPr/>
        </p:nvSpPr>
        <p:spPr>
          <a:xfrm>
            <a:off x="4073351" y="2960028"/>
            <a:ext cx="920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MACRO F1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g3f534395cd3_2_203"/>
          <p:cNvSpPr/>
          <p:nvPr/>
        </p:nvSpPr>
        <p:spPr>
          <a:xfrm>
            <a:off x="5145956" y="2960028"/>
            <a:ext cx="1242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FATAL RECALL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g3f534395cd3_2_203"/>
          <p:cNvSpPr/>
          <p:nvPr/>
        </p:nvSpPr>
        <p:spPr>
          <a:xfrm>
            <a:off x="533400" y="3597622"/>
            <a:ext cx="5969100" cy="9600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3f534395cd3_2_203"/>
          <p:cNvSpPr/>
          <p:nvPr/>
        </p:nvSpPr>
        <p:spPr>
          <a:xfrm>
            <a:off x="647700" y="3274353"/>
            <a:ext cx="7014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mo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MLP-1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g3f534395cd3_2_203"/>
          <p:cNvSpPr/>
          <p:nvPr/>
        </p:nvSpPr>
        <p:spPr>
          <a:xfrm>
            <a:off x="1501601" y="3274353"/>
            <a:ext cx="17340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1125"/>
              <a:buFont typeface="Arimo"/>
              <a:buNone/>
            </a:pPr>
            <a:r>
              <a:rPr b="0" i="0" lang="en-US" sz="1125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955→128→1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g3f534395cd3_2_203"/>
          <p:cNvSpPr/>
          <p:nvPr/>
        </p:nvSpPr>
        <p:spPr>
          <a:xfrm>
            <a:off x="3311798" y="3274353"/>
            <a:ext cx="609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mo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0.781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g3f534395cd3_2_203"/>
          <p:cNvSpPr/>
          <p:nvPr/>
        </p:nvSpPr>
        <p:spPr>
          <a:xfrm>
            <a:off x="4073351" y="3274353"/>
            <a:ext cx="920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mo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0.752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g3f534395cd3_2_203"/>
          <p:cNvSpPr/>
          <p:nvPr/>
        </p:nvSpPr>
        <p:spPr>
          <a:xfrm>
            <a:off x="5145956" y="3274353"/>
            <a:ext cx="12420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mo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0.623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g3f534395cd3_2_203"/>
          <p:cNvSpPr/>
          <p:nvPr/>
        </p:nvSpPr>
        <p:spPr>
          <a:xfrm>
            <a:off x="533400" y="4007197"/>
            <a:ext cx="5969100" cy="9600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3f534395cd3_2_203"/>
          <p:cNvSpPr/>
          <p:nvPr/>
        </p:nvSpPr>
        <p:spPr>
          <a:xfrm>
            <a:off x="647700" y="3679165"/>
            <a:ext cx="701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mo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MLP-2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g3f534395cd3_2_203"/>
          <p:cNvSpPr/>
          <p:nvPr/>
        </p:nvSpPr>
        <p:spPr>
          <a:xfrm>
            <a:off x="1501601" y="3679165"/>
            <a:ext cx="1734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1125"/>
              <a:buFont typeface="Arimo"/>
              <a:buNone/>
            </a:pPr>
            <a:r>
              <a:rPr b="0" i="0" lang="en-US" sz="1125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955→256→1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g3f534395cd3_2_203"/>
          <p:cNvSpPr/>
          <p:nvPr/>
        </p:nvSpPr>
        <p:spPr>
          <a:xfrm>
            <a:off x="3311798" y="3679165"/>
            <a:ext cx="6093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mo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0.775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g3f534395cd3_2_203"/>
          <p:cNvSpPr/>
          <p:nvPr/>
        </p:nvSpPr>
        <p:spPr>
          <a:xfrm>
            <a:off x="4073351" y="3679165"/>
            <a:ext cx="9201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mo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0.750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g3f534395cd3_2_203"/>
          <p:cNvSpPr/>
          <p:nvPr/>
        </p:nvSpPr>
        <p:spPr>
          <a:xfrm>
            <a:off x="5145956" y="3679165"/>
            <a:ext cx="1242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mo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0.658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g3f534395cd3_2_203"/>
          <p:cNvSpPr/>
          <p:nvPr/>
        </p:nvSpPr>
        <p:spPr>
          <a:xfrm>
            <a:off x="533400" y="4416772"/>
            <a:ext cx="5969100" cy="9600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f534395cd3_2_203"/>
          <p:cNvSpPr/>
          <p:nvPr/>
        </p:nvSpPr>
        <p:spPr>
          <a:xfrm>
            <a:off x="647700" y="4088740"/>
            <a:ext cx="701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mo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MLP-3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g3f534395cd3_2_203"/>
          <p:cNvSpPr/>
          <p:nvPr/>
        </p:nvSpPr>
        <p:spPr>
          <a:xfrm>
            <a:off x="1501601" y="4088740"/>
            <a:ext cx="1734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1125"/>
              <a:buFont typeface="Arimo"/>
              <a:buNone/>
            </a:pPr>
            <a:r>
              <a:rPr b="0" i="0" lang="en-US" sz="1125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955→256→64→1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g3f534395cd3_2_203"/>
          <p:cNvSpPr/>
          <p:nvPr/>
        </p:nvSpPr>
        <p:spPr>
          <a:xfrm>
            <a:off x="3311798" y="4088740"/>
            <a:ext cx="6093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mo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0.769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g3f534395cd3_2_203"/>
          <p:cNvSpPr/>
          <p:nvPr/>
        </p:nvSpPr>
        <p:spPr>
          <a:xfrm>
            <a:off x="4073351" y="4088740"/>
            <a:ext cx="9201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mo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0.749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g3f534395cd3_2_203"/>
          <p:cNvSpPr/>
          <p:nvPr/>
        </p:nvSpPr>
        <p:spPr>
          <a:xfrm>
            <a:off x="5145956" y="4088740"/>
            <a:ext cx="1242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mo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0.693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g3f534395cd3_2_203"/>
          <p:cNvSpPr/>
          <p:nvPr/>
        </p:nvSpPr>
        <p:spPr>
          <a:xfrm>
            <a:off x="533400" y="4426297"/>
            <a:ext cx="5969100" cy="414300"/>
          </a:xfrm>
          <a:prstGeom prst="rect">
            <a:avLst/>
          </a:prstGeom>
          <a:solidFill>
            <a:srgbClr val="FAF3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f534395cd3_2_203"/>
          <p:cNvSpPr/>
          <p:nvPr/>
        </p:nvSpPr>
        <p:spPr>
          <a:xfrm>
            <a:off x="533400" y="4821585"/>
            <a:ext cx="5969100" cy="192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3f534395cd3_2_203"/>
          <p:cNvSpPr/>
          <p:nvPr/>
        </p:nvSpPr>
        <p:spPr>
          <a:xfrm>
            <a:off x="647700" y="4498315"/>
            <a:ext cx="7014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mo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MLP-4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g3f534395cd3_2_203"/>
          <p:cNvSpPr/>
          <p:nvPr/>
        </p:nvSpPr>
        <p:spPr>
          <a:xfrm>
            <a:off x="1501601" y="4498315"/>
            <a:ext cx="1734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1125"/>
              <a:buFont typeface="Arimo"/>
              <a:buNone/>
            </a:pPr>
            <a:r>
              <a:rPr b="1" i="0" lang="en-US" sz="1125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955→512→128→1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g3f534395cd3_2_203"/>
          <p:cNvSpPr/>
          <p:nvPr/>
        </p:nvSpPr>
        <p:spPr>
          <a:xfrm>
            <a:off x="3311798" y="4498315"/>
            <a:ext cx="6093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mo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0.750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g3f534395cd3_2_203"/>
          <p:cNvSpPr/>
          <p:nvPr/>
        </p:nvSpPr>
        <p:spPr>
          <a:xfrm>
            <a:off x="4073351" y="4498315"/>
            <a:ext cx="9201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mo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0.740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g3f534395cd3_2_203"/>
          <p:cNvSpPr/>
          <p:nvPr/>
        </p:nvSpPr>
        <p:spPr>
          <a:xfrm>
            <a:off x="5145956" y="4498315"/>
            <a:ext cx="1242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1125"/>
              <a:buFont typeface="Arimo"/>
              <a:buNone/>
            </a:pPr>
            <a:r>
              <a:rPr b="1" i="0" lang="en-US" sz="1125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0.781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g3f534395cd3_2_203"/>
          <p:cNvSpPr/>
          <p:nvPr/>
        </p:nvSpPr>
        <p:spPr>
          <a:xfrm>
            <a:off x="533400" y="4964460"/>
            <a:ext cx="6147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875"/>
              </a:lnSpc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1050"/>
              <a:buFont typeface="Arimo"/>
              <a:buNone/>
            </a:pPr>
            <a:r>
              <a:rPr b="0" i="0" lang="en-US" sz="1050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To reduce the failure of missing fatal accidents, </a:t>
            </a:r>
            <a:br>
              <a:rPr b="0" i="0" lang="en-US" sz="1050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</a:br>
            <a:r>
              <a:rPr b="1" i="0" lang="en-US" sz="1050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MLP-4 </a:t>
            </a:r>
            <a:r>
              <a:rPr b="0" i="0" lang="en-US" sz="1050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was selected </a:t>
            </a:r>
            <a:r>
              <a:rPr b="0" i="0" lang="en-US" sz="1050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— </a:t>
            </a:r>
            <a:r>
              <a:rPr b="0" i="0" lang="en-US" sz="1050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accepting a small Macro-F1 trade-off for the highest Fatal Recall.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g3f534395cd3_2_203"/>
          <p:cNvSpPr/>
          <p:nvPr/>
        </p:nvSpPr>
        <p:spPr>
          <a:xfrm>
            <a:off x="6864325" y="2645221"/>
            <a:ext cx="5252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900"/>
              <a:buFont typeface="Arimo"/>
              <a:buNone/>
            </a:pPr>
            <a:r>
              <a:rPr b="1" i="0" lang="en-US" sz="1100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MLP-4 ON TEST 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g3f534395cd3_2_203"/>
          <p:cNvSpPr/>
          <p:nvPr/>
        </p:nvSpPr>
        <p:spPr>
          <a:xfrm>
            <a:off x="8787854" y="2844792"/>
            <a:ext cx="16239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825"/>
              <a:buFont typeface="Arimo"/>
              <a:buNone/>
            </a:pPr>
            <a:r>
              <a:rPr b="1" i="0" lang="en-US" sz="825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PRED NON-FATAL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g3f534395cd3_2_203"/>
          <p:cNvSpPr/>
          <p:nvPr/>
        </p:nvSpPr>
        <p:spPr>
          <a:xfrm>
            <a:off x="10449892" y="2844792"/>
            <a:ext cx="11898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825"/>
              <a:buFont typeface="Arimo"/>
              <a:buNone/>
            </a:pPr>
            <a:r>
              <a:rPr b="1" i="0" lang="en-US" sz="825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PRED FATAL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g3f534395cd3_2_203"/>
          <p:cNvSpPr/>
          <p:nvPr/>
        </p:nvSpPr>
        <p:spPr>
          <a:xfrm>
            <a:off x="6822912" y="3124330"/>
            <a:ext cx="18474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825"/>
              <a:buFont typeface="Arimo"/>
              <a:buNone/>
            </a:pPr>
            <a:r>
              <a:rPr b="1" i="0" lang="en-US" sz="825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ACTUAL NON-FATAL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g3f534395cd3_2_203"/>
          <p:cNvSpPr/>
          <p:nvPr/>
        </p:nvSpPr>
        <p:spPr>
          <a:xfrm>
            <a:off x="8768804" y="3067180"/>
            <a:ext cx="1662000" cy="5667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3f534395cd3_2_203"/>
          <p:cNvSpPr/>
          <p:nvPr/>
        </p:nvSpPr>
        <p:spPr>
          <a:xfrm>
            <a:off x="8883104" y="3219580"/>
            <a:ext cx="1433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mo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148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g3f534395cd3_2_203"/>
          <p:cNvSpPr/>
          <p:nvPr/>
        </p:nvSpPr>
        <p:spPr>
          <a:xfrm>
            <a:off x="10430842" y="3067180"/>
            <a:ext cx="1227900" cy="566700"/>
          </a:xfrm>
          <a:prstGeom prst="rect">
            <a:avLst/>
          </a:prstGeom>
          <a:solidFill>
            <a:srgbClr val="F1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3f534395cd3_2_203"/>
          <p:cNvSpPr/>
          <p:nvPr/>
        </p:nvSpPr>
        <p:spPr>
          <a:xfrm>
            <a:off x="10545142" y="3219580"/>
            <a:ext cx="999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1800"/>
              <a:buFont typeface="Arimo"/>
              <a:buNone/>
            </a:pPr>
            <a:r>
              <a:rPr b="1" i="0" lang="en-US" sz="1800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62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g3f534395cd3_2_203"/>
          <p:cNvSpPr/>
          <p:nvPr/>
        </p:nvSpPr>
        <p:spPr>
          <a:xfrm>
            <a:off x="6822912" y="3691068"/>
            <a:ext cx="18474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825"/>
              <a:buFont typeface="Arimo"/>
              <a:buNone/>
            </a:pPr>
            <a:r>
              <a:rPr b="1" i="0" lang="en-US" sz="825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ACTUAL FATAL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g3f534395cd3_2_203"/>
          <p:cNvSpPr/>
          <p:nvPr/>
        </p:nvSpPr>
        <p:spPr>
          <a:xfrm>
            <a:off x="8768804" y="3633918"/>
            <a:ext cx="1662000" cy="566700"/>
          </a:xfrm>
          <a:prstGeom prst="rect">
            <a:avLst/>
          </a:prstGeom>
          <a:solidFill>
            <a:srgbClr val="F1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g3f534395cd3_2_203"/>
          <p:cNvSpPr/>
          <p:nvPr/>
        </p:nvSpPr>
        <p:spPr>
          <a:xfrm>
            <a:off x="8883104" y="3786318"/>
            <a:ext cx="1433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1800"/>
              <a:buFont typeface="Arimo"/>
              <a:buNone/>
            </a:pPr>
            <a:r>
              <a:rPr b="1" i="0" lang="en-US" sz="1800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g3f534395cd3_2_203"/>
          <p:cNvSpPr/>
          <p:nvPr/>
        </p:nvSpPr>
        <p:spPr>
          <a:xfrm>
            <a:off x="10430842" y="3633918"/>
            <a:ext cx="1227900" cy="566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g3f534395cd3_2_203"/>
          <p:cNvSpPr/>
          <p:nvPr/>
        </p:nvSpPr>
        <p:spPr>
          <a:xfrm>
            <a:off x="10545142" y="3786318"/>
            <a:ext cx="999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1800"/>
              <a:buFont typeface="Arimo"/>
              <a:buNone/>
            </a:pPr>
            <a:r>
              <a:rPr b="1" i="0" lang="en-US" sz="1800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103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g3f534395cd3_2_203"/>
          <p:cNvSpPr/>
          <p:nvPr/>
        </p:nvSpPr>
        <p:spPr>
          <a:xfrm>
            <a:off x="6883375" y="4334005"/>
            <a:ext cx="1136700" cy="514500"/>
          </a:xfrm>
          <a:prstGeom prst="rect">
            <a:avLst/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g3f534395cd3_2_203"/>
          <p:cNvSpPr/>
          <p:nvPr/>
        </p:nvSpPr>
        <p:spPr>
          <a:xfrm>
            <a:off x="6883375" y="4390112"/>
            <a:ext cx="11367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mo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0.772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g3f534395cd3_2_203"/>
          <p:cNvSpPr/>
          <p:nvPr/>
        </p:nvSpPr>
        <p:spPr>
          <a:xfrm>
            <a:off x="6883375" y="4643568"/>
            <a:ext cx="11367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50"/>
              <a:buFont typeface="Arimo"/>
              <a:buNone/>
            </a:pPr>
            <a:r>
              <a:rPr b="1" i="0" lang="en-US" sz="750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ACCURACY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3f534395cd3_2_203"/>
          <p:cNvSpPr/>
          <p:nvPr/>
        </p:nvSpPr>
        <p:spPr>
          <a:xfrm>
            <a:off x="8096176" y="4334005"/>
            <a:ext cx="1136700" cy="514500"/>
          </a:xfrm>
          <a:prstGeom prst="rect">
            <a:avLst/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g3f534395cd3_2_203"/>
          <p:cNvSpPr/>
          <p:nvPr/>
        </p:nvSpPr>
        <p:spPr>
          <a:xfrm>
            <a:off x="8096176" y="4390112"/>
            <a:ext cx="11367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mo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0.768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g3f534395cd3_2_203"/>
          <p:cNvSpPr/>
          <p:nvPr/>
        </p:nvSpPr>
        <p:spPr>
          <a:xfrm>
            <a:off x="8096176" y="4643568"/>
            <a:ext cx="11367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50"/>
              <a:buFont typeface="Arimo"/>
              <a:buNone/>
            </a:pPr>
            <a:r>
              <a:rPr b="1" i="0" lang="en-US" sz="750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MACRO F1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g3f534395cd3_2_203"/>
          <p:cNvSpPr/>
          <p:nvPr/>
        </p:nvSpPr>
        <p:spPr>
          <a:xfrm>
            <a:off x="9309050" y="4334005"/>
            <a:ext cx="1136700" cy="514500"/>
          </a:xfrm>
          <a:prstGeom prst="rect">
            <a:avLst/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g3f534395cd3_2_203"/>
          <p:cNvSpPr/>
          <p:nvPr/>
        </p:nvSpPr>
        <p:spPr>
          <a:xfrm>
            <a:off x="9309050" y="4390112"/>
            <a:ext cx="11367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mo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0.736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g3f534395cd3_2_203"/>
          <p:cNvSpPr/>
          <p:nvPr/>
        </p:nvSpPr>
        <p:spPr>
          <a:xfrm>
            <a:off x="9309050" y="4643568"/>
            <a:ext cx="11367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50"/>
              <a:buFont typeface="Arimo"/>
              <a:buNone/>
            </a:pPr>
            <a:r>
              <a:rPr b="1" i="0" lang="en-US" sz="750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FATAL F1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g3f534395cd3_2_203"/>
          <p:cNvSpPr/>
          <p:nvPr/>
        </p:nvSpPr>
        <p:spPr>
          <a:xfrm>
            <a:off x="10521925" y="4334005"/>
            <a:ext cx="1136700" cy="514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g3f534395cd3_2_203"/>
          <p:cNvSpPr/>
          <p:nvPr/>
        </p:nvSpPr>
        <p:spPr>
          <a:xfrm>
            <a:off x="10521925" y="4390112"/>
            <a:ext cx="11367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1500"/>
              <a:buFont typeface="Arimo"/>
              <a:buNone/>
            </a:pPr>
            <a:r>
              <a:rPr b="1" i="0" lang="en-US" sz="1500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0.896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g3f534395cd3_2_203"/>
          <p:cNvSpPr/>
          <p:nvPr/>
        </p:nvSpPr>
        <p:spPr>
          <a:xfrm>
            <a:off x="10521925" y="4643568"/>
            <a:ext cx="11367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750"/>
              <a:buFont typeface="Arimo"/>
              <a:buNone/>
            </a:pPr>
            <a:r>
              <a:rPr b="1" i="0" lang="en-US" sz="750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FATAL RECALL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g3f534395cd3_2_203"/>
          <p:cNvSpPr/>
          <p:nvPr/>
        </p:nvSpPr>
        <p:spPr>
          <a:xfrm>
            <a:off x="533400" y="6372225"/>
            <a:ext cx="11125200" cy="9600"/>
          </a:xfrm>
          <a:prstGeom prst="rect">
            <a:avLst/>
          </a:prstGeom>
          <a:solidFill>
            <a:srgbClr val="DAD7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g3f534395cd3_2_203"/>
          <p:cNvSpPr/>
          <p:nvPr/>
        </p:nvSpPr>
        <p:spPr>
          <a:xfrm>
            <a:off x="533400" y="6457950"/>
            <a:ext cx="2782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i="0" lang="en-US" sz="788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PREDICTING AVIATION ACCIDENT SEVERITY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g3f534395cd3_2_203"/>
          <p:cNvSpPr/>
          <p:nvPr/>
        </p:nvSpPr>
        <p:spPr>
          <a:xfrm>
            <a:off x="11527334" y="6457950"/>
            <a:ext cx="207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lang="en-US" sz="788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11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3" name="Google Shape;48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6789" y="361950"/>
            <a:ext cx="1271811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14"/>
          <p:cNvSpPr/>
          <p:nvPr/>
        </p:nvSpPr>
        <p:spPr>
          <a:xfrm>
            <a:off x="533400" y="495300"/>
            <a:ext cx="12237720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975"/>
              <a:buFont typeface="Arimo"/>
              <a:buNone/>
            </a:pPr>
            <a:r>
              <a:rPr b="1" i="0" lang="en-US" sz="975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TABULAR BRANCH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4"/>
          <p:cNvSpPr/>
          <p:nvPr/>
        </p:nvSpPr>
        <p:spPr>
          <a:xfrm>
            <a:off x="533400" y="700088"/>
            <a:ext cx="1223772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mo"/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Initial Modeling &amp; Performance Comparison</a:t>
            </a:r>
            <a:endParaRPr i="0" sz="3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6" name="Google Shape;486;p14"/>
          <p:cNvSpPr/>
          <p:nvPr/>
        </p:nvSpPr>
        <p:spPr>
          <a:xfrm>
            <a:off x="533400" y="1433513"/>
            <a:ext cx="11001375" cy="2514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081"/>
              </a:lnSpc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1200"/>
              <a:buFont typeface="Arimo"/>
              <a:buNone/>
            </a:pPr>
            <a:r>
              <a:rPr b="1" lang="en-US" sz="1100">
                <a:solidFill>
                  <a:schemeClr val="dk1"/>
                </a:solidFill>
              </a:rPr>
              <a:t>Model Selection Rationale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Selected representative classifiers with distinct learning principles to provide a comprehensive baseline comparison.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Compared distance-based (KNN), tree-based (Decision Tree), and ensemble-based (Random Forest) algorithms.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1081"/>
              </a:lnSpc>
              <a:spcBef>
                <a:spcPts val="1200"/>
              </a:spcBef>
              <a:spcAft>
                <a:spcPts val="0"/>
              </a:spcAft>
              <a:buClr>
                <a:srgbClr val="55585F"/>
              </a:buClr>
              <a:buSzPts val="1200"/>
              <a:buFont typeface="Arimo"/>
              <a:buNone/>
            </a:pPr>
            <a:r>
              <a:t/>
            </a:r>
            <a:endParaRPr sz="1200">
              <a:solidFill>
                <a:srgbClr val="55585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87" name="Google Shape;487;p14"/>
          <p:cNvSpPr/>
          <p:nvPr/>
        </p:nvSpPr>
        <p:spPr>
          <a:xfrm>
            <a:off x="533400" y="2806973"/>
            <a:ext cx="5627936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4"/>
          <p:cNvSpPr/>
          <p:nvPr/>
        </p:nvSpPr>
        <p:spPr>
          <a:xfrm>
            <a:off x="647700" y="2902223"/>
            <a:ext cx="976089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MODEL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4"/>
          <p:cNvSpPr/>
          <p:nvPr/>
        </p:nvSpPr>
        <p:spPr>
          <a:xfrm>
            <a:off x="1776189" y="2902223"/>
            <a:ext cx="1909986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CONFIG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4"/>
          <p:cNvSpPr/>
          <p:nvPr/>
        </p:nvSpPr>
        <p:spPr>
          <a:xfrm>
            <a:off x="3762375" y="2902223"/>
            <a:ext cx="43376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ACC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4"/>
          <p:cNvSpPr/>
          <p:nvPr/>
        </p:nvSpPr>
        <p:spPr>
          <a:xfrm>
            <a:off x="4348535" y="2902223"/>
            <a:ext cx="658639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MACRO F1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4"/>
          <p:cNvSpPr/>
          <p:nvPr/>
        </p:nvSpPr>
        <p:spPr>
          <a:xfrm>
            <a:off x="5159573" y="2902223"/>
            <a:ext cx="8874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FATAL RECALL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4"/>
          <p:cNvSpPr/>
          <p:nvPr/>
        </p:nvSpPr>
        <p:spPr>
          <a:xfrm>
            <a:off x="533400" y="3630885"/>
            <a:ext cx="5627936" cy="9525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4"/>
          <p:cNvSpPr/>
          <p:nvPr/>
        </p:nvSpPr>
        <p:spPr>
          <a:xfrm>
            <a:off x="647700" y="3368948"/>
            <a:ext cx="976089" cy="204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mo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KNN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4"/>
          <p:cNvSpPr/>
          <p:nvPr/>
        </p:nvSpPr>
        <p:spPr>
          <a:xfrm>
            <a:off x="1776189" y="3368948"/>
            <a:ext cx="1909986" cy="204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1125"/>
              <a:buFont typeface="Arimo"/>
              <a:buNone/>
            </a:pPr>
            <a:r>
              <a:rPr b="0" i="0" lang="en-US" sz="1125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k = 5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4"/>
          <p:cNvSpPr/>
          <p:nvPr/>
        </p:nvSpPr>
        <p:spPr>
          <a:xfrm>
            <a:off x="3762375" y="3368948"/>
            <a:ext cx="433760" cy="204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mo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0.778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4"/>
          <p:cNvSpPr/>
          <p:nvPr/>
        </p:nvSpPr>
        <p:spPr>
          <a:xfrm>
            <a:off x="4348535" y="3368948"/>
            <a:ext cx="658639" cy="204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mo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0.742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4"/>
          <p:cNvSpPr/>
          <p:nvPr/>
        </p:nvSpPr>
        <p:spPr>
          <a:xfrm>
            <a:off x="5159573" y="3368948"/>
            <a:ext cx="887462" cy="204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mo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0.579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4"/>
          <p:cNvSpPr/>
          <p:nvPr/>
        </p:nvSpPr>
        <p:spPr>
          <a:xfrm>
            <a:off x="533400" y="4173810"/>
            <a:ext cx="5627936" cy="9525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4"/>
          <p:cNvSpPr/>
          <p:nvPr/>
        </p:nvSpPr>
        <p:spPr>
          <a:xfrm>
            <a:off x="647700" y="3745185"/>
            <a:ext cx="976089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mo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Decision Tree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4"/>
          <p:cNvSpPr/>
          <p:nvPr/>
        </p:nvSpPr>
        <p:spPr>
          <a:xfrm>
            <a:off x="1776189" y="3745185"/>
            <a:ext cx="1909986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1125"/>
              <a:buFont typeface="Arimo"/>
              <a:buNone/>
            </a:pPr>
            <a:r>
              <a:rPr b="0" i="0" lang="en-US" sz="1125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random_state = 123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4"/>
          <p:cNvSpPr/>
          <p:nvPr/>
        </p:nvSpPr>
        <p:spPr>
          <a:xfrm>
            <a:off x="3762375" y="3745185"/>
            <a:ext cx="43376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mo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0.784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4"/>
          <p:cNvSpPr/>
          <p:nvPr/>
        </p:nvSpPr>
        <p:spPr>
          <a:xfrm>
            <a:off x="4348535" y="3745185"/>
            <a:ext cx="658639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mo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0.746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4"/>
          <p:cNvSpPr/>
          <p:nvPr/>
        </p:nvSpPr>
        <p:spPr>
          <a:xfrm>
            <a:off x="5159573" y="3745185"/>
            <a:ext cx="887462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mo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0.561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4"/>
          <p:cNvSpPr/>
          <p:nvPr/>
        </p:nvSpPr>
        <p:spPr>
          <a:xfrm>
            <a:off x="533400" y="4183335"/>
            <a:ext cx="5627936" cy="547688"/>
          </a:xfrm>
          <a:prstGeom prst="rect">
            <a:avLst/>
          </a:prstGeom>
          <a:solidFill>
            <a:srgbClr val="FAF3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4"/>
          <p:cNvSpPr/>
          <p:nvPr/>
        </p:nvSpPr>
        <p:spPr>
          <a:xfrm>
            <a:off x="533400" y="4711973"/>
            <a:ext cx="5627936" cy="1905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4"/>
          <p:cNvSpPr/>
          <p:nvPr/>
        </p:nvSpPr>
        <p:spPr>
          <a:xfrm>
            <a:off x="647700" y="4288110"/>
            <a:ext cx="976089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mo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Baseline RF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4"/>
          <p:cNvSpPr/>
          <p:nvPr/>
        </p:nvSpPr>
        <p:spPr>
          <a:xfrm>
            <a:off x="1776189" y="4288110"/>
            <a:ext cx="1909986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1125"/>
              <a:buFont typeface="Arimo"/>
              <a:buNone/>
            </a:pPr>
            <a:r>
              <a:rPr b="0" i="0" lang="en-US" sz="1125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n_estimators = 100 · balanced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4"/>
          <p:cNvSpPr/>
          <p:nvPr/>
        </p:nvSpPr>
        <p:spPr>
          <a:xfrm>
            <a:off x="3762375" y="4288110"/>
            <a:ext cx="433760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1125"/>
              <a:buFont typeface="Arimo"/>
              <a:buNone/>
            </a:pPr>
            <a:r>
              <a:rPr b="1" i="0" lang="en-US" sz="1125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0.821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4"/>
          <p:cNvSpPr/>
          <p:nvPr/>
        </p:nvSpPr>
        <p:spPr>
          <a:xfrm>
            <a:off x="4348535" y="4288110"/>
            <a:ext cx="658639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1125"/>
              <a:buFont typeface="Arimo"/>
              <a:buNone/>
            </a:pPr>
            <a:r>
              <a:rPr b="1" i="0" lang="en-US" sz="1125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0.790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4"/>
          <p:cNvSpPr/>
          <p:nvPr/>
        </p:nvSpPr>
        <p:spPr>
          <a:xfrm>
            <a:off x="5159573" y="4288110"/>
            <a:ext cx="887462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1125"/>
              <a:buFont typeface="Arimo"/>
              <a:buNone/>
            </a:pPr>
            <a:r>
              <a:rPr b="1" i="0" lang="en-US" sz="1125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0.623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4"/>
          <p:cNvSpPr/>
          <p:nvPr/>
        </p:nvSpPr>
        <p:spPr>
          <a:xfrm>
            <a:off x="533400" y="4932898"/>
            <a:ext cx="3751200" cy="404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4"/>
          <p:cNvSpPr/>
          <p:nvPr/>
        </p:nvSpPr>
        <p:spPr>
          <a:xfrm>
            <a:off x="704850" y="5040585"/>
            <a:ext cx="1045220" cy="1666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900"/>
              <a:buFont typeface="Arimo"/>
              <a:buNone/>
            </a:pPr>
            <a:r>
              <a:rPr b="1" i="0" lang="en-US" sz="900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CONCLUSION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/>
          <p:nvPr/>
        </p:nvSpPr>
        <p:spPr>
          <a:xfrm>
            <a:off x="1673870" y="5007248"/>
            <a:ext cx="268314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m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Baseline Random Forest selected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5" name="Google Shape;51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2336" y="2433117"/>
            <a:ext cx="5116264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14"/>
          <p:cNvSpPr/>
          <p:nvPr/>
        </p:nvSpPr>
        <p:spPr>
          <a:xfrm>
            <a:off x="533400" y="6372225"/>
            <a:ext cx="11125200" cy="9525"/>
          </a:xfrm>
          <a:prstGeom prst="rect">
            <a:avLst/>
          </a:prstGeom>
          <a:solidFill>
            <a:srgbClr val="DAD7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4"/>
          <p:cNvSpPr/>
          <p:nvPr/>
        </p:nvSpPr>
        <p:spPr>
          <a:xfrm>
            <a:off x="533400" y="6457950"/>
            <a:ext cx="278275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i="0" lang="en-US" sz="788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PREDICTING AVIATION ACCIDENT SEVERITY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4"/>
          <p:cNvSpPr/>
          <p:nvPr/>
        </p:nvSpPr>
        <p:spPr>
          <a:xfrm>
            <a:off x="11527334" y="6457950"/>
            <a:ext cx="20746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lang="en-US" sz="788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12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f534395cd3_0_50"/>
          <p:cNvSpPr/>
          <p:nvPr/>
        </p:nvSpPr>
        <p:spPr>
          <a:xfrm>
            <a:off x="587375" y="5036451"/>
            <a:ext cx="11125200" cy="12381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5" name="Google Shape;525;g3f534395cd3_0_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6789" y="361950"/>
            <a:ext cx="127181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g3f534395cd3_0_50"/>
          <p:cNvSpPr/>
          <p:nvPr/>
        </p:nvSpPr>
        <p:spPr>
          <a:xfrm>
            <a:off x="533400" y="495300"/>
            <a:ext cx="122376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975"/>
              <a:buFont typeface="Arimo"/>
              <a:buNone/>
            </a:pPr>
            <a:r>
              <a:rPr b="1" i="0" lang="en-US" sz="975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TABULAR BRANCH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g3f534395cd3_0_50"/>
          <p:cNvSpPr/>
          <p:nvPr/>
        </p:nvSpPr>
        <p:spPr>
          <a:xfrm>
            <a:off x="533400" y="785319"/>
            <a:ext cx="3319800" cy="17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mo"/>
              <a:buNone/>
            </a:pPr>
            <a:r>
              <a:rPr i="0" lang="en-US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Handling Class Imbalance</a:t>
            </a:r>
            <a:r>
              <a:rPr lang="en-US" sz="3200">
                <a:latin typeface="Helvetica Neue"/>
                <a:ea typeface="Helvetica Neue"/>
                <a:cs typeface="Helvetica Neue"/>
                <a:sym typeface="Helvetica Neue"/>
              </a:rPr>
              <a:t> &amp; Improving Random Forest</a:t>
            </a:r>
            <a:endParaRPr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8" name="Google Shape;528;g3f534395cd3_0_50"/>
          <p:cNvSpPr/>
          <p:nvPr/>
        </p:nvSpPr>
        <p:spPr>
          <a:xfrm>
            <a:off x="533400" y="6372225"/>
            <a:ext cx="11125200" cy="9600"/>
          </a:xfrm>
          <a:prstGeom prst="rect">
            <a:avLst/>
          </a:prstGeom>
          <a:solidFill>
            <a:srgbClr val="DAD7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g3f534395cd3_0_50"/>
          <p:cNvSpPr/>
          <p:nvPr/>
        </p:nvSpPr>
        <p:spPr>
          <a:xfrm>
            <a:off x="533400" y="6457950"/>
            <a:ext cx="2782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i="0" lang="en-US" sz="788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PREDICTING AVIATION ACCIDENT SEVERITY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g3f534395cd3_0_50"/>
          <p:cNvSpPr/>
          <p:nvPr/>
        </p:nvSpPr>
        <p:spPr>
          <a:xfrm>
            <a:off x="11527334" y="6457950"/>
            <a:ext cx="207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lang="en-US" sz="788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13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1" name="Google Shape;531;g3f534395cd3_0_50"/>
          <p:cNvPicPr preferRelativeResize="0"/>
          <p:nvPr/>
        </p:nvPicPr>
        <p:blipFill rotWithShape="1">
          <a:blip r:embed="rId4">
            <a:alphaModFix/>
          </a:blip>
          <a:srcRect b="0" l="0" r="0" t="1381"/>
          <a:stretch/>
        </p:blipFill>
        <p:spPr>
          <a:xfrm>
            <a:off x="4585475" y="848275"/>
            <a:ext cx="7073126" cy="3993601"/>
          </a:xfrm>
          <a:prstGeom prst="rect">
            <a:avLst/>
          </a:prstGeom>
          <a:noFill/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32" name="Google Shape;532;g3f534395cd3_0_50"/>
          <p:cNvSpPr txBox="1"/>
          <p:nvPr/>
        </p:nvSpPr>
        <p:spPr>
          <a:xfrm>
            <a:off x="533411" y="2509986"/>
            <a:ext cx="3319800" cy="24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Balanced Random Forest </a:t>
            </a:r>
            <a:br>
              <a:rPr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1100">
                <a:solidFill>
                  <a:srgbClr val="8080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Applied to reduce class imbalance and improve </a:t>
            </a:r>
            <a:r>
              <a:rPr b="1" lang="en-US" sz="1100">
                <a:solidFill>
                  <a:srgbClr val="8080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Fatal Recall</a:t>
            </a:r>
            <a:r>
              <a:rPr lang="en-US" sz="1100">
                <a:solidFill>
                  <a:srgbClr val="8080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100">
              <a:solidFill>
                <a:srgbClr val="80808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Helvetica Neue"/>
                <a:ea typeface="Helvetica Neue"/>
                <a:cs typeface="Helvetica Neue"/>
                <a:sym typeface="Helvetica Neue"/>
              </a:rPr>
              <a:t>Tuned Random Forest (Class-weighted) </a:t>
            </a:r>
            <a:br>
              <a:rPr b="1"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1100">
                <a:solidFill>
                  <a:srgbClr val="8080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Applied hyperparameter tuning and class weighting to achieve a better balance between </a:t>
            </a:r>
            <a:r>
              <a:rPr b="1" lang="en-US" sz="1100">
                <a:solidFill>
                  <a:srgbClr val="8080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Accuracy, Macro F1, and Fatal Recall.</a:t>
            </a:r>
            <a:endParaRPr b="1" sz="1100">
              <a:solidFill>
                <a:srgbClr val="80808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One-vs-Rest Random Forest </a:t>
            </a:r>
            <a:br>
              <a:rPr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1100">
                <a:solidFill>
                  <a:srgbClr val="8080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Applied to generate class probabilities for the </a:t>
            </a:r>
            <a:br>
              <a:rPr lang="en-US" sz="1100">
                <a:solidFill>
                  <a:srgbClr val="80808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lang="en-US" sz="1100">
                <a:solidFill>
                  <a:srgbClr val="8080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Late Fusion</a:t>
            </a:r>
            <a:r>
              <a:rPr lang="en-US" sz="1100">
                <a:solidFill>
                  <a:srgbClr val="8080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framework.</a:t>
            </a:r>
            <a:endParaRPr sz="1500">
              <a:solidFill>
                <a:srgbClr val="80808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3" name="Google Shape;533;g3f534395cd3_0_50"/>
          <p:cNvSpPr/>
          <p:nvPr/>
        </p:nvSpPr>
        <p:spPr>
          <a:xfrm>
            <a:off x="3155050" y="5875600"/>
            <a:ext cx="1935300" cy="228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9C96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g3f534395cd3_0_50"/>
          <p:cNvSpPr txBox="1"/>
          <p:nvPr/>
        </p:nvSpPr>
        <p:spPr>
          <a:xfrm>
            <a:off x="732875" y="5103050"/>
            <a:ext cx="9156900" cy="10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Final Selection </a:t>
            </a:r>
            <a:br>
              <a:rPr b="1" lang="en-U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lang="en-US" sz="300">
                <a:solidFill>
                  <a:srgbClr val="D0B9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br>
              <a:rPr lang="en-U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Tuned Random Forest achieved the best overall balance, including the highest Fatal Recall (0.684), </a:t>
            </a:r>
            <a:br>
              <a:rPr lang="en-U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was selected as the final </a:t>
            </a:r>
            <a:r>
              <a:rPr b="1" lang="en-U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Tabular Branch model</a:t>
            </a:r>
            <a:r>
              <a:rPr lang="en-U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200">
              <a:solidFill>
                <a:srgbClr val="1A365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40" name="Google Shape;5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6789" y="361950"/>
            <a:ext cx="1271811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18"/>
          <p:cNvSpPr/>
          <p:nvPr/>
        </p:nvSpPr>
        <p:spPr>
          <a:xfrm>
            <a:off x="533400" y="495300"/>
            <a:ext cx="12237720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975"/>
              <a:buFont typeface="Arimo"/>
              <a:buNone/>
            </a:pPr>
            <a:r>
              <a:rPr b="1" i="0" lang="en-US" sz="975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CONCLUSION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8"/>
          <p:cNvSpPr/>
          <p:nvPr/>
        </p:nvSpPr>
        <p:spPr>
          <a:xfrm>
            <a:off x="533400" y="700088"/>
            <a:ext cx="1223772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mo"/>
              <a:buNone/>
            </a:pPr>
            <a:r>
              <a:rPr lang="en-US" sz="3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Final Model Performance — Test Set</a:t>
            </a:r>
            <a:endParaRPr i="0" sz="3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preencoded.png" id="543" name="Google Shape;543;p18"/>
          <p:cNvPicPr preferRelativeResize="0"/>
          <p:nvPr/>
        </p:nvPicPr>
        <p:blipFill rotWithShape="1">
          <a:blip r:embed="rId4">
            <a:alphaModFix/>
          </a:blip>
          <a:srcRect b="0" l="6341" r="0" t="0"/>
          <a:stretch/>
        </p:blipFill>
        <p:spPr>
          <a:xfrm>
            <a:off x="762000" y="1909775"/>
            <a:ext cx="5469551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18"/>
          <p:cNvSpPr/>
          <p:nvPr/>
        </p:nvSpPr>
        <p:spPr>
          <a:xfrm>
            <a:off x="533400" y="6372225"/>
            <a:ext cx="11125200" cy="9525"/>
          </a:xfrm>
          <a:prstGeom prst="rect">
            <a:avLst/>
          </a:prstGeom>
          <a:solidFill>
            <a:srgbClr val="DAD7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8"/>
          <p:cNvSpPr/>
          <p:nvPr/>
        </p:nvSpPr>
        <p:spPr>
          <a:xfrm>
            <a:off x="533400" y="6457950"/>
            <a:ext cx="278275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i="0" lang="en-US" sz="788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PREDICTING AVIATION ACCIDENT SEVERITY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8"/>
          <p:cNvSpPr/>
          <p:nvPr/>
        </p:nvSpPr>
        <p:spPr>
          <a:xfrm>
            <a:off x="11527334" y="6457950"/>
            <a:ext cx="20746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lang="en-US" sz="788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14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8"/>
          <p:cNvSpPr/>
          <p:nvPr/>
        </p:nvSpPr>
        <p:spPr>
          <a:xfrm>
            <a:off x="6380157" y="2717119"/>
            <a:ext cx="2880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1500"/>
              <a:buFont typeface="Arimo"/>
              <a:buNone/>
            </a:pPr>
            <a:r>
              <a:rPr b="1" i="0" lang="en-US" sz="1500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8"/>
          <p:cNvSpPr/>
          <p:nvPr/>
        </p:nvSpPr>
        <p:spPr>
          <a:xfrm>
            <a:off x="6380157" y="3425769"/>
            <a:ext cx="2880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1500"/>
              <a:buFont typeface="Arimo"/>
              <a:buNone/>
            </a:pPr>
            <a:r>
              <a:rPr b="1" i="0" lang="en-US" sz="1500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8"/>
          <p:cNvSpPr/>
          <p:nvPr/>
        </p:nvSpPr>
        <p:spPr>
          <a:xfrm>
            <a:off x="6668289" y="2717107"/>
            <a:ext cx="54207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941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25"/>
              <a:buFont typeface="Arimo"/>
              <a:buNone/>
            </a:pPr>
            <a:r>
              <a:rPr b="0" i="0" lang="en-US" sz="1125" u="none" cap="none" strike="noStrike">
                <a:solidFill>
                  <a:srgbClr val="111111"/>
                </a:solidFill>
                <a:latin typeface="Arimo"/>
                <a:ea typeface="Arimo"/>
                <a:cs typeface="Arimo"/>
                <a:sym typeface="Arimo"/>
              </a:rPr>
              <a:t>The </a:t>
            </a:r>
            <a:r>
              <a:rPr b="1" i="0" lang="en-US" sz="1125" u="none" cap="none" strike="noStrike">
                <a:solidFill>
                  <a:srgbClr val="111111"/>
                </a:solidFill>
                <a:latin typeface="Arimo"/>
                <a:ea typeface="Arimo"/>
                <a:cs typeface="Arimo"/>
                <a:sym typeface="Arimo"/>
              </a:rPr>
              <a:t>Text Branch </a:t>
            </a:r>
            <a:r>
              <a:rPr b="0" i="0" lang="en-US" sz="1125" u="none" cap="none" strike="noStrike">
                <a:solidFill>
                  <a:srgbClr val="111111"/>
                </a:solidFill>
                <a:latin typeface="Arimo"/>
                <a:ea typeface="Arimo"/>
                <a:cs typeface="Arimo"/>
                <a:sym typeface="Arimo"/>
              </a:rPr>
              <a:t>learns accident causes directly from Findings and achieves the highest </a:t>
            </a:r>
            <a:r>
              <a:rPr b="1" i="0" lang="en-US" sz="1125" u="none" cap="none" strike="noStrike">
                <a:solidFill>
                  <a:srgbClr val="111111"/>
                </a:solidFill>
                <a:latin typeface="Arimo"/>
                <a:ea typeface="Arimo"/>
                <a:cs typeface="Arimo"/>
                <a:sym typeface="Arimo"/>
              </a:rPr>
              <a:t>Fatal Recall</a:t>
            </a:r>
            <a:r>
              <a:rPr b="0" i="0" lang="en-US" sz="1125" u="none" cap="none" strike="noStrike">
                <a:solidFill>
                  <a:srgbClr val="111111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8"/>
          <p:cNvSpPr/>
          <p:nvPr/>
        </p:nvSpPr>
        <p:spPr>
          <a:xfrm>
            <a:off x="6380157" y="3934331"/>
            <a:ext cx="2880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1500"/>
              <a:buFont typeface="Arimo"/>
              <a:buNone/>
            </a:pPr>
            <a:r>
              <a:rPr b="1" i="0" lang="en-US" sz="1500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8"/>
          <p:cNvSpPr/>
          <p:nvPr/>
        </p:nvSpPr>
        <p:spPr>
          <a:xfrm>
            <a:off x="6668289" y="3446793"/>
            <a:ext cx="52032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941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25"/>
              <a:buFont typeface="Arimo"/>
              <a:buNone/>
            </a:pPr>
            <a:r>
              <a:rPr b="0" i="0" lang="en-US" sz="1125" u="none" cap="none" strike="noStrike">
                <a:solidFill>
                  <a:srgbClr val="111111"/>
                </a:solidFill>
                <a:latin typeface="Arimo"/>
                <a:ea typeface="Arimo"/>
                <a:cs typeface="Arimo"/>
                <a:sym typeface="Arimo"/>
              </a:rPr>
              <a:t>The </a:t>
            </a:r>
            <a:r>
              <a:rPr b="1" i="0" lang="en-US" sz="1125" u="none" cap="none" strike="noStrike">
                <a:solidFill>
                  <a:srgbClr val="111111"/>
                </a:solidFill>
                <a:latin typeface="Arimo"/>
                <a:ea typeface="Arimo"/>
                <a:cs typeface="Arimo"/>
                <a:sym typeface="Arimo"/>
              </a:rPr>
              <a:t>Tabular Branch </a:t>
            </a:r>
            <a:r>
              <a:rPr b="0" i="0" lang="en-US" sz="1125" u="none" cap="none" strike="noStrike">
                <a:solidFill>
                  <a:srgbClr val="111111"/>
                </a:solidFill>
                <a:latin typeface="Arimo"/>
                <a:ea typeface="Arimo"/>
                <a:cs typeface="Arimo"/>
                <a:sym typeface="Arimo"/>
              </a:rPr>
              <a:t>is steady on structured data but trails on Fatal Recall.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8"/>
          <p:cNvSpPr/>
          <p:nvPr/>
        </p:nvSpPr>
        <p:spPr>
          <a:xfrm>
            <a:off x="6668289" y="3969482"/>
            <a:ext cx="54207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941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25"/>
              <a:buFont typeface="Arimo"/>
              <a:buNone/>
            </a:pPr>
            <a:r>
              <a:rPr b="0" i="0" lang="en-US" sz="1125" u="none" cap="none" strike="noStrike">
                <a:solidFill>
                  <a:srgbClr val="111111"/>
                </a:solidFill>
                <a:latin typeface="Arimo"/>
                <a:ea typeface="Arimo"/>
                <a:cs typeface="Arimo"/>
                <a:sym typeface="Arimo"/>
              </a:rPr>
              <a:t>Because the branches are </a:t>
            </a:r>
            <a:r>
              <a:rPr b="1" i="0" lang="en-US" sz="1125" u="none" cap="none" strike="noStrike">
                <a:solidFill>
                  <a:srgbClr val="111111"/>
                </a:solidFill>
                <a:latin typeface="Arimo"/>
                <a:ea typeface="Arimo"/>
                <a:cs typeface="Arimo"/>
                <a:sym typeface="Arimo"/>
              </a:rPr>
              <a:t>complementary </a:t>
            </a:r>
            <a:r>
              <a:rPr b="0" i="0" lang="en-US" sz="1125" u="none" cap="none" strike="noStrike">
                <a:solidFill>
                  <a:srgbClr val="111111"/>
                </a:solidFill>
                <a:latin typeface="Arimo"/>
                <a:ea typeface="Arimo"/>
                <a:cs typeface="Arimo"/>
                <a:sym typeface="Arimo"/>
              </a:rPr>
              <a:t>, late fusion and optimization combine them to improve final prediction.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58" name="Google Shape;55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6789" y="361950"/>
            <a:ext cx="1271811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20"/>
          <p:cNvSpPr/>
          <p:nvPr/>
        </p:nvSpPr>
        <p:spPr>
          <a:xfrm>
            <a:off x="533400" y="495300"/>
            <a:ext cx="12237720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975"/>
              <a:buFont typeface="Arimo"/>
              <a:buNone/>
            </a:pPr>
            <a:r>
              <a:rPr b="1" i="0" lang="en-US" sz="975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SOURCES &amp; REFERENCES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0"/>
          <p:cNvSpPr/>
          <p:nvPr/>
        </p:nvSpPr>
        <p:spPr>
          <a:xfrm>
            <a:off x="533400" y="700088"/>
            <a:ext cx="1223772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mo"/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References</a:t>
            </a:r>
            <a:endParaRPr i="0" sz="3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1" name="Google Shape;561;p20"/>
          <p:cNvSpPr/>
          <p:nvPr/>
        </p:nvSpPr>
        <p:spPr>
          <a:xfrm>
            <a:off x="533400" y="2778323"/>
            <a:ext cx="11125200" cy="9525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0"/>
          <p:cNvSpPr/>
          <p:nvPr/>
        </p:nvSpPr>
        <p:spPr>
          <a:xfrm>
            <a:off x="533400" y="2454250"/>
            <a:ext cx="323850" cy="238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1050"/>
              <a:buFont typeface="Arimo"/>
              <a:buNone/>
            </a:pPr>
            <a:r>
              <a:rPr i="0" lang="en-US" sz="1050" u="none" cap="none" strike="noStrike">
                <a:solidFill>
                  <a:srgbClr val="CFB9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 i="0" sz="10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3" name="Google Shape;563;p20"/>
          <p:cNvSpPr/>
          <p:nvPr/>
        </p:nvSpPr>
        <p:spPr>
          <a:xfrm>
            <a:off x="933450" y="2454250"/>
            <a:ext cx="5404917" cy="238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742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88"/>
              <a:buFont typeface="Arimo"/>
              <a:buNone/>
            </a:pPr>
            <a:r>
              <a:rPr i="0" lang="en-US" sz="1088" u="none" cap="none" strike="noStrike">
                <a:solidFill>
                  <a:srgbClr val="1111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NTSB Accident Reports (dataset). Zenodo. </a:t>
            </a:r>
            <a:r>
              <a:rPr i="0" lang="en-US" sz="1088" u="none" cap="none" strike="noStrike">
                <a:solidFill>
                  <a:srgbClr val="8E6F3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https://zenodo.org/records/17096333</a:t>
            </a:r>
            <a:endParaRPr i="0" sz="1088" u="none" cap="none" strike="noStrik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64" name="Google Shape;564;p20"/>
          <p:cNvSpPr/>
          <p:nvPr/>
        </p:nvSpPr>
        <p:spPr>
          <a:xfrm>
            <a:off x="533400" y="3235747"/>
            <a:ext cx="11125200" cy="9525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0"/>
          <p:cNvSpPr/>
          <p:nvPr/>
        </p:nvSpPr>
        <p:spPr>
          <a:xfrm>
            <a:off x="533400" y="2911673"/>
            <a:ext cx="323850" cy="238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1050"/>
              <a:buFont typeface="Arimo"/>
              <a:buNone/>
            </a:pPr>
            <a:r>
              <a:rPr i="0" lang="en-US" sz="1050" u="none" cap="none" strike="noStrike">
                <a:solidFill>
                  <a:srgbClr val="CFB9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i="0" sz="10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6" name="Google Shape;566;p20"/>
          <p:cNvSpPr/>
          <p:nvPr/>
        </p:nvSpPr>
        <p:spPr>
          <a:xfrm>
            <a:off x="933450" y="2911673"/>
            <a:ext cx="10007404" cy="238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742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88"/>
              <a:buFont typeface="Arimo"/>
              <a:buNone/>
            </a:pPr>
            <a:r>
              <a:rPr i="0" lang="en-US" sz="1088" u="none" cap="none" strike="noStrike">
                <a:solidFill>
                  <a:srgbClr val="1111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Siow, B. Y. (2025). </a:t>
            </a:r>
            <a:r>
              <a:rPr i="1" lang="en-US" sz="1088" u="none" cap="none" strike="noStrike">
                <a:solidFill>
                  <a:srgbClr val="1111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 Practical Approach to using Supervised Machine Learning Models to Classify Aviation Safety Occurrences. </a:t>
            </a:r>
            <a:r>
              <a:rPr i="0" lang="en-US" sz="1088" u="none" cap="none" strike="noStrike">
                <a:solidFill>
                  <a:srgbClr val="1111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arXiv:2504.09063v1.</a:t>
            </a:r>
            <a:endParaRPr i="0" sz="1088" u="none" cap="none" strike="noStrik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67" name="Google Shape;567;p20"/>
          <p:cNvSpPr/>
          <p:nvPr/>
        </p:nvSpPr>
        <p:spPr>
          <a:xfrm>
            <a:off x="533400" y="3693170"/>
            <a:ext cx="11125200" cy="9525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0"/>
          <p:cNvSpPr/>
          <p:nvPr/>
        </p:nvSpPr>
        <p:spPr>
          <a:xfrm>
            <a:off x="533400" y="3369097"/>
            <a:ext cx="323850" cy="238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1050"/>
              <a:buFont typeface="Arimo"/>
              <a:buNone/>
            </a:pPr>
            <a:r>
              <a:rPr i="0" lang="en-US" sz="1050" u="none" cap="none" strike="noStrike">
                <a:solidFill>
                  <a:srgbClr val="CFB9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i="0" sz="10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9" name="Google Shape;569;p20"/>
          <p:cNvSpPr/>
          <p:nvPr/>
        </p:nvSpPr>
        <p:spPr>
          <a:xfrm>
            <a:off x="933450" y="3369097"/>
            <a:ext cx="10676327" cy="238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742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88"/>
              <a:buFont typeface="Arimo"/>
              <a:buNone/>
            </a:pPr>
            <a:r>
              <a:rPr i="0" lang="en-US" sz="1088" u="none" cap="none" strike="noStrike">
                <a:solidFill>
                  <a:srgbClr val="1111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Monika, Verma, S., Kumar, P., &amp; Kakran, M. (2021). A Stacking Model for Aviation High-Risk Event Decision Making. </a:t>
            </a:r>
            <a:r>
              <a:rPr i="1" lang="en-US" sz="1088" u="none" cap="none" strike="noStrike">
                <a:solidFill>
                  <a:srgbClr val="1111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J. Physics: Conf. Series, 1950</a:t>
            </a:r>
            <a:r>
              <a:rPr i="0" lang="en-US" sz="1088" u="none" cap="none" strike="noStrike">
                <a:solidFill>
                  <a:srgbClr val="1111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(1), 012069.</a:t>
            </a:r>
            <a:endParaRPr i="0" sz="1088" u="none" cap="none" strike="noStrik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70" name="Google Shape;570;p20"/>
          <p:cNvSpPr/>
          <p:nvPr/>
        </p:nvSpPr>
        <p:spPr>
          <a:xfrm>
            <a:off x="533400" y="4350841"/>
            <a:ext cx="11125200" cy="9525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0"/>
          <p:cNvSpPr/>
          <p:nvPr/>
        </p:nvSpPr>
        <p:spPr>
          <a:xfrm>
            <a:off x="533400" y="3826520"/>
            <a:ext cx="323850" cy="4385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1050"/>
              <a:buFont typeface="Arimo"/>
              <a:buNone/>
            </a:pPr>
            <a:r>
              <a:rPr i="0" lang="en-US" sz="1050" u="none" cap="none" strike="noStrike">
                <a:solidFill>
                  <a:srgbClr val="CFB9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i="0" sz="10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2" name="Google Shape;572;p20"/>
          <p:cNvSpPr/>
          <p:nvPr/>
        </p:nvSpPr>
        <p:spPr>
          <a:xfrm>
            <a:off x="933450" y="3826525"/>
            <a:ext cx="10593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742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88"/>
              <a:buFont typeface="Arimo"/>
              <a:buNone/>
            </a:pPr>
            <a:r>
              <a:rPr i="0" lang="en-US" sz="1088" u="none" cap="none" strike="noStrike">
                <a:solidFill>
                  <a:srgbClr val="1111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Maynard, E., &amp; Harris, D. (2022). Using neural networks to predict high-risk flight environments from accident and incident data. </a:t>
            </a:r>
            <a:r>
              <a:rPr i="1" lang="en-US" sz="1088" u="none" cap="none" strike="noStrike">
                <a:solidFill>
                  <a:srgbClr val="1111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Int. J. Occupational Safety and Ergonomics, 28 </a:t>
            </a:r>
            <a:r>
              <a:rPr i="0" lang="en-US" sz="1088" u="none" cap="none" strike="noStrike">
                <a:solidFill>
                  <a:srgbClr val="1111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(2), 1204–1212.</a:t>
            </a:r>
            <a:endParaRPr i="0" sz="1088" u="none" cap="none" strike="noStrik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73" name="Google Shape;573;p20"/>
          <p:cNvSpPr/>
          <p:nvPr/>
        </p:nvSpPr>
        <p:spPr>
          <a:xfrm>
            <a:off x="533400" y="4808265"/>
            <a:ext cx="11125200" cy="9525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0"/>
          <p:cNvSpPr/>
          <p:nvPr/>
        </p:nvSpPr>
        <p:spPr>
          <a:xfrm>
            <a:off x="533400" y="4484191"/>
            <a:ext cx="323850" cy="238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1050"/>
              <a:buFont typeface="Arimo"/>
              <a:buNone/>
            </a:pPr>
            <a:r>
              <a:rPr i="0" lang="en-US" sz="1050" u="none" cap="none" strike="noStrike">
                <a:solidFill>
                  <a:srgbClr val="CFB9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i="0" sz="10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5" name="Google Shape;575;p20"/>
          <p:cNvSpPr/>
          <p:nvPr/>
        </p:nvSpPr>
        <p:spPr>
          <a:xfrm>
            <a:off x="933450" y="4484191"/>
            <a:ext cx="9173624" cy="238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742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88"/>
              <a:buFont typeface="Arimo"/>
              <a:buNone/>
            </a:pPr>
            <a:r>
              <a:rPr i="0" lang="en-US" sz="1088" u="none" cap="none" strike="noStrike">
                <a:solidFill>
                  <a:srgbClr val="1111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Anushree, H. R., &amp; Sowmya, B. P. (2020). Ensembled machine learning model for aviation incident risk prediction. </a:t>
            </a:r>
            <a:r>
              <a:rPr i="1" lang="en-US" sz="1088" u="none" cap="none" strike="noStrike">
                <a:solidFill>
                  <a:srgbClr val="1111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IJRTE, 9</a:t>
            </a:r>
            <a:r>
              <a:rPr i="0" lang="en-US" sz="1088" u="none" cap="none" strike="noStrike">
                <a:solidFill>
                  <a:srgbClr val="1111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(3), 351–353.</a:t>
            </a:r>
            <a:endParaRPr i="0" sz="1088" u="none" cap="none" strike="noStrik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76" name="Google Shape;576;p20"/>
          <p:cNvSpPr/>
          <p:nvPr/>
        </p:nvSpPr>
        <p:spPr>
          <a:xfrm>
            <a:off x="533400" y="5265688"/>
            <a:ext cx="11125200" cy="9525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0"/>
          <p:cNvSpPr/>
          <p:nvPr/>
        </p:nvSpPr>
        <p:spPr>
          <a:xfrm>
            <a:off x="533400" y="4941615"/>
            <a:ext cx="323850" cy="238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1050"/>
              <a:buFont typeface="Arimo"/>
              <a:buNone/>
            </a:pPr>
            <a:r>
              <a:rPr i="0" lang="en-US" sz="1050" u="none" cap="none" strike="noStrike">
                <a:solidFill>
                  <a:srgbClr val="CFB9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i="0" sz="10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8" name="Google Shape;578;p20"/>
          <p:cNvSpPr/>
          <p:nvPr/>
        </p:nvSpPr>
        <p:spPr>
          <a:xfrm>
            <a:off x="933450" y="4941615"/>
            <a:ext cx="11383394" cy="238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742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88"/>
              <a:buFont typeface="Arimo"/>
              <a:buNone/>
            </a:pPr>
            <a:r>
              <a:rPr i="0" lang="en-US" sz="1088" u="none" cap="none" strike="noStrike">
                <a:solidFill>
                  <a:srgbClr val="1111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Nanyonga, A., Joiner, K. F., Turhan, U., &amp; Wild, G. (2025). Deep learning approaches for classifying aviation safety incidents: Evidence from Australian data. </a:t>
            </a:r>
            <a:r>
              <a:rPr i="1" lang="en-US" sz="1088" u="none" cap="none" strike="noStrike">
                <a:solidFill>
                  <a:srgbClr val="1111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AI, 6</a:t>
            </a:r>
            <a:r>
              <a:rPr i="0" lang="en-US" sz="1088" u="none" cap="none" strike="noStrike">
                <a:solidFill>
                  <a:srgbClr val="1111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(1), 251.</a:t>
            </a:r>
            <a:endParaRPr i="0" sz="1088" u="none" cap="none" strike="noStrik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79" name="Google Shape;579;p20"/>
          <p:cNvSpPr/>
          <p:nvPr/>
        </p:nvSpPr>
        <p:spPr>
          <a:xfrm>
            <a:off x="533400" y="6372225"/>
            <a:ext cx="11125200" cy="9525"/>
          </a:xfrm>
          <a:prstGeom prst="rect">
            <a:avLst/>
          </a:prstGeom>
          <a:solidFill>
            <a:srgbClr val="DAD7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0"/>
          <p:cNvSpPr/>
          <p:nvPr/>
        </p:nvSpPr>
        <p:spPr>
          <a:xfrm>
            <a:off x="533400" y="6457950"/>
            <a:ext cx="278275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i="0" lang="en-US" sz="788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PREDICTING AVIATION ACCIDENT SEVERITY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0"/>
          <p:cNvSpPr/>
          <p:nvPr/>
        </p:nvSpPr>
        <p:spPr>
          <a:xfrm>
            <a:off x="11527334" y="6457950"/>
            <a:ext cx="20746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lang="en-US" sz="788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15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87" name="Google Shape;587;g3f534395cd3_2_7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6789" y="361950"/>
            <a:ext cx="127181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g3f534395cd3_2_753"/>
          <p:cNvSpPr/>
          <p:nvPr/>
        </p:nvSpPr>
        <p:spPr>
          <a:xfrm>
            <a:off x="533400" y="700088"/>
            <a:ext cx="12237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mo"/>
              <a:buNone/>
            </a:pPr>
            <a:r>
              <a:rPr lang="en-US" sz="3000">
                <a:latin typeface="Helvetica Neue"/>
                <a:ea typeface="Helvetica Neue"/>
                <a:cs typeface="Helvetica Neue"/>
                <a:sym typeface="Helvetica Neue"/>
              </a:rPr>
              <a:t>AI Utilization </a:t>
            </a:r>
            <a:endParaRPr i="0" sz="3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9" name="Google Shape;589;g3f534395cd3_2_753"/>
          <p:cNvSpPr/>
          <p:nvPr/>
        </p:nvSpPr>
        <p:spPr>
          <a:xfrm>
            <a:off x="533400" y="2152573"/>
            <a:ext cx="11125200" cy="9600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g3f534395cd3_2_753"/>
          <p:cNvSpPr/>
          <p:nvPr/>
        </p:nvSpPr>
        <p:spPr>
          <a:xfrm>
            <a:off x="685800" y="1828500"/>
            <a:ext cx="324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1050"/>
              <a:buFont typeface="Arimo"/>
              <a:buNone/>
            </a:pPr>
            <a:r>
              <a:rPr b="1" lang="en-US" sz="1050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g3f534395cd3_2_753"/>
          <p:cNvSpPr/>
          <p:nvPr/>
        </p:nvSpPr>
        <p:spPr>
          <a:xfrm>
            <a:off x="933450" y="1828500"/>
            <a:ext cx="5404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42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88"/>
              <a:buFont typeface="Arimo"/>
              <a:buNone/>
            </a:pPr>
            <a:r>
              <a:rPr lang="en-US" sz="1100">
                <a:solidFill>
                  <a:schemeClr val="dk1"/>
                </a:solidFill>
              </a:rPr>
              <a:t>Project topic and dataset candidate exploration — </a:t>
            </a:r>
            <a:r>
              <a:rPr b="1" lang="en-US" sz="1100">
                <a:solidFill>
                  <a:schemeClr val="dk1"/>
                </a:solidFill>
              </a:rPr>
              <a:t>Perplexity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b="0" i="0" sz="10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g3f534395cd3_2_753"/>
          <p:cNvSpPr/>
          <p:nvPr/>
        </p:nvSpPr>
        <p:spPr>
          <a:xfrm>
            <a:off x="533400" y="2609997"/>
            <a:ext cx="11125200" cy="9600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g3f534395cd3_2_753"/>
          <p:cNvSpPr/>
          <p:nvPr/>
        </p:nvSpPr>
        <p:spPr>
          <a:xfrm>
            <a:off x="685800" y="2285923"/>
            <a:ext cx="324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1050"/>
              <a:buFont typeface="Arimo"/>
              <a:buNone/>
            </a:pPr>
            <a:r>
              <a:rPr b="1" i="0" lang="en-US" sz="1050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g3f534395cd3_2_753"/>
          <p:cNvSpPr/>
          <p:nvPr/>
        </p:nvSpPr>
        <p:spPr>
          <a:xfrm>
            <a:off x="933450" y="2285923"/>
            <a:ext cx="10007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42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88"/>
              <a:buFont typeface="Arimo"/>
              <a:buNone/>
            </a:pPr>
            <a:r>
              <a:rPr lang="en-US" sz="1100">
                <a:solidFill>
                  <a:schemeClr val="dk1"/>
                </a:solidFill>
              </a:rPr>
              <a:t>Prior research and related literature review — </a:t>
            </a:r>
            <a:r>
              <a:rPr b="1" lang="en-US" sz="1100">
                <a:solidFill>
                  <a:schemeClr val="dk1"/>
                </a:solidFill>
              </a:rPr>
              <a:t>Gemini Deep Research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b="0" i="0" sz="10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g3f534395cd3_2_753"/>
          <p:cNvSpPr/>
          <p:nvPr/>
        </p:nvSpPr>
        <p:spPr>
          <a:xfrm>
            <a:off x="533400" y="3067420"/>
            <a:ext cx="11125200" cy="9600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g3f534395cd3_2_753"/>
          <p:cNvSpPr/>
          <p:nvPr/>
        </p:nvSpPr>
        <p:spPr>
          <a:xfrm>
            <a:off x="685800" y="2743347"/>
            <a:ext cx="324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1050"/>
              <a:buFont typeface="Arimo"/>
              <a:buNone/>
            </a:pPr>
            <a:r>
              <a:rPr b="1" i="0" lang="en-US" sz="1050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g3f534395cd3_2_753"/>
          <p:cNvSpPr/>
          <p:nvPr/>
        </p:nvSpPr>
        <p:spPr>
          <a:xfrm>
            <a:off x="933450" y="2743347"/>
            <a:ext cx="10676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42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88"/>
              <a:buFont typeface="Arimo"/>
              <a:buNone/>
            </a:pPr>
            <a:r>
              <a:rPr lang="en-US" sz="1100">
                <a:solidFill>
                  <a:schemeClr val="dk1"/>
                </a:solidFill>
              </a:rPr>
              <a:t>BERT+MLP and Random Forest code development — </a:t>
            </a:r>
            <a:r>
              <a:rPr b="1" lang="en-US" sz="1100">
                <a:solidFill>
                  <a:schemeClr val="dk1"/>
                </a:solidFill>
              </a:rPr>
              <a:t>Codex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b="0" i="0" sz="10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g3f534395cd3_2_753"/>
          <p:cNvSpPr/>
          <p:nvPr/>
        </p:nvSpPr>
        <p:spPr>
          <a:xfrm>
            <a:off x="533400" y="3555468"/>
            <a:ext cx="11125200" cy="9600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g3f534395cd3_2_753"/>
          <p:cNvSpPr/>
          <p:nvPr/>
        </p:nvSpPr>
        <p:spPr>
          <a:xfrm>
            <a:off x="685800" y="3200770"/>
            <a:ext cx="324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1050"/>
              <a:buFont typeface="Arimo"/>
              <a:buNone/>
            </a:pPr>
            <a:r>
              <a:rPr b="1" i="0" lang="en-US" sz="1050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g3f534395cd3_2_753"/>
          <p:cNvSpPr/>
          <p:nvPr/>
        </p:nvSpPr>
        <p:spPr>
          <a:xfrm>
            <a:off x="933450" y="3200773"/>
            <a:ext cx="110469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42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88"/>
              <a:buFont typeface="Arimo"/>
              <a:buNone/>
            </a:pPr>
            <a:r>
              <a:rPr lang="en-US" sz="1100">
                <a:solidFill>
                  <a:schemeClr val="dk1"/>
                </a:solidFill>
              </a:rPr>
              <a:t>Data splitting, row alignment, data leakage checks, and code debugging — </a:t>
            </a:r>
            <a:r>
              <a:rPr b="1" lang="en-US" sz="1100">
                <a:solidFill>
                  <a:schemeClr val="dk1"/>
                </a:solidFill>
              </a:rPr>
              <a:t>Codex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b="0" i="0" sz="10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g3f534395cd3_2_753"/>
          <p:cNvSpPr/>
          <p:nvPr/>
        </p:nvSpPr>
        <p:spPr>
          <a:xfrm>
            <a:off x="533400" y="4012892"/>
            <a:ext cx="11125200" cy="9600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g3f534395cd3_2_753"/>
          <p:cNvSpPr/>
          <p:nvPr/>
        </p:nvSpPr>
        <p:spPr>
          <a:xfrm>
            <a:off x="685800" y="3688818"/>
            <a:ext cx="324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1050"/>
              <a:buFont typeface="Arimo"/>
              <a:buNone/>
            </a:pPr>
            <a:r>
              <a:rPr b="1" i="0" lang="en-US" sz="1050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g3f534395cd3_2_753"/>
          <p:cNvSpPr/>
          <p:nvPr/>
        </p:nvSpPr>
        <p:spPr>
          <a:xfrm>
            <a:off x="933450" y="3688818"/>
            <a:ext cx="91737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42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88"/>
              <a:buFont typeface="Arimo"/>
              <a:buNone/>
            </a:pPr>
            <a:r>
              <a:rPr lang="en-US" sz="1100">
                <a:solidFill>
                  <a:schemeClr val="dk1"/>
                </a:solidFill>
              </a:rPr>
              <a:t>Evaluation metrics, result visualization, and model interpretation support — </a:t>
            </a:r>
            <a:r>
              <a:rPr b="1" lang="en-US" sz="1100">
                <a:solidFill>
                  <a:schemeClr val="dk1"/>
                </a:solidFill>
              </a:rPr>
              <a:t>Codex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b="0" i="0" sz="10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g3f534395cd3_2_753"/>
          <p:cNvSpPr/>
          <p:nvPr/>
        </p:nvSpPr>
        <p:spPr>
          <a:xfrm>
            <a:off x="685800" y="4146242"/>
            <a:ext cx="324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1050"/>
              <a:buFont typeface="Arimo"/>
              <a:buNone/>
            </a:pPr>
            <a:r>
              <a:rPr b="1" i="0" lang="en-US" sz="1050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g3f534395cd3_2_753"/>
          <p:cNvSpPr/>
          <p:nvPr/>
        </p:nvSpPr>
        <p:spPr>
          <a:xfrm>
            <a:off x="933450" y="4146242"/>
            <a:ext cx="11383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42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88"/>
              <a:buFont typeface="Arimo"/>
              <a:buNone/>
            </a:pPr>
            <a:r>
              <a:rPr lang="en-US" sz="1100">
                <a:solidFill>
                  <a:schemeClr val="dk1"/>
                </a:solidFill>
              </a:rPr>
              <a:t>Initial presentation slide development — </a:t>
            </a:r>
            <a:r>
              <a:rPr b="1" lang="en-US" sz="1100">
                <a:solidFill>
                  <a:schemeClr val="dk1"/>
                </a:solidFill>
              </a:rPr>
              <a:t>Claude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b="0" i="0" sz="10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g3f534395cd3_2_753"/>
          <p:cNvSpPr/>
          <p:nvPr/>
        </p:nvSpPr>
        <p:spPr>
          <a:xfrm>
            <a:off x="533400" y="6372225"/>
            <a:ext cx="11125200" cy="9600"/>
          </a:xfrm>
          <a:prstGeom prst="rect">
            <a:avLst/>
          </a:prstGeom>
          <a:solidFill>
            <a:srgbClr val="DAD7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g3f534395cd3_2_753"/>
          <p:cNvSpPr/>
          <p:nvPr/>
        </p:nvSpPr>
        <p:spPr>
          <a:xfrm>
            <a:off x="533400" y="6457950"/>
            <a:ext cx="2782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i="0" lang="en-US" sz="788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PREDICTING AVIATION ACCIDENT SEVERITY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g3f534395cd3_2_753"/>
          <p:cNvSpPr/>
          <p:nvPr/>
        </p:nvSpPr>
        <p:spPr>
          <a:xfrm>
            <a:off x="11527334" y="6457950"/>
            <a:ext cx="207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lang="en-US" sz="788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16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g3f534395cd3_2_753"/>
          <p:cNvSpPr/>
          <p:nvPr/>
        </p:nvSpPr>
        <p:spPr>
          <a:xfrm>
            <a:off x="587375" y="4677974"/>
            <a:ext cx="11125200" cy="12516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g3f534395cd3_2_753"/>
          <p:cNvSpPr/>
          <p:nvPr/>
        </p:nvSpPr>
        <p:spPr>
          <a:xfrm>
            <a:off x="766500" y="4856818"/>
            <a:ext cx="108435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42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88"/>
              <a:buFont typeface="Arimo"/>
              <a:buNone/>
            </a:pPr>
            <a: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researcher independently defined the research objectives, selected the dataset, designed the model architecture, 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2742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88"/>
              <a:buFont typeface="Arimo"/>
              <a:buNone/>
            </a:pPr>
            <a: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made all final decisions. 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2742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88"/>
              <a:buFont typeface="Arimo"/>
              <a:buNone/>
            </a:pPr>
            <a:r>
              <a:rPr lang="en-US" sz="400">
                <a:solidFill>
                  <a:srgbClr val="CFB9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b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 tools were used only to support research, code drafting, error checking, and documentation. </a:t>
            </a:r>
            <a:endParaRPr i="0" sz="1288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1" name="Google Shape;611;g3f534395cd3_2_753"/>
          <p:cNvSpPr/>
          <p:nvPr/>
        </p:nvSpPr>
        <p:spPr>
          <a:xfrm>
            <a:off x="533400" y="495300"/>
            <a:ext cx="122376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975"/>
              <a:buFont typeface="Arimo"/>
              <a:buNone/>
            </a:pPr>
            <a:r>
              <a:rPr b="1" lang="en-US" sz="975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Thank you for AI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1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1"/>
          <p:cNvSpPr/>
          <p:nvPr/>
        </p:nvSpPr>
        <p:spPr>
          <a:xfrm>
            <a:off x="685800" y="514350"/>
            <a:ext cx="1893563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975"/>
              <a:buFont typeface="Arimo"/>
              <a:buNone/>
            </a:pPr>
            <a:r>
              <a:rPr b="1" i="0" lang="en-US" sz="975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PURDUE UNIVERSITY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1"/>
          <p:cNvSpPr/>
          <p:nvPr/>
        </p:nvSpPr>
        <p:spPr>
          <a:xfrm>
            <a:off x="685800" y="2247900"/>
            <a:ext cx="11818620" cy="8343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27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Arimo"/>
              <a:buNone/>
            </a:pPr>
            <a:r>
              <a:rPr i="0" lang="en-US" sz="6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You.</a:t>
            </a:r>
            <a:endParaRPr i="0" sz="6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preencoded.png" id="620" name="Google Shape;62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0419" y="5829300"/>
            <a:ext cx="2751981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21"/>
          <p:cNvSpPr/>
          <p:nvPr/>
        </p:nvSpPr>
        <p:spPr>
          <a:xfrm>
            <a:off x="685800" y="6134100"/>
            <a:ext cx="238649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1050"/>
              <a:buFont typeface="Arimo"/>
              <a:buNone/>
            </a:pPr>
            <a:r>
              <a:rPr b="0" i="0" lang="en-US" sz="1050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Machine Learning for Aviation Safety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f5382d2c19_12_15"/>
          <p:cNvSpPr/>
          <p:nvPr/>
        </p:nvSpPr>
        <p:spPr>
          <a:xfrm>
            <a:off x="0" y="0"/>
            <a:ext cx="95400" cy="68580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g3f5382d2c19_12_15"/>
          <p:cNvSpPr/>
          <p:nvPr/>
        </p:nvSpPr>
        <p:spPr>
          <a:xfrm>
            <a:off x="685800" y="514350"/>
            <a:ext cx="18936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975"/>
              <a:buFont typeface="Arimo"/>
              <a:buNone/>
            </a:pPr>
            <a:r>
              <a:rPr b="1" i="0" lang="en-US" sz="975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PURDUE UNIVERSITY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g3f5382d2c19_12_15"/>
          <p:cNvSpPr/>
          <p:nvPr/>
        </p:nvSpPr>
        <p:spPr>
          <a:xfrm>
            <a:off x="685800" y="2247900"/>
            <a:ext cx="11818500" cy="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Arimo"/>
              <a:buNone/>
            </a:pPr>
            <a:r>
              <a:rPr lang="en-US" sz="6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Appendix</a:t>
            </a:r>
            <a:endParaRPr i="0" sz="6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preencoded.png" id="630" name="Google Shape;630;g3f5382d2c19_12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0419" y="5829300"/>
            <a:ext cx="2751981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g3f5382d2c19_12_15"/>
          <p:cNvSpPr/>
          <p:nvPr/>
        </p:nvSpPr>
        <p:spPr>
          <a:xfrm>
            <a:off x="685800" y="6134100"/>
            <a:ext cx="2386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1050"/>
              <a:buFont typeface="Arimo"/>
              <a:buNone/>
            </a:pPr>
            <a:r>
              <a:rPr b="0" i="0" lang="en-US" sz="1050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Machine Learning for Aviation Safety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37" name="Google Shape;63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6789" y="361950"/>
            <a:ext cx="1271811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23"/>
          <p:cNvSpPr/>
          <p:nvPr/>
        </p:nvSpPr>
        <p:spPr>
          <a:xfrm>
            <a:off x="533400" y="495300"/>
            <a:ext cx="12237720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975"/>
              <a:buFont typeface="Arimo"/>
              <a:buNone/>
            </a:pPr>
            <a:r>
              <a:rPr b="1" i="0" lang="en-US" sz="975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EDA · APPENDIX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3"/>
          <p:cNvSpPr/>
          <p:nvPr/>
        </p:nvSpPr>
        <p:spPr>
          <a:xfrm>
            <a:off x="533400" y="700088"/>
            <a:ext cx="1223772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mo"/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Exploratory Data Analysis</a:t>
            </a:r>
            <a:endParaRPr i="0" sz="3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0" name="Google Shape;640;p23"/>
          <p:cNvSpPr/>
          <p:nvPr/>
        </p:nvSpPr>
        <p:spPr>
          <a:xfrm>
            <a:off x="533400" y="2487226"/>
            <a:ext cx="267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1350"/>
              <a:buFont typeface="Arimo"/>
              <a:buNone/>
            </a:pPr>
            <a:r>
              <a:rPr b="1" i="0" lang="en-US" sz="1350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3"/>
          <p:cNvSpPr/>
          <p:nvPr/>
        </p:nvSpPr>
        <p:spPr>
          <a:xfrm>
            <a:off x="857473" y="2487226"/>
            <a:ext cx="53145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7941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25"/>
              <a:buFont typeface="Arimo"/>
              <a:buNone/>
            </a:pPr>
            <a:r>
              <a:rPr b="0" i="0" lang="en-US" sz="1125" u="none" cap="none" strike="noStrike">
                <a:solidFill>
                  <a:srgbClr val="111111"/>
                </a:solidFill>
                <a:latin typeface="Arimo"/>
                <a:ea typeface="Arimo"/>
                <a:cs typeface="Arimo"/>
                <a:sym typeface="Arimo"/>
              </a:rPr>
              <a:t>Severity was reframed as a binary </a:t>
            </a:r>
            <a:r>
              <a:rPr b="1" i="0" lang="en-US" sz="1125" u="none" cap="none" strike="noStrike">
                <a:solidFill>
                  <a:srgbClr val="111111"/>
                </a:solidFill>
                <a:latin typeface="Arimo"/>
                <a:ea typeface="Arimo"/>
                <a:cs typeface="Arimo"/>
                <a:sym typeface="Arimo"/>
              </a:rPr>
              <a:t>Fatal / Non-Fatal </a:t>
            </a:r>
            <a:r>
              <a:rPr b="0" i="0" lang="en-US" sz="1125" u="none" cap="none" strike="noStrike">
                <a:solidFill>
                  <a:srgbClr val="111111"/>
                </a:solidFill>
                <a:latin typeface="Arimo"/>
                <a:ea typeface="Arimo"/>
                <a:cs typeface="Arimo"/>
                <a:sym typeface="Arimo"/>
              </a:rPr>
              <a:t>target to sharpen fatal-accident detection.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3"/>
          <p:cNvSpPr/>
          <p:nvPr/>
        </p:nvSpPr>
        <p:spPr>
          <a:xfrm>
            <a:off x="533400" y="3189063"/>
            <a:ext cx="267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1350"/>
              <a:buFont typeface="Arimo"/>
              <a:buNone/>
            </a:pPr>
            <a:r>
              <a:rPr b="1" i="0" lang="en-US" sz="1350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3"/>
          <p:cNvSpPr/>
          <p:nvPr/>
        </p:nvSpPr>
        <p:spPr>
          <a:xfrm>
            <a:off x="857473" y="3189063"/>
            <a:ext cx="53145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7941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25"/>
              <a:buFont typeface="Arimo"/>
              <a:buNone/>
            </a:pPr>
            <a:r>
              <a:rPr b="0" i="0" lang="en-US" sz="1125" u="none" cap="none" strike="noStrike">
                <a:solidFill>
                  <a:srgbClr val="111111"/>
                </a:solidFill>
                <a:latin typeface="Arimo"/>
                <a:ea typeface="Arimo"/>
                <a:cs typeface="Arimo"/>
                <a:sym typeface="Arimo"/>
              </a:rPr>
              <a:t>Under </a:t>
            </a:r>
            <a:r>
              <a:rPr b="1" i="0" lang="en-US" sz="1125" u="none" cap="none" strike="noStrike">
                <a:solidFill>
                  <a:srgbClr val="111111"/>
                </a:solidFill>
                <a:latin typeface="Arimo"/>
                <a:ea typeface="Arimo"/>
                <a:cs typeface="Arimo"/>
                <a:sym typeface="Arimo"/>
              </a:rPr>
              <a:t>IMC </a:t>
            </a:r>
            <a:r>
              <a:rPr b="0" i="0" lang="en-US" sz="1125" u="none" cap="none" strike="noStrike">
                <a:solidFill>
                  <a:srgbClr val="111111"/>
                </a:solidFill>
                <a:latin typeface="Arimo"/>
                <a:ea typeface="Arimo"/>
                <a:cs typeface="Arimo"/>
                <a:sym typeface="Arimo"/>
              </a:rPr>
              <a:t>, the fatal-accident ratio is relatively higher — weather conditions relate to severity.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3"/>
          <p:cNvSpPr/>
          <p:nvPr/>
        </p:nvSpPr>
        <p:spPr>
          <a:xfrm>
            <a:off x="533400" y="3890962"/>
            <a:ext cx="26692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B991"/>
              </a:buClr>
              <a:buSzPts val="1350"/>
              <a:buFont typeface="Arimo"/>
              <a:buNone/>
            </a:pPr>
            <a:r>
              <a:rPr b="1" i="0" lang="en-US" sz="1350" u="none" cap="none" strike="noStrike">
                <a:solidFill>
                  <a:srgbClr val="CFB991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3"/>
          <p:cNvSpPr/>
          <p:nvPr/>
        </p:nvSpPr>
        <p:spPr>
          <a:xfrm>
            <a:off x="857473" y="3890962"/>
            <a:ext cx="5150182" cy="2452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7941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25"/>
              <a:buFont typeface="Arimo"/>
              <a:buNone/>
            </a:pPr>
            <a:r>
              <a:rPr b="0" i="0" lang="en-US" sz="1125" u="none" cap="none" strike="noStrike">
                <a:solidFill>
                  <a:srgbClr val="111111"/>
                </a:solidFill>
                <a:latin typeface="Arimo"/>
                <a:ea typeface="Arimo"/>
                <a:cs typeface="Arimo"/>
                <a:sym typeface="Arimo"/>
              </a:rPr>
              <a:t>Fatal occurrence patterns differ by </a:t>
            </a:r>
            <a:r>
              <a:rPr b="1" i="0" lang="en-US" sz="1125" u="none" cap="none" strike="noStrike">
                <a:solidFill>
                  <a:srgbClr val="111111"/>
                </a:solidFill>
                <a:latin typeface="Arimo"/>
                <a:ea typeface="Arimo"/>
                <a:cs typeface="Arimo"/>
                <a:sym typeface="Arimo"/>
              </a:rPr>
              <a:t>flight phase </a:t>
            </a:r>
            <a:r>
              <a:rPr b="0" i="0" lang="en-US" sz="1125" u="none" cap="none" strike="noStrike">
                <a:solidFill>
                  <a:srgbClr val="111111"/>
                </a:solidFill>
                <a:latin typeface="Arimo"/>
                <a:ea typeface="Arimo"/>
                <a:cs typeface="Arimo"/>
                <a:sym typeface="Arimo"/>
              </a:rPr>
              <a:t>and by </a:t>
            </a:r>
            <a:r>
              <a:rPr b="1" i="0" lang="en-US" sz="1125" u="none" cap="none" strike="noStrike">
                <a:solidFill>
                  <a:srgbClr val="111111"/>
                </a:solidFill>
                <a:latin typeface="Arimo"/>
                <a:ea typeface="Arimo"/>
                <a:cs typeface="Arimo"/>
                <a:sym typeface="Arimo"/>
              </a:rPr>
              <a:t>purpose of flight</a:t>
            </a:r>
            <a:r>
              <a:rPr b="0" i="0" lang="en-US" sz="1125" u="none" cap="none" strike="noStrike">
                <a:solidFill>
                  <a:srgbClr val="111111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3"/>
          <p:cNvSpPr/>
          <p:nvPr/>
        </p:nvSpPr>
        <p:spPr>
          <a:xfrm>
            <a:off x="533400" y="4496131"/>
            <a:ext cx="5483700" cy="807300"/>
          </a:xfrm>
          <a:prstGeom prst="rect">
            <a:avLst/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3"/>
          <p:cNvSpPr/>
          <p:nvPr/>
        </p:nvSpPr>
        <p:spPr>
          <a:xfrm>
            <a:off x="533400" y="4496131"/>
            <a:ext cx="38100" cy="8073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23"/>
          <p:cNvSpPr/>
          <p:nvPr/>
        </p:nvSpPr>
        <p:spPr>
          <a:xfrm>
            <a:off x="723900" y="4610431"/>
            <a:ext cx="5305200" cy="6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645"/>
              </a:lnSpc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1013"/>
              <a:buFont typeface="Arimo"/>
              <a:buNone/>
            </a:pPr>
            <a:r>
              <a:rPr b="0" i="0" lang="en-US" sz="1013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→ Selected: Findings, AmateurBuilt, NumberOfEngines, PurposeOfFlight, FAR, State, WeatherCondition, BroadPhaseofFlight, EngineType, AircraftCategory, HighestInjuryLevel, AircraftDamage.</a:t>
            </a:r>
            <a:endParaRPr b="0" i="0" sz="10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3"/>
          <p:cNvSpPr/>
          <p:nvPr/>
        </p:nvSpPr>
        <p:spPr>
          <a:xfrm>
            <a:off x="6436147" y="2285479"/>
            <a:ext cx="5241503" cy="2996654"/>
          </a:xfrm>
          <a:prstGeom prst="rect">
            <a:avLst/>
          </a:prstGeom>
          <a:noFill/>
          <a:ln cap="flat" cmpd="sng" w="9525">
            <a:solidFill>
              <a:srgbClr val="D9D6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0" name="Google Shape;65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36147" y="2285479"/>
            <a:ext cx="5241503" cy="2996654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23"/>
          <p:cNvSpPr/>
          <p:nvPr/>
        </p:nvSpPr>
        <p:spPr>
          <a:xfrm>
            <a:off x="6175024" y="5396433"/>
            <a:ext cx="574469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900"/>
              <a:buFont typeface="Arimo"/>
              <a:buNone/>
            </a:pPr>
            <a:r>
              <a:rPr b="0" i="0" lang="en-US" sz="900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Geographic distribution of accidents (blue = Non-Fatal, red = Fatal)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3"/>
          <p:cNvSpPr/>
          <p:nvPr/>
        </p:nvSpPr>
        <p:spPr>
          <a:xfrm>
            <a:off x="533400" y="6372225"/>
            <a:ext cx="11125200" cy="9525"/>
          </a:xfrm>
          <a:prstGeom prst="rect">
            <a:avLst/>
          </a:prstGeom>
          <a:solidFill>
            <a:srgbClr val="DAD7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23"/>
          <p:cNvSpPr/>
          <p:nvPr/>
        </p:nvSpPr>
        <p:spPr>
          <a:xfrm>
            <a:off x="533400" y="6457950"/>
            <a:ext cx="278275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i="0" lang="en-US" sz="788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PREDICTING AVIATION ACCIDENT SEVERITY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3"/>
          <p:cNvSpPr/>
          <p:nvPr/>
        </p:nvSpPr>
        <p:spPr>
          <a:xfrm>
            <a:off x="11527334" y="6457950"/>
            <a:ext cx="20746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i="0" lang="en-US" sz="788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23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60" name="Google Shape;660;g3f534395cd3_1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6789" y="361950"/>
            <a:ext cx="127181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g3f534395cd3_1_14"/>
          <p:cNvSpPr/>
          <p:nvPr/>
        </p:nvSpPr>
        <p:spPr>
          <a:xfrm>
            <a:off x="533400" y="495300"/>
            <a:ext cx="122376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975"/>
              <a:buFont typeface="Arimo"/>
              <a:buNone/>
            </a:pPr>
            <a:r>
              <a:rPr b="1" i="0" lang="en-US" sz="975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APPENDIX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g3f534395cd3_1_14"/>
          <p:cNvSpPr/>
          <p:nvPr/>
        </p:nvSpPr>
        <p:spPr>
          <a:xfrm>
            <a:off x="533400" y="700088"/>
            <a:ext cx="12237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mo"/>
              <a:buNone/>
            </a:pPr>
            <a:r>
              <a:rPr lang="en-US" sz="3000">
                <a:latin typeface="Helvetica Neue"/>
                <a:ea typeface="Helvetica Neue"/>
                <a:cs typeface="Helvetica Neue"/>
                <a:sym typeface="Helvetica Neue"/>
              </a:rPr>
              <a:t>Data Splitting Strategy </a:t>
            </a:r>
            <a:endParaRPr i="0" sz="3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3" name="Google Shape;663;g3f534395cd3_1_14"/>
          <p:cNvSpPr/>
          <p:nvPr/>
        </p:nvSpPr>
        <p:spPr>
          <a:xfrm>
            <a:off x="6630698" y="1766863"/>
            <a:ext cx="53145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Comparison 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CFB991"/>
                </a:solidFill>
              </a:rPr>
              <a:t>Accuracy</a:t>
            </a:r>
            <a:r>
              <a:rPr lang="en-US" sz="1100">
                <a:solidFill>
                  <a:schemeClr val="dk1"/>
                </a:solidFill>
              </a:rPr>
              <a:t> and </a:t>
            </a:r>
            <a:r>
              <a:rPr b="1" lang="en-US" sz="1100">
                <a:solidFill>
                  <a:srgbClr val="CFB991"/>
                </a:solidFill>
              </a:rPr>
              <a:t>Macro F1</a:t>
            </a:r>
            <a:r>
              <a:rPr lang="en-US" sz="1100">
                <a:solidFill>
                  <a:srgbClr val="CFB991"/>
                </a:solidFill>
              </a:rPr>
              <a:t> </a:t>
            </a:r>
            <a:r>
              <a:rPr lang="en-US" sz="1100">
                <a:solidFill>
                  <a:schemeClr val="dk1"/>
                </a:solidFill>
              </a:rPr>
              <a:t>showed only minor differences between </a:t>
            </a:r>
            <a:r>
              <a:rPr b="1" lang="en-US" sz="1100">
                <a:solidFill>
                  <a:srgbClr val="CFB991"/>
                </a:solidFill>
              </a:rPr>
              <a:t>Random Split</a:t>
            </a:r>
            <a:r>
              <a:rPr lang="en-US" sz="1100">
                <a:solidFill>
                  <a:schemeClr val="dk1"/>
                </a:solidFill>
              </a:rPr>
              <a:t> and </a:t>
            </a:r>
            <a:r>
              <a:rPr b="1" lang="en-US" sz="1100">
                <a:solidFill>
                  <a:srgbClr val="CFB991"/>
                </a:solidFill>
              </a:rPr>
              <a:t>Stratified Split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rgbClr val="CFB991"/>
                </a:solidFill>
              </a:rPr>
              <a:t>Stratified Split</a:t>
            </a:r>
            <a:r>
              <a:rPr lang="en-US" sz="1100">
                <a:solidFill>
                  <a:srgbClr val="CFB991"/>
                </a:solidFill>
              </a:rPr>
              <a:t> </a:t>
            </a:r>
            <a:r>
              <a:rPr lang="en-US" sz="1100">
                <a:solidFill>
                  <a:schemeClr val="dk1"/>
                </a:solidFill>
              </a:rPr>
              <a:t>maintained performance comparable to </a:t>
            </a:r>
            <a:r>
              <a:rPr b="1" lang="en-US" sz="1100">
                <a:solidFill>
                  <a:srgbClr val="CFB991"/>
                </a:solidFill>
              </a:rPr>
              <a:t>Random Split</a:t>
            </a:r>
            <a:r>
              <a:rPr lang="en-US" sz="1100">
                <a:solidFill>
                  <a:srgbClr val="CFB991"/>
                </a:solidFill>
              </a:rPr>
              <a:t>.</a:t>
            </a:r>
            <a:endParaRPr sz="1100">
              <a:solidFill>
                <a:srgbClr val="CFB99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Bias–Variance Analysis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rgbClr val="CFB991"/>
                </a:solidFill>
              </a:rPr>
              <a:t>Average Bias</a:t>
            </a:r>
            <a:r>
              <a:rPr b="1" lang="en-US" sz="1100">
                <a:solidFill>
                  <a:schemeClr val="dk1"/>
                </a:solidFill>
              </a:rPr>
              <a:t>:</a:t>
            </a:r>
            <a:r>
              <a:rPr lang="en-US" sz="1100">
                <a:solidFill>
                  <a:schemeClr val="dk1"/>
                </a:solidFill>
              </a:rPr>
              <a:t> 0.4215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rgbClr val="CFB991"/>
                </a:solidFill>
              </a:rPr>
              <a:t>Average Variance</a:t>
            </a:r>
            <a:r>
              <a:rPr b="1" lang="en-US" sz="1100">
                <a:solidFill>
                  <a:schemeClr val="dk1"/>
                </a:solidFill>
              </a:rPr>
              <a:t>:</a:t>
            </a:r>
            <a:r>
              <a:rPr lang="en-US" sz="1100">
                <a:solidFill>
                  <a:schemeClr val="dk1"/>
                </a:solidFill>
              </a:rPr>
              <a:t> 0.1485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The relatively low variance indicates that model performance is </a:t>
            </a:r>
            <a:r>
              <a:rPr b="1" lang="en-US" sz="1100">
                <a:solidFill>
                  <a:srgbClr val="CFB991"/>
                </a:solidFill>
              </a:rPr>
              <a:t>stable across different data splits</a:t>
            </a:r>
            <a:r>
              <a:rPr lang="en-US" sz="1100">
                <a:solidFill>
                  <a:srgbClr val="CFB991"/>
                </a:solidFill>
              </a:rPr>
              <a:t>.</a:t>
            </a:r>
            <a:endParaRPr sz="1100">
              <a:solidFill>
                <a:srgbClr val="CFB99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Final Decision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rgbClr val="CFB991"/>
                </a:solidFill>
              </a:rPr>
              <a:t>Stratified Split</a:t>
            </a:r>
            <a:r>
              <a:rPr lang="en-US" sz="1100">
                <a:solidFill>
                  <a:schemeClr val="dk1"/>
                </a:solidFill>
              </a:rPr>
              <a:t> preserves the class distribution across the </a:t>
            </a:r>
            <a:r>
              <a:rPr b="1" lang="en-US" sz="1100">
                <a:solidFill>
                  <a:srgbClr val="CFB991"/>
                </a:solidFill>
              </a:rPr>
              <a:t>Train, Validation, and Test</a:t>
            </a:r>
            <a:r>
              <a:rPr lang="en-US" sz="1100">
                <a:solidFill>
                  <a:schemeClr val="dk1"/>
                </a:solidFill>
              </a:rPr>
              <a:t> sets, reducing evaluation bias and variance.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Therefore, </a:t>
            </a:r>
            <a:r>
              <a:rPr b="1" lang="en-US" sz="1100">
                <a:solidFill>
                  <a:srgbClr val="CFB991"/>
                </a:solidFill>
              </a:rPr>
              <a:t>Stratified Split (8:1:1)</a:t>
            </a:r>
            <a:r>
              <a:rPr lang="en-US" sz="1100">
                <a:solidFill>
                  <a:schemeClr val="dk1"/>
                </a:solidFill>
              </a:rPr>
              <a:t> was adopted for all subsequent experiments.</a:t>
            </a:r>
            <a:endParaRPr sz="1125">
              <a:solidFill>
                <a:srgbClr val="11111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64" name="Google Shape;664;g3f534395cd3_1_14"/>
          <p:cNvSpPr/>
          <p:nvPr/>
        </p:nvSpPr>
        <p:spPr>
          <a:xfrm>
            <a:off x="533400" y="6372225"/>
            <a:ext cx="11125200" cy="9600"/>
          </a:xfrm>
          <a:prstGeom prst="rect">
            <a:avLst/>
          </a:prstGeom>
          <a:solidFill>
            <a:srgbClr val="DAD7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g3f534395cd3_1_14"/>
          <p:cNvSpPr/>
          <p:nvPr/>
        </p:nvSpPr>
        <p:spPr>
          <a:xfrm>
            <a:off x="533400" y="6457950"/>
            <a:ext cx="2782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i="0" lang="en-US" sz="788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PREDICTING AVIATION ACCIDENT SEVERITY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g3f534395cd3_1_14"/>
          <p:cNvSpPr/>
          <p:nvPr/>
        </p:nvSpPr>
        <p:spPr>
          <a:xfrm>
            <a:off x="11527334" y="6457950"/>
            <a:ext cx="207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i="0" lang="en-US" sz="788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23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7" name="Google Shape;667;g3f534395cd3_1_14"/>
          <p:cNvPicPr preferRelativeResize="0"/>
          <p:nvPr/>
        </p:nvPicPr>
        <p:blipFill rotWithShape="1">
          <a:blip r:embed="rId4">
            <a:alphaModFix/>
          </a:blip>
          <a:srcRect b="0" l="0" r="18427" t="0"/>
          <a:stretch/>
        </p:blipFill>
        <p:spPr>
          <a:xfrm>
            <a:off x="533400" y="1766863"/>
            <a:ext cx="6053049" cy="4435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g3f534395cd3_1_14"/>
          <p:cNvPicPr preferRelativeResize="0"/>
          <p:nvPr/>
        </p:nvPicPr>
        <p:blipFill rotWithShape="1">
          <a:blip r:embed="rId4">
            <a:alphaModFix/>
          </a:blip>
          <a:srcRect b="80821" l="82861" r="0" t="5600"/>
          <a:stretch/>
        </p:blipFill>
        <p:spPr>
          <a:xfrm>
            <a:off x="5246125" y="2141084"/>
            <a:ext cx="1054326" cy="4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74" name="Google Shape;67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6789" y="361950"/>
            <a:ext cx="1271811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24"/>
          <p:cNvSpPr/>
          <p:nvPr/>
        </p:nvSpPr>
        <p:spPr>
          <a:xfrm>
            <a:off x="533400" y="495300"/>
            <a:ext cx="12237720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975"/>
              <a:buFont typeface="Arimo"/>
              <a:buNone/>
            </a:pPr>
            <a:r>
              <a:rPr b="1" i="0" lang="en-US" sz="975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APPENDIX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4"/>
          <p:cNvSpPr/>
          <p:nvPr/>
        </p:nvSpPr>
        <p:spPr>
          <a:xfrm>
            <a:off x="533400" y="700088"/>
            <a:ext cx="1223772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mo"/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Target Redefinition I : </a:t>
            </a:r>
            <a:r>
              <a:rPr lang="en-US" sz="3000">
                <a:latin typeface="Helvetica Neue"/>
                <a:ea typeface="Helvetica Neue"/>
                <a:cs typeface="Helvetica Neue"/>
                <a:sym typeface="Helvetica Neue"/>
              </a:rPr>
              <a:t>OverSampling</a:t>
            </a:r>
            <a:endParaRPr i="0" sz="3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7" name="Google Shape;677;p24"/>
          <p:cNvSpPr/>
          <p:nvPr/>
        </p:nvSpPr>
        <p:spPr>
          <a:xfrm>
            <a:off x="533400" y="6372225"/>
            <a:ext cx="11125200" cy="9525"/>
          </a:xfrm>
          <a:prstGeom prst="rect">
            <a:avLst/>
          </a:prstGeom>
          <a:solidFill>
            <a:srgbClr val="DAD7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4"/>
          <p:cNvSpPr/>
          <p:nvPr/>
        </p:nvSpPr>
        <p:spPr>
          <a:xfrm>
            <a:off x="533400" y="6457950"/>
            <a:ext cx="278275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i="0" lang="en-US" sz="788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PREDICTING AVIATION ACCIDENT SEVERITY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4"/>
          <p:cNvSpPr/>
          <p:nvPr/>
        </p:nvSpPr>
        <p:spPr>
          <a:xfrm>
            <a:off x="11527334" y="6457950"/>
            <a:ext cx="20746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i="0" lang="en-US" sz="788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24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0" name="Google Shape;68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150" y="2267313"/>
            <a:ext cx="7889188" cy="1862725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24"/>
          <p:cNvSpPr/>
          <p:nvPr/>
        </p:nvSpPr>
        <p:spPr>
          <a:xfrm>
            <a:off x="353200" y="5040988"/>
            <a:ext cx="103995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210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Applied Oversampling to reduce class imbalance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10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Tuned Random Forest using </a:t>
            </a:r>
            <a:r>
              <a:rPr b="1" lang="en-US" sz="1100">
                <a:solidFill>
                  <a:schemeClr val="dk1"/>
                </a:solidFill>
              </a:rPr>
              <a:t>Grid Search</a:t>
            </a:r>
            <a:r>
              <a:rPr lang="en-US" sz="1100">
                <a:solidFill>
                  <a:schemeClr val="dk1"/>
                </a:solidFill>
              </a:rPr>
              <a:t> </a:t>
            </a:r>
            <a:r>
              <a:rPr i="1" lang="en-US" sz="1100">
                <a:solidFill>
                  <a:schemeClr val="dk1"/>
                </a:solidFill>
              </a:rPr>
              <a:t>(mtry = 5, ntree = 300)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10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Improved minority-class Recall and prediction balance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10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→ Remaining confusion between minority classes motivated </a:t>
            </a:r>
            <a:r>
              <a:rPr b="1" lang="en-US" sz="1100">
                <a:solidFill>
                  <a:schemeClr val="dk1"/>
                </a:solidFill>
              </a:rPr>
              <a:t>OvR</a:t>
            </a:r>
            <a:r>
              <a:rPr lang="en-US" sz="1100">
                <a:solidFill>
                  <a:schemeClr val="dk1"/>
                </a:solidFill>
              </a:rPr>
              <a:t> and </a:t>
            </a:r>
            <a:r>
              <a:rPr b="1" lang="en-US" sz="1100">
                <a:solidFill>
                  <a:schemeClr val="dk1"/>
                </a:solidFill>
              </a:rPr>
              <a:t>Binary Classification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10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1081"/>
              </a:lnSpc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1200"/>
              <a:buFont typeface="Arimo"/>
              <a:buNone/>
            </a:pPr>
            <a:r>
              <a:t/>
            </a:r>
            <a:endParaRPr sz="1200">
              <a:solidFill>
                <a:srgbClr val="55585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82" name="Google Shape;682;p24"/>
          <p:cNvSpPr/>
          <p:nvPr/>
        </p:nvSpPr>
        <p:spPr>
          <a:xfrm>
            <a:off x="8399250" y="2430438"/>
            <a:ext cx="36576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Compared </a:t>
            </a:r>
            <a:r>
              <a:rPr b="1" lang="en-US" sz="1100">
                <a:solidFill>
                  <a:schemeClr val="dk1"/>
                </a:solidFill>
              </a:rPr>
              <a:t>KNN, Decision Tree, and Random Forest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Random Forest</a:t>
            </a:r>
            <a:r>
              <a:rPr lang="en-US" sz="1100">
                <a:solidFill>
                  <a:schemeClr val="dk1"/>
                </a:solidFill>
              </a:rPr>
              <a:t> achieved the best Accuracy (</a:t>
            </a:r>
            <a:r>
              <a:rPr b="1" lang="en-US" sz="1100">
                <a:solidFill>
                  <a:schemeClr val="dk1"/>
                </a:solidFill>
              </a:rPr>
              <a:t>0.784</a:t>
            </a:r>
            <a:r>
              <a:rPr lang="en-US" sz="1100">
                <a:solidFill>
                  <a:schemeClr val="dk1"/>
                </a:solidFill>
              </a:rPr>
              <a:t>) and Macro F1 (</a:t>
            </a:r>
            <a:r>
              <a:rPr b="1" lang="en-US" sz="1100">
                <a:solidFill>
                  <a:schemeClr val="dk1"/>
                </a:solidFill>
              </a:rPr>
              <a:t>0.750</a:t>
            </a:r>
            <a:r>
              <a:rPr lang="en-US" sz="1100">
                <a:solidFill>
                  <a:schemeClr val="dk1"/>
                </a:solidFill>
              </a:rPr>
              <a:t>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Fatal Recall remained low (0.570)</a:t>
            </a:r>
            <a:r>
              <a:rPr lang="en-US" sz="1100">
                <a:solidFill>
                  <a:schemeClr val="dk1"/>
                </a:solidFill>
              </a:rPr>
              <a:t> due to severe class imbalance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Macro F1</a:t>
            </a:r>
            <a:r>
              <a:rPr lang="en-US" sz="1100">
                <a:solidFill>
                  <a:schemeClr val="dk1"/>
                </a:solidFill>
              </a:rPr>
              <a:t> and </a:t>
            </a:r>
            <a:r>
              <a:rPr b="1" lang="en-US" sz="1100">
                <a:solidFill>
                  <a:schemeClr val="dk1"/>
                </a:solidFill>
              </a:rPr>
              <a:t>Fatal Recall</a:t>
            </a:r>
            <a:r>
              <a:rPr lang="en-US" sz="1100">
                <a:solidFill>
                  <a:schemeClr val="dk1"/>
                </a:solidFill>
              </a:rPr>
              <a:t> were selected as key evaluation metrics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108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10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1081"/>
              </a:lnSpc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1200"/>
              <a:buFont typeface="Arimo"/>
              <a:buNone/>
            </a:pPr>
            <a:r>
              <a:t/>
            </a:r>
            <a:endParaRPr sz="1200">
              <a:solidFill>
                <a:srgbClr val="55585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83" name="Google Shape;683;p24"/>
          <p:cNvSpPr/>
          <p:nvPr/>
        </p:nvSpPr>
        <p:spPr>
          <a:xfrm>
            <a:off x="398250" y="1839738"/>
            <a:ext cx="122376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mo"/>
              <a:buNone/>
            </a:pP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Initial Modeling (4-Class Classification) </a:t>
            </a:r>
            <a:endParaRPr i="0" sz="19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4" name="Google Shape;684;p24"/>
          <p:cNvSpPr/>
          <p:nvPr/>
        </p:nvSpPr>
        <p:spPr>
          <a:xfrm>
            <a:off x="353188" y="4510526"/>
            <a:ext cx="122376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mo"/>
              <a:buNone/>
            </a:pPr>
            <a:r>
              <a:rPr b="1" lang="en-US" sz="1900">
                <a:latin typeface="Arimo"/>
                <a:ea typeface="Arimo"/>
                <a:cs typeface="Arimo"/>
                <a:sym typeface="Arimo"/>
              </a:rPr>
              <a:t>Solution) OverSampling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90" name="Google Shape;690;g3f534395cd3_1_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6789" y="361950"/>
            <a:ext cx="127181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g3f534395cd3_1_40"/>
          <p:cNvSpPr/>
          <p:nvPr/>
        </p:nvSpPr>
        <p:spPr>
          <a:xfrm>
            <a:off x="533400" y="495300"/>
            <a:ext cx="122376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975"/>
              <a:buFont typeface="Arimo"/>
              <a:buNone/>
            </a:pPr>
            <a:r>
              <a:rPr b="1" i="0" lang="en-US" sz="975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APPENDIX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g3f534395cd3_1_40"/>
          <p:cNvSpPr/>
          <p:nvPr/>
        </p:nvSpPr>
        <p:spPr>
          <a:xfrm>
            <a:off x="533400" y="700088"/>
            <a:ext cx="122376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mo"/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Target Redefinition </a:t>
            </a:r>
            <a:r>
              <a:rPr lang="en-US" sz="3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II </a:t>
            </a:r>
            <a:r>
              <a:rPr i="0" lang="en-US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: 4-Class → 3-Class</a:t>
            </a:r>
            <a:endParaRPr i="0" sz="3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3" name="Google Shape;693;g3f534395cd3_1_40"/>
          <p:cNvSpPr/>
          <p:nvPr/>
        </p:nvSpPr>
        <p:spPr>
          <a:xfrm>
            <a:off x="533400" y="1396001"/>
            <a:ext cx="103995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081"/>
              </a:lnSpc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1200"/>
              <a:buFont typeface="Arimo"/>
              <a:buNone/>
            </a:pPr>
            <a:r>
              <a:rPr b="0" i="0" lang="en-US" sz="1200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The initial target had four classes (None, Minor, Serious, Fatal). </a:t>
            </a:r>
            <a:br>
              <a:rPr b="0" i="0" lang="en-US" sz="1200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</a:br>
            <a:r>
              <a:rPr b="1" i="0" lang="en-US" sz="1200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None </a:t>
            </a:r>
            <a:r>
              <a:rPr b="0" i="0" lang="en-US" sz="1200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accounted for 57.2% of the data, biasing the model toward injury </a:t>
            </a:r>
            <a:r>
              <a:rPr b="0" i="1" lang="en-US" sz="1200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presence </a:t>
            </a:r>
            <a:r>
              <a:rPr b="0" i="0" lang="en-US" sz="1200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rather than </a:t>
            </a:r>
            <a:r>
              <a:rPr b="0" i="1" lang="en-US" sz="1200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severity</a:t>
            </a:r>
            <a:r>
              <a:rPr b="0" i="0" lang="en-US" sz="1200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. </a:t>
            </a:r>
            <a:br>
              <a:rPr b="0" i="0" lang="en-US" sz="1200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</a:br>
            <a:r>
              <a:rPr b="0" i="0" lang="en-US" sz="1200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Excluding None sharpens the objective: predicting the severity of injury-producing accidents.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94" name="Google Shape;694;g3f534395cd3_1_40"/>
          <p:cNvGrpSpPr/>
          <p:nvPr/>
        </p:nvGrpSpPr>
        <p:grpSpPr>
          <a:xfrm>
            <a:off x="5008317" y="2575736"/>
            <a:ext cx="5888718" cy="2761889"/>
            <a:chOff x="533400" y="2987500"/>
            <a:chExt cx="5523608" cy="2590648"/>
          </a:xfrm>
        </p:grpSpPr>
        <p:sp>
          <p:nvSpPr>
            <p:cNvPr id="695" name="Google Shape;695;g3f534395cd3_1_40"/>
            <p:cNvSpPr/>
            <p:nvPr/>
          </p:nvSpPr>
          <p:spPr>
            <a:xfrm>
              <a:off x="533400" y="2987500"/>
              <a:ext cx="5523600" cy="3573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7475" lIns="97475" spcFirstLastPara="1" rIns="97475" wrap="square" tIns="97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g3f534395cd3_1_40"/>
            <p:cNvSpPr/>
            <p:nvPr/>
          </p:nvSpPr>
          <p:spPr>
            <a:xfrm>
              <a:off x="609064" y="3066179"/>
              <a:ext cx="2007600" cy="18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075" lIns="27075" spcFirstLastPara="1" rIns="27075" wrap="square" tIns="270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39"/>
                <a:buFont typeface="Arimo"/>
                <a:buNone/>
              </a:pPr>
              <a:r>
                <a:rPr b="1" i="0" lang="en-US" sz="1039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TARGET STAGE</a:t>
              </a:r>
              <a:endParaRPr b="0" i="0" sz="10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g3f534395cd3_1_40"/>
            <p:cNvSpPr/>
            <p:nvPr/>
          </p:nvSpPr>
          <p:spPr>
            <a:xfrm>
              <a:off x="2667279" y="3066179"/>
              <a:ext cx="557700" cy="18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075" lIns="27075" spcFirstLastPara="1" rIns="27075" wrap="square" tIns="270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39"/>
                <a:buFont typeface="Arimo"/>
                <a:buNone/>
              </a:pPr>
              <a:r>
                <a:rPr b="1" i="0" lang="en-US" sz="1039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None</a:t>
              </a:r>
              <a:endParaRPr b="0" i="0" sz="10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g3f534395cd3_1_40"/>
            <p:cNvSpPr/>
            <p:nvPr/>
          </p:nvSpPr>
          <p:spPr>
            <a:xfrm>
              <a:off x="3338499" y="3066179"/>
              <a:ext cx="557700" cy="18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075" lIns="27075" spcFirstLastPara="1" rIns="27075" wrap="square" tIns="270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39"/>
                <a:buFont typeface="Arimo"/>
                <a:buNone/>
              </a:pPr>
              <a:r>
                <a:rPr b="1" i="0" lang="en-US" sz="1039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Minor</a:t>
              </a:r>
              <a:endParaRPr b="0" i="0" sz="10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g3f534395cd3_1_40"/>
            <p:cNvSpPr/>
            <p:nvPr/>
          </p:nvSpPr>
          <p:spPr>
            <a:xfrm>
              <a:off x="4009718" y="3066179"/>
              <a:ext cx="628800" cy="18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075" lIns="27075" spcFirstLastPara="1" rIns="27075" wrap="square" tIns="270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39"/>
                <a:buFont typeface="Arimo"/>
                <a:buNone/>
              </a:pPr>
              <a:r>
                <a:rPr b="1" i="0" lang="en-US" sz="1039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Serious</a:t>
              </a:r>
              <a:endParaRPr b="0" i="0" sz="10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g3f534395cd3_1_40"/>
            <p:cNvSpPr/>
            <p:nvPr/>
          </p:nvSpPr>
          <p:spPr>
            <a:xfrm>
              <a:off x="4752205" y="3066179"/>
              <a:ext cx="557700" cy="18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075" lIns="27075" spcFirstLastPara="1" rIns="27075" wrap="square" tIns="270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39"/>
                <a:buFont typeface="Arimo"/>
                <a:buNone/>
              </a:pPr>
              <a:r>
                <a:rPr b="1" i="0" lang="en-US" sz="1039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Fatal</a:t>
              </a:r>
              <a:endParaRPr b="0" i="0" sz="10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g3f534395cd3_1_40"/>
            <p:cNvSpPr/>
            <p:nvPr/>
          </p:nvSpPr>
          <p:spPr>
            <a:xfrm>
              <a:off x="5423425" y="3066179"/>
              <a:ext cx="558000" cy="18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075" lIns="27075" spcFirstLastPara="1" rIns="27075" wrap="square" tIns="270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39"/>
                <a:buFont typeface="Arimo"/>
                <a:buNone/>
              </a:pPr>
              <a:r>
                <a:rPr b="1" i="0" lang="en-US" sz="1039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Total</a:t>
              </a:r>
              <a:endParaRPr b="0" i="0" sz="10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g3f534395cd3_1_40"/>
            <p:cNvSpPr/>
            <p:nvPr/>
          </p:nvSpPr>
          <p:spPr>
            <a:xfrm>
              <a:off x="533400" y="3744738"/>
              <a:ext cx="5523600" cy="9600"/>
            </a:xfrm>
            <a:prstGeom prst="rect">
              <a:avLst/>
            </a:prstGeom>
            <a:solidFill>
              <a:srgbClr val="E5E2DC"/>
            </a:solidFill>
            <a:ln>
              <a:noFill/>
            </a:ln>
          </p:spPr>
          <p:txBody>
            <a:bodyPr anchorCtr="0" anchor="ctr" bIns="97475" lIns="97475" spcFirstLastPara="1" rIns="97475" wrap="square" tIns="97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g3f534395cd3_1_40"/>
            <p:cNvSpPr/>
            <p:nvPr/>
          </p:nvSpPr>
          <p:spPr>
            <a:xfrm>
              <a:off x="609064" y="3432892"/>
              <a:ext cx="20076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075" lIns="27075" spcFirstLastPara="1" rIns="27075" wrap="square" tIns="27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79"/>
                <a:buFont typeface="Arimo"/>
                <a:buNone/>
              </a:pPr>
              <a:r>
                <a:rPr b="1" i="0" lang="en-US" sz="127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Initial 4-class</a:t>
              </a:r>
              <a:endParaRPr b="0" i="0" sz="12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g3f534395cd3_1_40"/>
            <p:cNvSpPr/>
            <p:nvPr/>
          </p:nvSpPr>
          <p:spPr>
            <a:xfrm>
              <a:off x="2667279" y="3432892"/>
              <a:ext cx="5577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075" lIns="27075" spcFirstLastPara="1" rIns="27075" wrap="square" tIns="270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79"/>
                <a:buFont typeface="Arimo"/>
                <a:buNone/>
              </a:pPr>
              <a:r>
                <a:rPr b="0" i="0" lang="en-US" sz="127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4,336</a:t>
              </a:r>
              <a:endParaRPr b="0" i="0" sz="12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g3f534395cd3_1_40"/>
            <p:cNvSpPr/>
            <p:nvPr/>
          </p:nvSpPr>
          <p:spPr>
            <a:xfrm>
              <a:off x="3338499" y="3432892"/>
              <a:ext cx="5577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075" lIns="27075" spcFirstLastPara="1" rIns="27075" wrap="square" tIns="270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79"/>
                <a:buFont typeface="Arimo"/>
                <a:buNone/>
              </a:pPr>
              <a:r>
                <a:rPr b="0" i="0" lang="en-US" sz="127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1,189</a:t>
              </a:r>
              <a:endParaRPr b="0" i="0" sz="12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g3f534395cd3_1_40"/>
            <p:cNvSpPr/>
            <p:nvPr/>
          </p:nvSpPr>
          <p:spPr>
            <a:xfrm>
              <a:off x="4009718" y="3432892"/>
              <a:ext cx="6288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075" lIns="27075" spcFirstLastPara="1" rIns="27075" wrap="square" tIns="270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79"/>
                <a:buFont typeface="Arimo"/>
                <a:buNone/>
              </a:pPr>
              <a:r>
                <a:rPr b="0" i="0" lang="en-US" sz="127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908</a:t>
              </a:r>
              <a:endParaRPr b="0" i="0" sz="12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g3f534395cd3_1_40"/>
            <p:cNvSpPr/>
            <p:nvPr/>
          </p:nvSpPr>
          <p:spPr>
            <a:xfrm>
              <a:off x="4752205" y="3432892"/>
              <a:ext cx="5577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075" lIns="27075" spcFirstLastPara="1" rIns="27075" wrap="square" tIns="270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79"/>
                <a:buFont typeface="Arimo"/>
                <a:buNone/>
              </a:pPr>
              <a:r>
                <a:rPr b="0" i="0" lang="en-US" sz="127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1,144</a:t>
              </a:r>
              <a:endParaRPr b="0" i="0" sz="12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g3f534395cd3_1_40"/>
            <p:cNvSpPr/>
            <p:nvPr/>
          </p:nvSpPr>
          <p:spPr>
            <a:xfrm>
              <a:off x="5423425" y="3432892"/>
              <a:ext cx="5580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075" lIns="27075" spcFirstLastPara="1" rIns="27075" wrap="square" tIns="270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79"/>
                <a:buFont typeface="Arimo"/>
                <a:buNone/>
              </a:pPr>
              <a:r>
                <a:rPr b="0" i="0" lang="en-US" sz="127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7,577</a:t>
              </a:r>
              <a:endParaRPr b="0" i="0" sz="12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g3f534395cd3_1_40"/>
            <p:cNvSpPr/>
            <p:nvPr/>
          </p:nvSpPr>
          <p:spPr>
            <a:xfrm>
              <a:off x="533400" y="4059063"/>
              <a:ext cx="5523600" cy="9600"/>
            </a:xfrm>
            <a:prstGeom prst="rect">
              <a:avLst/>
            </a:prstGeom>
            <a:solidFill>
              <a:srgbClr val="E5E2DC"/>
            </a:solidFill>
            <a:ln>
              <a:noFill/>
            </a:ln>
          </p:spPr>
          <p:txBody>
            <a:bodyPr anchorCtr="0" anchor="ctr" bIns="97475" lIns="97475" spcFirstLastPara="1" rIns="97475" wrap="square" tIns="97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g3f534395cd3_1_40"/>
            <p:cNvSpPr/>
            <p:nvPr/>
          </p:nvSpPr>
          <p:spPr>
            <a:xfrm>
              <a:off x="609064" y="3804367"/>
              <a:ext cx="20076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075" lIns="27075" spcFirstLastPara="1" rIns="27075" wrap="square" tIns="27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D9694"/>
                </a:buClr>
                <a:buSzPts val="1119"/>
                <a:buFont typeface="Arimo"/>
                <a:buNone/>
              </a:pPr>
              <a:r>
                <a:rPr b="0" i="0" lang="en-US" sz="1219" u="none" cap="none" strike="noStrike">
                  <a:solidFill>
                    <a:srgbClr val="9D9694"/>
                  </a:solidFill>
                  <a:latin typeface="Arimo"/>
                  <a:ea typeface="Arimo"/>
                  <a:cs typeface="Arimo"/>
                  <a:sym typeface="Arimo"/>
                </a:rPr>
                <a:t>ratio</a:t>
              </a:r>
              <a:endParaRPr b="0" i="0" sz="121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g3f534395cd3_1_40"/>
            <p:cNvSpPr/>
            <p:nvPr/>
          </p:nvSpPr>
          <p:spPr>
            <a:xfrm>
              <a:off x="2667279" y="3804367"/>
              <a:ext cx="5577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075" lIns="27075" spcFirstLastPara="1" rIns="27075" wrap="square" tIns="270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9D9694"/>
                </a:buClr>
                <a:buSzPts val="1119"/>
                <a:buFont typeface="Arimo"/>
                <a:buNone/>
              </a:pPr>
              <a:r>
                <a:rPr b="1" i="0" lang="en-US" sz="1119" u="none" cap="none" strike="noStrike">
                  <a:solidFill>
                    <a:srgbClr val="9D9694"/>
                  </a:solidFill>
                  <a:latin typeface="Arimo"/>
                  <a:ea typeface="Arimo"/>
                  <a:cs typeface="Arimo"/>
                  <a:sym typeface="Arimo"/>
                </a:rPr>
                <a:t>57.2%</a:t>
              </a:r>
              <a:endParaRPr b="1" i="0" sz="111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g3f534395cd3_1_40"/>
            <p:cNvSpPr/>
            <p:nvPr/>
          </p:nvSpPr>
          <p:spPr>
            <a:xfrm>
              <a:off x="3338499" y="3804367"/>
              <a:ext cx="5577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075" lIns="27075" spcFirstLastPara="1" rIns="27075" wrap="square" tIns="270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9D9694"/>
                </a:buClr>
                <a:buSzPts val="1119"/>
                <a:buFont typeface="Arimo"/>
                <a:buNone/>
              </a:pPr>
              <a:r>
                <a:rPr b="0" i="0" lang="en-US" sz="1119" u="none" cap="none" strike="noStrike">
                  <a:solidFill>
                    <a:srgbClr val="9D9694"/>
                  </a:solidFill>
                  <a:latin typeface="Arimo"/>
                  <a:ea typeface="Arimo"/>
                  <a:cs typeface="Arimo"/>
                  <a:sym typeface="Arimo"/>
                </a:rPr>
                <a:t>15.7%</a:t>
              </a:r>
              <a:endParaRPr b="0" i="0" sz="111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g3f534395cd3_1_40"/>
            <p:cNvSpPr/>
            <p:nvPr/>
          </p:nvSpPr>
          <p:spPr>
            <a:xfrm>
              <a:off x="4009718" y="3804367"/>
              <a:ext cx="6288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075" lIns="27075" spcFirstLastPara="1" rIns="27075" wrap="square" tIns="270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9D9694"/>
                </a:buClr>
                <a:buSzPts val="1119"/>
                <a:buFont typeface="Arimo"/>
                <a:buNone/>
              </a:pPr>
              <a:r>
                <a:rPr b="0" i="0" lang="en-US" sz="1119" u="none" cap="none" strike="noStrike">
                  <a:solidFill>
                    <a:srgbClr val="9D9694"/>
                  </a:solidFill>
                  <a:latin typeface="Arimo"/>
                  <a:ea typeface="Arimo"/>
                  <a:cs typeface="Arimo"/>
                  <a:sym typeface="Arimo"/>
                </a:rPr>
                <a:t>12.0%</a:t>
              </a:r>
              <a:endParaRPr b="0" i="0" sz="111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g3f534395cd3_1_40"/>
            <p:cNvSpPr/>
            <p:nvPr/>
          </p:nvSpPr>
          <p:spPr>
            <a:xfrm>
              <a:off x="4752205" y="3804367"/>
              <a:ext cx="5577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075" lIns="27075" spcFirstLastPara="1" rIns="27075" wrap="square" tIns="270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9D9694"/>
                </a:buClr>
                <a:buSzPts val="1119"/>
                <a:buFont typeface="Arimo"/>
                <a:buNone/>
              </a:pPr>
              <a:r>
                <a:rPr b="0" i="0" lang="en-US" sz="1119" u="none" cap="none" strike="noStrike">
                  <a:solidFill>
                    <a:srgbClr val="9D9694"/>
                  </a:solidFill>
                  <a:latin typeface="Arimo"/>
                  <a:ea typeface="Arimo"/>
                  <a:cs typeface="Arimo"/>
                  <a:sym typeface="Arimo"/>
                </a:rPr>
                <a:t>15.1%</a:t>
              </a:r>
              <a:endParaRPr b="0" i="0" sz="111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g3f534395cd3_1_40"/>
            <p:cNvSpPr/>
            <p:nvPr/>
          </p:nvSpPr>
          <p:spPr>
            <a:xfrm>
              <a:off x="5423425" y="3804367"/>
              <a:ext cx="5580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075" lIns="27075" spcFirstLastPara="1" rIns="27075" wrap="square" tIns="270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9D9694"/>
                </a:buClr>
                <a:buSzPts val="1119"/>
                <a:buFont typeface="Arimo"/>
                <a:buNone/>
              </a:pPr>
              <a:r>
                <a:rPr b="0" i="0" lang="en-US" sz="1119" u="none" cap="none" strike="noStrike">
                  <a:solidFill>
                    <a:srgbClr val="9D9694"/>
                  </a:solidFill>
                  <a:latin typeface="Arimo"/>
                  <a:ea typeface="Arimo"/>
                  <a:cs typeface="Arimo"/>
                  <a:sym typeface="Arimo"/>
                </a:rPr>
                <a:t>100%</a:t>
              </a:r>
              <a:endParaRPr b="0" i="0" sz="111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g3f534395cd3_1_40"/>
            <p:cNvSpPr/>
            <p:nvPr/>
          </p:nvSpPr>
          <p:spPr>
            <a:xfrm>
              <a:off x="533400" y="4068588"/>
              <a:ext cx="5523600" cy="457200"/>
            </a:xfrm>
            <a:prstGeom prst="rect">
              <a:avLst/>
            </a:prstGeom>
            <a:solidFill>
              <a:srgbClr val="FAF3E2"/>
            </a:solidFill>
            <a:ln>
              <a:noFill/>
            </a:ln>
          </p:spPr>
          <p:txBody>
            <a:bodyPr anchorCtr="0" anchor="ctr" bIns="97475" lIns="97475" spcFirstLastPara="1" rIns="97475" wrap="square" tIns="97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g3f534395cd3_1_40"/>
            <p:cNvSpPr/>
            <p:nvPr/>
          </p:nvSpPr>
          <p:spPr>
            <a:xfrm>
              <a:off x="533400" y="4516263"/>
              <a:ext cx="5523600" cy="9600"/>
            </a:xfrm>
            <a:prstGeom prst="rect">
              <a:avLst/>
            </a:prstGeom>
            <a:solidFill>
              <a:srgbClr val="CFB991"/>
            </a:solidFill>
            <a:ln>
              <a:noFill/>
            </a:ln>
          </p:spPr>
          <p:txBody>
            <a:bodyPr anchorCtr="0" anchor="ctr" bIns="97475" lIns="97475" spcFirstLastPara="1" rIns="97475" wrap="square" tIns="97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g3f534395cd3_1_40"/>
            <p:cNvSpPr/>
            <p:nvPr/>
          </p:nvSpPr>
          <p:spPr>
            <a:xfrm>
              <a:off x="609064" y="4143744"/>
              <a:ext cx="20076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075" lIns="27075" spcFirstLastPara="1" rIns="27075" wrap="square" tIns="27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79"/>
                <a:buFont typeface="Arimo"/>
                <a:buNone/>
              </a:pPr>
              <a:r>
                <a:rPr b="1" i="0" lang="en-US" sz="127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None excluded → 3-class</a:t>
              </a:r>
              <a:endParaRPr b="0" i="0" sz="12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g3f534395cd3_1_40"/>
            <p:cNvSpPr/>
            <p:nvPr/>
          </p:nvSpPr>
          <p:spPr>
            <a:xfrm>
              <a:off x="2667279" y="4156792"/>
              <a:ext cx="557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075" lIns="27075" spcFirstLastPara="1" rIns="27075" wrap="square" tIns="270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9D9694"/>
                </a:buClr>
                <a:buSzPts val="1279"/>
                <a:buFont typeface="Arimo"/>
                <a:buNone/>
              </a:pPr>
              <a:r>
                <a:rPr b="0" i="0" lang="en-US" sz="1279" u="none" cap="none" strike="noStrike">
                  <a:solidFill>
                    <a:srgbClr val="9D9694"/>
                  </a:solidFill>
                  <a:latin typeface="Arimo"/>
                  <a:ea typeface="Arimo"/>
                  <a:cs typeface="Arimo"/>
                  <a:sym typeface="Arimo"/>
                </a:rPr>
                <a:t>–</a:t>
              </a:r>
              <a:endParaRPr b="0" i="0" sz="12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g3f534395cd3_1_40"/>
            <p:cNvSpPr/>
            <p:nvPr/>
          </p:nvSpPr>
          <p:spPr>
            <a:xfrm>
              <a:off x="3338499" y="4156792"/>
              <a:ext cx="557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075" lIns="27075" spcFirstLastPara="1" rIns="27075" wrap="square" tIns="270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79"/>
                <a:buFont typeface="Arimo"/>
                <a:buNone/>
              </a:pPr>
              <a:r>
                <a:rPr b="0" i="0" lang="en-US" sz="127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1,189</a:t>
              </a:r>
              <a:endParaRPr b="0" i="0" sz="12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g3f534395cd3_1_40"/>
            <p:cNvSpPr/>
            <p:nvPr/>
          </p:nvSpPr>
          <p:spPr>
            <a:xfrm>
              <a:off x="4009718" y="4156792"/>
              <a:ext cx="6288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075" lIns="27075" spcFirstLastPara="1" rIns="27075" wrap="square" tIns="270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79"/>
                <a:buFont typeface="Arimo"/>
                <a:buNone/>
              </a:pPr>
              <a:r>
                <a:rPr b="0" i="0" lang="en-US" sz="127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908</a:t>
              </a:r>
              <a:endParaRPr b="0" i="0" sz="12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g3f534395cd3_1_40"/>
            <p:cNvSpPr/>
            <p:nvPr/>
          </p:nvSpPr>
          <p:spPr>
            <a:xfrm>
              <a:off x="4752205" y="4156792"/>
              <a:ext cx="557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075" lIns="27075" spcFirstLastPara="1" rIns="27075" wrap="square" tIns="270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79"/>
                <a:buFont typeface="Arimo"/>
                <a:buNone/>
              </a:pPr>
              <a:r>
                <a:rPr b="0" i="0" lang="en-US" sz="127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1,144</a:t>
              </a:r>
              <a:endParaRPr b="0" i="0" sz="12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g3f534395cd3_1_40"/>
            <p:cNvSpPr/>
            <p:nvPr/>
          </p:nvSpPr>
          <p:spPr>
            <a:xfrm>
              <a:off x="5423425" y="4156792"/>
              <a:ext cx="5580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075" lIns="27075" spcFirstLastPara="1" rIns="27075" wrap="square" tIns="270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8E6F3E"/>
                </a:buClr>
                <a:buSzPts val="1279"/>
                <a:buFont typeface="Arimo"/>
                <a:buNone/>
              </a:pPr>
              <a:r>
                <a:rPr b="1" i="0" lang="en-US" sz="1279" u="none" cap="none" strike="noStrike">
                  <a:solidFill>
                    <a:srgbClr val="8E6F3E"/>
                  </a:solidFill>
                  <a:latin typeface="Arimo"/>
                  <a:ea typeface="Arimo"/>
                  <a:cs typeface="Arimo"/>
                  <a:sym typeface="Arimo"/>
                </a:rPr>
                <a:t>3,241</a:t>
              </a:r>
              <a:endParaRPr b="0" i="0" sz="12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g3f534395cd3_1_40"/>
            <p:cNvSpPr/>
            <p:nvPr/>
          </p:nvSpPr>
          <p:spPr>
            <a:xfrm>
              <a:off x="533400" y="4825825"/>
              <a:ext cx="5523600" cy="18900"/>
            </a:xfrm>
            <a:prstGeom prst="rect">
              <a:avLst/>
            </a:prstGeom>
            <a:solidFill>
              <a:srgbClr val="CFB991"/>
            </a:solidFill>
            <a:ln>
              <a:noFill/>
            </a:ln>
          </p:spPr>
          <p:txBody>
            <a:bodyPr anchorCtr="0" anchor="ctr" bIns="97475" lIns="97475" spcFirstLastPara="1" rIns="97475" wrap="square" tIns="97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g3f534395cd3_1_40"/>
            <p:cNvSpPr/>
            <p:nvPr/>
          </p:nvSpPr>
          <p:spPr>
            <a:xfrm>
              <a:off x="609064" y="4575892"/>
              <a:ext cx="2007600" cy="2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075" lIns="27075" spcFirstLastPara="1" rIns="27075" wrap="square" tIns="27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D9694"/>
                </a:buClr>
                <a:buSzPts val="1119"/>
                <a:buFont typeface="Arimo"/>
                <a:buNone/>
              </a:pPr>
              <a:r>
                <a:rPr b="0" i="0" lang="en-US" sz="1219" u="none" cap="none" strike="noStrike">
                  <a:solidFill>
                    <a:srgbClr val="9D9694"/>
                  </a:solidFill>
                  <a:latin typeface="Arimo"/>
                  <a:ea typeface="Arimo"/>
                  <a:cs typeface="Arimo"/>
                  <a:sym typeface="Arimo"/>
                </a:rPr>
                <a:t>3-class ratio</a:t>
              </a:r>
              <a:endParaRPr b="0" i="0" sz="121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g3f534395cd3_1_40"/>
            <p:cNvSpPr/>
            <p:nvPr/>
          </p:nvSpPr>
          <p:spPr>
            <a:xfrm>
              <a:off x="2667279" y="4575892"/>
              <a:ext cx="557700" cy="2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075" lIns="27075" spcFirstLastPara="1" rIns="27075" wrap="square" tIns="270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9D9694"/>
                </a:buClr>
                <a:buSzPts val="1119"/>
                <a:buFont typeface="Arimo"/>
                <a:buNone/>
              </a:pPr>
              <a:r>
                <a:rPr b="0" i="0" lang="en-US" sz="1119" u="none" cap="none" strike="noStrike">
                  <a:solidFill>
                    <a:srgbClr val="9D9694"/>
                  </a:solidFill>
                  <a:latin typeface="Arimo"/>
                  <a:ea typeface="Arimo"/>
                  <a:cs typeface="Arimo"/>
                  <a:sym typeface="Arimo"/>
                </a:rPr>
                <a:t>–</a:t>
              </a:r>
              <a:endParaRPr b="0" i="0" sz="111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g3f534395cd3_1_40"/>
            <p:cNvSpPr/>
            <p:nvPr/>
          </p:nvSpPr>
          <p:spPr>
            <a:xfrm>
              <a:off x="3338499" y="4575892"/>
              <a:ext cx="557700" cy="2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075" lIns="27075" spcFirstLastPara="1" rIns="27075" wrap="square" tIns="270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9D9694"/>
                </a:buClr>
                <a:buSzPts val="1119"/>
                <a:buFont typeface="Arimo"/>
                <a:buNone/>
              </a:pPr>
              <a:r>
                <a:rPr b="0" i="0" lang="en-US" sz="1119" u="none" cap="none" strike="noStrike">
                  <a:solidFill>
                    <a:srgbClr val="9D9694"/>
                  </a:solidFill>
                  <a:latin typeface="Arimo"/>
                  <a:ea typeface="Arimo"/>
                  <a:cs typeface="Arimo"/>
                  <a:sym typeface="Arimo"/>
                </a:rPr>
                <a:t>36.7%</a:t>
              </a:r>
              <a:endParaRPr b="0" i="0" sz="111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g3f534395cd3_1_40"/>
            <p:cNvSpPr/>
            <p:nvPr/>
          </p:nvSpPr>
          <p:spPr>
            <a:xfrm>
              <a:off x="4009718" y="4575892"/>
              <a:ext cx="628800" cy="2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075" lIns="27075" spcFirstLastPara="1" rIns="27075" wrap="square" tIns="270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9D9694"/>
                </a:buClr>
                <a:buSzPts val="1119"/>
                <a:buFont typeface="Arimo"/>
                <a:buNone/>
              </a:pPr>
              <a:r>
                <a:rPr b="0" i="0" lang="en-US" sz="1119" u="none" cap="none" strike="noStrike">
                  <a:solidFill>
                    <a:srgbClr val="9D9694"/>
                  </a:solidFill>
                  <a:latin typeface="Arimo"/>
                  <a:ea typeface="Arimo"/>
                  <a:cs typeface="Arimo"/>
                  <a:sym typeface="Arimo"/>
                </a:rPr>
                <a:t>28.0%</a:t>
              </a:r>
              <a:endParaRPr b="0" i="0" sz="111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g3f534395cd3_1_40"/>
            <p:cNvSpPr/>
            <p:nvPr/>
          </p:nvSpPr>
          <p:spPr>
            <a:xfrm>
              <a:off x="4752205" y="4575892"/>
              <a:ext cx="557700" cy="2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075" lIns="27075" spcFirstLastPara="1" rIns="27075" wrap="square" tIns="270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9D9694"/>
                </a:buClr>
                <a:buSzPts val="1119"/>
                <a:buFont typeface="Arimo"/>
                <a:buNone/>
              </a:pPr>
              <a:r>
                <a:rPr b="0" i="0" lang="en-US" sz="1119" u="none" cap="none" strike="noStrike">
                  <a:solidFill>
                    <a:srgbClr val="9D9694"/>
                  </a:solidFill>
                  <a:latin typeface="Arimo"/>
                  <a:ea typeface="Arimo"/>
                  <a:cs typeface="Arimo"/>
                  <a:sym typeface="Arimo"/>
                </a:rPr>
                <a:t>35.3%</a:t>
              </a:r>
              <a:endParaRPr b="0" i="0" sz="111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g3f534395cd3_1_40"/>
            <p:cNvSpPr/>
            <p:nvPr/>
          </p:nvSpPr>
          <p:spPr>
            <a:xfrm>
              <a:off x="5423425" y="4575892"/>
              <a:ext cx="558000" cy="2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075" lIns="27075" spcFirstLastPara="1" rIns="27075" wrap="square" tIns="270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9D9694"/>
                </a:buClr>
                <a:buSzPts val="1119"/>
                <a:buFont typeface="Arimo"/>
                <a:buNone/>
              </a:pPr>
              <a:r>
                <a:rPr b="0" i="0" lang="en-US" sz="1119" u="none" cap="none" strike="noStrike">
                  <a:solidFill>
                    <a:srgbClr val="9D9694"/>
                  </a:solidFill>
                  <a:latin typeface="Arimo"/>
                  <a:ea typeface="Arimo"/>
                  <a:cs typeface="Arimo"/>
                  <a:sym typeface="Arimo"/>
                </a:rPr>
                <a:t>100%</a:t>
              </a:r>
              <a:endParaRPr b="0" i="0" sz="111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g3f534395cd3_1_40"/>
            <p:cNvSpPr/>
            <p:nvPr/>
          </p:nvSpPr>
          <p:spPr>
            <a:xfrm>
              <a:off x="533408" y="4987748"/>
              <a:ext cx="5523600" cy="59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075" lIns="27075" spcFirstLastPara="1" rIns="27075" wrap="square" tIns="27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5585F"/>
                </a:buClr>
                <a:buSzPts val="1119"/>
                <a:buFont typeface="Arimo"/>
                <a:buNone/>
              </a:pPr>
              <a:r>
                <a:rPr b="1" i="0" lang="en-US" sz="1419" u="none" cap="none" strike="noStrike">
                  <a:solidFill>
                    <a:srgbClr val="55585F"/>
                  </a:solidFill>
                  <a:latin typeface="Arimo"/>
                  <a:ea typeface="Arimo"/>
                  <a:cs typeface="Arimo"/>
                  <a:sym typeface="Arimo"/>
                </a:rPr>
                <a:t>Why exclude None</a:t>
              </a:r>
              <a:r>
                <a:rPr b="1" lang="en-US" sz="1419">
                  <a:solidFill>
                    <a:srgbClr val="55585F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br>
                <a:rPr b="1" i="0" lang="en-US" sz="1119" u="none" cap="none" strike="noStrike">
                  <a:solidFill>
                    <a:srgbClr val="55585F"/>
                  </a:solidFill>
                  <a:latin typeface="Arimo"/>
                  <a:ea typeface="Arimo"/>
                  <a:cs typeface="Arimo"/>
                  <a:sym typeface="Arimo"/>
                </a:rPr>
              </a:br>
              <a:r>
                <a:rPr b="0" i="0" lang="en-US" sz="1119" u="none" cap="none" strike="noStrike">
                  <a:solidFill>
                    <a:srgbClr val="55585F"/>
                  </a:solidFill>
                  <a:latin typeface="Arimo"/>
                  <a:ea typeface="Arimo"/>
                  <a:cs typeface="Arimo"/>
                  <a:sym typeface="Arimo"/>
                </a:rPr>
                <a:t>reduce the dominance of the no-injury class and distinguish severity </a:t>
              </a:r>
              <a:r>
                <a:rPr b="0" i="1" lang="en-US" sz="1119" u="none" cap="none" strike="noStrike">
                  <a:solidFill>
                    <a:srgbClr val="55585F"/>
                  </a:solidFill>
                  <a:latin typeface="Arimo"/>
                  <a:ea typeface="Arimo"/>
                  <a:cs typeface="Arimo"/>
                  <a:sym typeface="Arimo"/>
                </a:rPr>
                <a:t>within </a:t>
              </a:r>
              <a:r>
                <a:rPr b="0" i="0" lang="en-US" sz="1119" u="none" cap="none" strike="noStrike">
                  <a:solidFill>
                    <a:srgbClr val="55585F"/>
                  </a:solidFill>
                  <a:latin typeface="Arimo"/>
                  <a:ea typeface="Arimo"/>
                  <a:cs typeface="Arimo"/>
                  <a:sym typeface="Arimo"/>
                </a:rPr>
                <a:t>injury-producing accidents.</a:t>
              </a:r>
              <a:endParaRPr b="0" i="0" sz="111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2" name="Google Shape;732;g3f534395cd3_1_40"/>
          <p:cNvSpPr/>
          <p:nvPr/>
        </p:nvSpPr>
        <p:spPr>
          <a:xfrm>
            <a:off x="533400" y="6372225"/>
            <a:ext cx="11125200" cy="9600"/>
          </a:xfrm>
          <a:prstGeom prst="rect">
            <a:avLst/>
          </a:prstGeom>
          <a:solidFill>
            <a:srgbClr val="DAD7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g3f534395cd3_1_40"/>
          <p:cNvSpPr/>
          <p:nvPr/>
        </p:nvSpPr>
        <p:spPr>
          <a:xfrm>
            <a:off x="533400" y="6457950"/>
            <a:ext cx="2782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i="0" lang="en-US" sz="788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PREDICTING AVIATION ACCIDENT SEVERITY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g3f534395cd3_1_40"/>
          <p:cNvSpPr/>
          <p:nvPr/>
        </p:nvSpPr>
        <p:spPr>
          <a:xfrm>
            <a:off x="11527334" y="6457950"/>
            <a:ext cx="207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i="0" lang="en-US" sz="788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24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5" name="Google Shape;735;g3f534395cd3_1_40"/>
          <p:cNvGrpSpPr/>
          <p:nvPr/>
        </p:nvGrpSpPr>
        <p:grpSpPr>
          <a:xfrm>
            <a:off x="2012434" y="2571164"/>
            <a:ext cx="1976630" cy="426448"/>
            <a:chOff x="6477000" y="3000375"/>
            <a:chExt cx="2190900" cy="285900"/>
          </a:xfrm>
        </p:grpSpPr>
        <p:sp>
          <p:nvSpPr>
            <p:cNvPr id="736" name="Google Shape;736;g3f534395cd3_1_40"/>
            <p:cNvSpPr/>
            <p:nvPr/>
          </p:nvSpPr>
          <p:spPr>
            <a:xfrm>
              <a:off x="6477000" y="3000375"/>
              <a:ext cx="2190900" cy="285900"/>
            </a:xfrm>
            <a:prstGeom prst="roundRect">
              <a:avLst>
                <a:gd fmla="val 40000" name="adj"/>
              </a:avLst>
            </a:prstGeom>
            <a:solidFill>
              <a:srgbClr val="CFB99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g3f534395cd3_1_40"/>
            <p:cNvSpPr txBox="1"/>
            <p:nvPr/>
          </p:nvSpPr>
          <p:spPr>
            <a:xfrm>
              <a:off x="6619875" y="3051846"/>
              <a:ext cx="1905000" cy="190500"/>
            </a:xfrm>
            <a:prstGeom prst="rect">
              <a:avLst/>
            </a:prstGeom>
            <a:solidFill>
              <a:srgbClr val="CFB99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4 Class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38" name="Google Shape;738;g3f534395cd3_1_40"/>
          <p:cNvGrpSpPr/>
          <p:nvPr/>
        </p:nvGrpSpPr>
        <p:grpSpPr>
          <a:xfrm>
            <a:off x="2012434" y="3357994"/>
            <a:ext cx="1976630" cy="426448"/>
            <a:chOff x="6477000" y="3000375"/>
            <a:chExt cx="2190900" cy="285900"/>
          </a:xfrm>
        </p:grpSpPr>
        <p:sp>
          <p:nvSpPr>
            <p:cNvPr id="739" name="Google Shape;739;g3f534395cd3_1_40"/>
            <p:cNvSpPr/>
            <p:nvPr/>
          </p:nvSpPr>
          <p:spPr>
            <a:xfrm>
              <a:off x="6477000" y="3000375"/>
              <a:ext cx="2190900" cy="285900"/>
            </a:xfrm>
            <a:prstGeom prst="roundRect">
              <a:avLst>
                <a:gd fmla="val 40000" name="adj"/>
              </a:avLst>
            </a:prstGeom>
            <a:solidFill>
              <a:srgbClr val="8E3E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g3f534395cd3_1_40"/>
            <p:cNvSpPr txBox="1"/>
            <p:nvPr/>
          </p:nvSpPr>
          <p:spPr>
            <a:xfrm>
              <a:off x="6619875" y="3051846"/>
              <a:ext cx="1905000" cy="190500"/>
            </a:xfrm>
            <a:prstGeom prst="rect">
              <a:avLst/>
            </a:prstGeom>
            <a:solidFill>
              <a:srgbClr val="8E3E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Exclude None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41" name="Google Shape;741;g3f534395cd3_1_40"/>
          <p:cNvGrpSpPr/>
          <p:nvPr/>
        </p:nvGrpSpPr>
        <p:grpSpPr>
          <a:xfrm>
            <a:off x="2012434" y="4144825"/>
            <a:ext cx="1976630" cy="426448"/>
            <a:chOff x="6477000" y="3000375"/>
            <a:chExt cx="2190900" cy="285900"/>
          </a:xfrm>
        </p:grpSpPr>
        <p:sp>
          <p:nvSpPr>
            <p:cNvPr id="742" name="Google Shape;742;g3f534395cd3_1_40"/>
            <p:cNvSpPr/>
            <p:nvPr/>
          </p:nvSpPr>
          <p:spPr>
            <a:xfrm>
              <a:off x="6477000" y="3000375"/>
              <a:ext cx="2190900" cy="285900"/>
            </a:xfrm>
            <a:prstGeom prst="roundRect">
              <a:avLst>
                <a:gd fmla="val 40000" name="adj"/>
              </a:avLst>
            </a:prstGeom>
            <a:solidFill>
              <a:srgbClr val="8E6F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g3f534395cd3_1_40"/>
            <p:cNvSpPr txBox="1"/>
            <p:nvPr/>
          </p:nvSpPr>
          <p:spPr>
            <a:xfrm>
              <a:off x="6619875" y="3051846"/>
              <a:ext cx="1905000" cy="190500"/>
            </a:xfrm>
            <a:prstGeom prst="rect">
              <a:avLst/>
            </a:prstGeom>
            <a:solidFill>
              <a:srgbClr val="8E6F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3 Class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44" name="Google Shape;744;g3f534395cd3_1_40"/>
          <p:cNvGrpSpPr/>
          <p:nvPr/>
        </p:nvGrpSpPr>
        <p:grpSpPr>
          <a:xfrm>
            <a:off x="2012434" y="4931638"/>
            <a:ext cx="1976630" cy="426448"/>
            <a:chOff x="6477000" y="3000375"/>
            <a:chExt cx="2190900" cy="285900"/>
          </a:xfrm>
        </p:grpSpPr>
        <p:sp>
          <p:nvSpPr>
            <p:cNvPr id="745" name="Google Shape;745;g3f534395cd3_1_40"/>
            <p:cNvSpPr/>
            <p:nvPr/>
          </p:nvSpPr>
          <p:spPr>
            <a:xfrm>
              <a:off x="6477000" y="3000375"/>
              <a:ext cx="2190900" cy="285900"/>
            </a:xfrm>
            <a:prstGeom prst="roundRect">
              <a:avLst>
                <a:gd fmla="val 40000" name="adj"/>
              </a:avLst>
            </a:prstGeom>
            <a:solidFill>
              <a:srgbClr val="8E3E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g3f534395cd3_1_40"/>
            <p:cNvSpPr txBox="1"/>
            <p:nvPr/>
          </p:nvSpPr>
          <p:spPr>
            <a:xfrm>
              <a:off x="6619875" y="3051846"/>
              <a:ext cx="1905000" cy="190500"/>
            </a:xfrm>
            <a:prstGeom prst="rect">
              <a:avLst/>
            </a:prstGeom>
            <a:solidFill>
              <a:srgbClr val="8E3E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Merge Minor + Serious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747" name="Google Shape;747;g3f534395cd3_1_40"/>
          <p:cNvCxnSpPr>
            <a:endCxn id="739" idx="0"/>
          </p:cNvCxnSpPr>
          <p:nvPr/>
        </p:nvCxnSpPr>
        <p:spPr>
          <a:xfrm>
            <a:off x="3000749" y="2997694"/>
            <a:ext cx="0" cy="3603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8" name="Google Shape;748;g3f534395cd3_1_40"/>
          <p:cNvCxnSpPr>
            <a:endCxn id="742" idx="0"/>
          </p:cNvCxnSpPr>
          <p:nvPr/>
        </p:nvCxnSpPr>
        <p:spPr>
          <a:xfrm>
            <a:off x="3000749" y="3784525"/>
            <a:ext cx="0" cy="3603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9" name="Google Shape;749;g3f534395cd3_1_40"/>
          <p:cNvCxnSpPr>
            <a:endCxn id="745" idx="0"/>
          </p:cNvCxnSpPr>
          <p:nvPr/>
        </p:nvCxnSpPr>
        <p:spPr>
          <a:xfrm>
            <a:off x="3000749" y="4571338"/>
            <a:ext cx="0" cy="3603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0" name="Google Shape;750;g3f534395cd3_1_40"/>
          <p:cNvCxnSpPr>
            <a:stCxn id="736" idx="3"/>
            <a:endCxn id="742" idx="3"/>
          </p:cNvCxnSpPr>
          <p:nvPr/>
        </p:nvCxnSpPr>
        <p:spPr>
          <a:xfrm>
            <a:off x="3989064" y="2784388"/>
            <a:ext cx="600" cy="1573800"/>
          </a:xfrm>
          <a:prstGeom prst="bentConnector3">
            <a:avLst>
              <a:gd fmla="val 59532738" name="adj1"/>
            </a:avLst>
          </a:prstGeom>
          <a:noFill/>
          <a:ln cap="flat" cmpd="sng" w="127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51" name="Google Shape;751;g3f534395cd3_1_40"/>
          <p:cNvGrpSpPr/>
          <p:nvPr/>
        </p:nvGrpSpPr>
        <p:grpSpPr>
          <a:xfrm>
            <a:off x="458039" y="2972309"/>
            <a:ext cx="1483239" cy="320008"/>
            <a:chOff x="6477000" y="3000375"/>
            <a:chExt cx="2190900" cy="285900"/>
          </a:xfrm>
        </p:grpSpPr>
        <p:sp>
          <p:nvSpPr>
            <p:cNvPr id="752" name="Google Shape;752;g3f534395cd3_1_40"/>
            <p:cNvSpPr/>
            <p:nvPr/>
          </p:nvSpPr>
          <p:spPr>
            <a:xfrm>
              <a:off x="6477000" y="3000375"/>
              <a:ext cx="2190900" cy="285900"/>
            </a:xfrm>
            <a:prstGeom prst="roundRect">
              <a:avLst>
                <a:gd fmla="val 40000" name="adj"/>
              </a:avLst>
            </a:prstGeom>
            <a:solidFill>
              <a:srgbClr val="8080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g3f534395cd3_1_40"/>
            <p:cNvSpPr txBox="1"/>
            <p:nvPr/>
          </p:nvSpPr>
          <p:spPr>
            <a:xfrm>
              <a:off x="6619875" y="3046789"/>
              <a:ext cx="1905000" cy="19050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None dominance</a:t>
              </a:r>
              <a:endParaRPr b="1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754" name="Google Shape;754;g3f534395cd3_1_40"/>
          <p:cNvCxnSpPr>
            <a:stCxn id="752" idx="3"/>
          </p:cNvCxnSpPr>
          <p:nvPr/>
        </p:nvCxnSpPr>
        <p:spPr>
          <a:xfrm>
            <a:off x="1941279" y="3132313"/>
            <a:ext cx="1012500" cy="15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grpSp>
        <p:nvGrpSpPr>
          <p:cNvPr id="755" name="Google Shape;755;g3f534395cd3_1_40"/>
          <p:cNvGrpSpPr/>
          <p:nvPr/>
        </p:nvGrpSpPr>
        <p:grpSpPr>
          <a:xfrm>
            <a:off x="458039" y="4552879"/>
            <a:ext cx="1483239" cy="320008"/>
            <a:chOff x="6477000" y="3000375"/>
            <a:chExt cx="2190900" cy="285900"/>
          </a:xfrm>
        </p:grpSpPr>
        <p:sp>
          <p:nvSpPr>
            <p:cNvPr id="756" name="Google Shape;756;g3f534395cd3_1_40"/>
            <p:cNvSpPr/>
            <p:nvPr/>
          </p:nvSpPr>
          <p:spPr>
            <a:xfrm>
              <a:off x="6477000" y="3000375"/>
              <a:ext cx="2190900" cy="285900"/>
            </a:xfrm>
            <a:prstGeom prst="roundRect">
              <a:avLst>
                <a:gd fmla="val 40000" name="adj"/>
              </a:avLst>
            </a:prstGeom>
            <a:solidFill>
              <a:srgbClr val="808080"/>
            </a:solidFill>
            <a:ln cap="flat" cmpd="sng" w="9525">
              <a:solidFill>
                <a:srgbClr val="6F727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g3f534395cd3_1_40"/>
            <p:cNvSpPr txBox="1"/>
            <p:nvPr/>
          </p:nvSpPr>
          <p:spPr>
            <a:xfrm>
              <a:off x="6619875" y="3057800"/>
              <a:ext cx="1905000" cy="190500"/>
            </a:xfrm>
            <a:prstGeom prst="rect">
              <a:avLst/>
            </a:prstGeom>
            <a:solidFill>
              <a:srgbClr val="80808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Minor Serious Confusion</a:t>
              </a:r>
              <a:endParaRPr b="1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758" name="Google Shape;758;g3f534395cd3_1_40"/>
          <p:cNvCxnSpPr>
            <a:stCxn id="756" idx="3"/>
          </p:cNvCxnSpPr>
          <p:nvPr/>
        </p:nvCxnSpPr>
        <p:spPr>
          <a:xfrm>
            <a:off x="1941279" y="4712883"/>
            <a:ext cx="1012500" cy="15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grpSp>
        <p:nvGrpSpPr>
          <p:cNvPr id="759" name="Google Shape;759;g3f534395cd3_1_40"/>
          <p:cNvGrpSpPr/>
          <p:nvPr/>
        </p:nvGrpSpPr>
        <p:grpSpPr>
          <a:xfrm>
            <a:off x="2012417" y="5641554"/>
            <a:ext cx="1976630" cy="426448"/>
            <a:chOff x="6477000" y="3000375"/>
            <a:chExt cx="2190900" cy="285900"/>
          </a:xfrm>
        </p:grpSpPr>
        <p:sp>
          <p:nvSpPr>
            <p:cNvPr id="760" name="Google Shape;760;g3f534395cd3_1_40"/>
            <p:cNvSpPr/>
            <p:nvPr/>
          </p:nvSpPr>
          <p:spPr>
            <a:xfrm>
              <a:off x="6477000" y="3000375"/>
              <a:ext cx="2190900" cy="285900"/>
            </a:xfrm>
            <a:prstGeom prst="roundRect">
              <a:avLst>
                <a:gd fmla="val 40000" name="adj"/>
              </a:avLst>
            </a:prstGeom>
            <a:solidFill>
              <a:srgbClr val="1A365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g3f534395cd3_1_40"/>
            <p:cNvSpPr txBox="1"/>
            <p:nvPr/>
          </p:nvSpPr>
          <p:spPr>
            <a:xfrm>
              <a:off x="6619875" y="3051846"/>
              <a:ext cx="1905000" cy="1905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Binary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762" name="Google Shape;762;g3f534395cd3_1_40"/>
          <p:cNvCxnSpPr>
            <a:stCxn id="745" idx="2"/>
            <a:endCxn id="760" idx="0"/>
          </p:cNvCxnSpPr>
          <p:nvPr/>
        </p:nvCxnSpPr>
        <p:spPr>
          <a:xfrm>
            <a:off x="3000749" y="5358087"/>
            <a:ext cx="0" cy="2835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3" name="Google Shape;763;g3f534395cd3_1_40"/>
          <p:cNvCxnSpPr>
            <a:stCxn id="739" idx="3"/>
          </p:cNvCxnSpPr>
          <p:nvPr/>
        </p:nvCxnSpPr>
        <p:spPr>
          <a:xfrm>
            <a:off x="3989064" y="3571219"/>
            <a:ext cx="861900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69" name="Google Shape;76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6789" y="361950"/>
            <a:ext cx="1271811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25"/>
          <p:cNvSpPr/>
          <p:nvPr/>
        </p:nvSpPr>
        <p:spPr>
          <a:xfrm>
            <a:off x="533400" y="495300"/>
            <a:ext cx="12237720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975"/>
              <a:buFont typeface="Arimo"/>
              <a:buNone/>
            </a:pPr>
            <a:r>
              <a:rPr b="1" i="0" lang="en-US" sz="975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APPENDIX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5"/>
          <p:cNvSpPr/>
          <p:nvPr/>
        </p:nvSpPr>
        <p:spPr>
          <a:xfrm>
            <a:off x="533400" y="700088"/>
            <a:ext cx="1223772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mo"/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Target Redefinition</a:t>
            </a:r>
            <a:r>
              <a:rPr lang="en-US" sz="30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3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II</a:t>
            </a:r>
            <a:r>
              <a:rPr i="0" lang="en-US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3-Class → Binary </a:t>
            </a:r>
            <a:r>
              <a:rPr lang="en-US" sz="3000">
                <a:latin typeface="Helvetica Neue"/>
                <a:ea typeface="Helvetica Neue"/>
                <a:cs typeface="Helvetica Neue"/>
                <a:sym typeface="Helvetica Neue"/>
              </a:rPr>
              <a:t>(in Text)</a:t>
            </a:r>
            <a:endParaRPr i="0" sz="3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2" name="Google Shape;772;p25"/>
          <p:cNvSpPr/>
          <p:nvPr/>
        </p:nvSpPr>
        <p:spPr>
          <a:xfrm>
            <a:off x="533400" y="1331651"/>
            <a:ext cx="105957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1125"/>
              <a:buFont typeface="Arimo"/>
              <a:buNone/>
            </a:pPr>
            <a:r>
              <a:rPr i="0" lang="en-US" sz="1125" u="none" cap="none" strike="noStrike">
                <a:solidFill>
                  <a:srgbClr val="5558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3-class experiments showed persistent </a:t>
            </a:r>
            <a:r>
              <a:rPr b="1" i="0" lang="en-US" sz="1125" u="none" cap="none" strike="noStrike">
                <a:solidFill>
                  <a:srgbClr val="5558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Minor–Serious confusion : </a:t>
            </a:r>
            <a:br>
              <a:rPr i="0" lang="en-US" sz="1125" u="none" cap="none" strike="noStrike">
                <a:solidFill>
                  <a:srgbClr val="55585F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i="0" lang="en-US" sz="1125" u="none" cap="none" strike="noStrike">
                <a:solidFill>
                  <a:srgbClr val="5558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raising one class's recall lowered the other's recall and Macro-F1. Merging Minor and Serious into </a:t>
            </a:r>
            <a:r>
              <a:rPr b="1" i="0" lang="en-US" sz="1125" u="none" cap="none" strike="noStrike">
                <a:solidFill>
                  <a:srgbClr val="5558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Non-Fatal</a:t>
            </a:r>
            <a:r>
              <a:rPr i="0" lang="en-US" sz="1125" u="none" cap="none" strike="noStrike">
                <a:solidFill>
                  <a:srgbClr val="5558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yields the final binary target.</a:t>
            </a:r>
            <a:endParaRPr i="0" sz="112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3" name="Google Shape;773;p25"/>
          <p:cNvSpPr/>
          <p:nvPr/>
        </p:nvSpPr>
        <p:spPr>
          <a:xfrm>
            <a:off x="5538958" y="2329676"/>
            <a:ext cx="5496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900"/>
              <a:buFont typeface="Arimo"/>
              <a:buNone/>
            </a:pPr>
            <a:r>
              <a:rPr b="1" i="0" lang="en-US" sz="1000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TABLE 1 · TEXT 3-CLASS CONFUSION MATRIX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5"/>
          <p:cNvSpPr/>
          <p:nvPr/>
        </p:nvSpPr>
        <p:spPr>
          <a:xfrm>
            <a:off x="5538958" y="2549580"/>
            <a:ext cx="4997400" cy="30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25"/>
          <p:cNvSpPr/>
          <p:nvPr/>
        </p:nvSpPr>
        <p:spPr>
          <a:xfrm>
            <a:off x="5615158" y="2606140"/>
            <a:ext cx="1674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mo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ACTUAL ＼ PRED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5"/>
          <p:cNvSpPr/>
          <p:nvPr/>
        </p:nvSpPr>
        <p:spPr>
          <a:xfrm>
            <a:off x="7327128" y="2606140"/>
            <a:ext cx="663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mo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Minor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5"/>
          <p:cNvSpPr/>
          <p:nvPr/>
        </p:nvSpPr>
        <p:spPr>
          <a:xfrm>
            <a:off x="8066878" y="2606140"/>
            <a:ext cx="831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mo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Serious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5"/>
          <p:cNvSpPr/>
          <p:nvPr/>
        </p:nvSpPr>
        <p:spPr>
          <a:xfrm>
            <a:off x="8974134" y="2606140"/>
            <a:ext cx="594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mo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Fatal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5"/>
          <p:cNvSpPr/>
          <p:nvPr/>
        </p:nvSpPr>
        <p:spPr>
          <a:xfrm>
            <a:off x="9645200" y="2606140"/>
            <a:ext cx="852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mo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Recall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5"/>
          <p:cNvSpPr/>
          <p:nvPr/>
        </p:nvSpPr>
        <p:spPr>
          <a:xfrm>
            <a:off x="5538958" y="3173467"/>
            <a:ext cx="4997400" cy="9600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25"/>
          <p:cNvSpPr/>
          <p:nvPr/>
        </p:nvSpPr>
        <p:spPr>
          <a:xfrm>
            <a:off x="5624683" y="2920465"/>
            <a:ext cx="16548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mo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Minor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5"/>
          <p:cNvSpPr/>
          <p:nvPr/>
        </p:nvSpPr>
        <p:spPr>
          <a:xfrm>
            <a:off x="7289028" y="2854380"/>
            <a:ext cx="739800" cy="328500"/>
          </a:xfrm>
          <a:prstGeom prst="rect">
            <a:avLst/>
          </a:prstGeom>
          <a:solidFill>
            <a:srgbClr val="F5EE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25"/>
          <p:cNvSpPr/>
          <p:nvPr/>
        </p:nvSpPr>
        <p:spPr>
          <a:xfrm>
            <a:off x="7336653" y="2920465"/>
            <a:ext cx="6444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mo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59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5"/>
          <p:cNvSpPr/>
          <p:nvPr/>
        </p:nvSpPr>
        <p:spPr>
          <a:xfrm>
            <a:off x="8076403" y="2920465"/>
            <a:ext cx="8121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mo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5"/>
          <p:cNvSpPr/>
          <p:nvPr/>
        </p:nvSpPr>
        <p:spPr>
          <a:xfrm>
            <a:off x="8983659" y="2920465"/>
            <a:ext cx="5757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mo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5"/>
          <p:cNvSpPr/>
          <p:nvPr/>
        </p:nvSpPr>
        <p:spPr>
          <a:xfrm>
            <a:off x="9654725" y="2920465"/>
            <a:ext cx="8340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1050"/>
              <a:buFont typeface="Arimo"/>
              <a:buNone/>
            </a:pPr>
            <a:r>
              <a:rPr b="1" i="0" lang="en-US" sz="1050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50.0%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5"/>
          <p:cNvSpPr/>
          <p:nvPr/>
        </p:nvSpPr>
        <p:spPr>
          <a:xfrm>
            <a:off x="5538958" y="3506842"/>
            <a:ext cx="4997400" cy="9600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25"/>
          <p:cNvSpPr/>
          <p:nvPr/>
        </p:nvSpPr>
        <p:spPr>
          <a:xfrm>
            <a:off x="5624683" y="3249077"/>
            <a:ext cx="1654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mo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Serious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5"/>
          <p:cNvSpPr/>
          <p:nvPr/>
        </p:nvSpPr>
        <p:spPr>
          <a:xfrm>
            <a:off x="7336653" y="3249077"/>
            <a:ext cx="644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mo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5"/>
          <p:cNvSpPr/>
          <p:nvPr/>
        </p:nvSpPr>
        <p:spPr>
          <a:xfrm>
            <a:off x="8028778" y="3182992"/>
            <a:ext cx="907200" cy="333300"/>
          </a:xfrm>
          <a:prstGeom prst="rect">
            <a:avLst/>
          </a:prstGeom>
          <a:solidFill>
            <a:srgbClr val="F5EE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25"/>
          <p:cNvSpPr/>
          <p:nvPr/>
        </p:nvSpPr>
        <p:spPr>
          <a:xfrm>
            <a:off x="8076403" y="3249077"/>
            <a:ext cx="81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mo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5"/>
          <p:cNvSpPr/>
          <p:nvPr/>
        </p:nvSpPr>
        <p:spPr>
          <a:xfrm>
            <a:off x="8983659" y="3249077"/>
            <a:ext cx="575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mo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5"/>
          <p:cNvSpPr/>
          <p:nvPr/>
        </p:nvSpPr>
        <p:spPr>
          <a:xfrm>
            <a:off x="9654725" y="3249077"/>
            <a:ext cx="834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1050"/>
              <a:buFont typeface="Arimo"/>
              <a:buNone/>
            </a:pPr>
            <a:r>
              <a:rPr b="1" i="0" lang="en-US" sz="1050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40.7%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5"/>
          <p:cNvSpPr/>
          <p:nvPr/>
        </p:nvSpPr>
        <p:spPr>
          <a:xfrm>
            <a:off x="5538958" y="3835455"/>
            <a:ext cx="4997400" cy="192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25"/>
          <p:cNvSpPr/>
          <p:nvPr/>
        </p:nvSpPr>
        <p:spPr>
          <a:xfrm>
            <a:off x="5624683" y="3582452"/>
            <a:ext cx="16548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mo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Fatal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5"/>
          <p:cNvSpPr/>
          <p:nvPr/>
        </p:nvSpPr>
        <p:spPr>
          <a:xfrm>
            <a:off x="7336653" y="3582452"/>
            <a:ext cx="6444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mo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5"/>
          <p:cNvSpPr/>
          <p:nvPr/>
        </p:nvSpPr>
        <p:spPr>
          <a:xfrm>
            <a:off x="8076403" y="3582452"/>
            <a:ext cx="8121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mo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5"/>
          <p:cNvSpPr/>
          <p:nvPr/>
        </p:nvSpPr>
        <p:spPr>
          <a:xfrm>
            <a:off x="8936033" y="3516361"/>
            <a:ext cx="671100" cy="319200"/>
          </a:xfrm>
          <a:prstGeom prst="rect">
            <a:avLst/>
          </a:prstGeom>
          <a:solidFill>
            <a:srgbClr val="F5EE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25"/>
          <p:cNvSpPr/>
          <p:nvPr/>
        </p:nvSpPr>
        <p:spPr>
          <a:xfrm>
            <a:off x="8983659" y="3582452"/>
            <a:ext cx="5757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mo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81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5"/>
          <p:cNvSpPr/>
          <p:nvPr/>
        </p:nvSpPr>
        <p:spPr>
          <a:xfrm>
            <a:off x="9654725" y="3582452"/>
            <a:ext cx="8340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1050"/>
              <a:buFont typeface="Arimo"/>
              <a:buNone/>
            </a:pPr>
            <a:r>
              <a:rPr b="1" i="0" lang="en-US" sz="1050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72.3%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5"/>
          <p:cNvSpPr/>
          <p:nvPr/>
        </p:nvSpPr>
        <p:spPr>
          <a:xfrm>
            <a:off x="5538959" y="4007011"/>
            <a:ext cx="6321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900"/>
              <a:buFont typeface="Arimo"/>
              <a:buNone/>
            </a:pPr>
            <a:r>
              <a:rPr b="1" i="0" lang="en-US" sz="1000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TABLE 2 · MINOR–SERIOUS RECALL TRADE-OFF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5"/>
          <p:cNvSpPr/>
          <p:nvPr/>
        </p:nvSpPr>
        <p:spPr>
          <a:xfrm>
            <a:off x="5538959" y="4226914"/>
            <a:ext cx="5746800" cy="276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25"/>
          <p:cNvSpPr/>
          <p:nvPr/>
        </p:nvSpPr>
        <p:spPr>
          <a:xfrm>
            <a:off x="5634209" y="4283475"/>
            <a:ext cx="16899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mo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SETTING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25"/>
          <p:cNvSpPr/>
          <p:nvPr/>
        </p:nvSpPr>
        <p:spPr>
          <a:xfrm>
            <a:off x="7362178" y="4283475"/>
            <a:ext cx="888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mo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Minor R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25"/>
          <p:cNvSpPr/>
          <p:nvPr/>
        </p:nvSpPr>
        <p:spPr>
          <a:xfrm>
            <a:off x="8365131" y="4283475"/>
            <a:ext cx="888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mo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Serious R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25"/>
          <p:cNvSpPr/>
          <p:nvPr/>
        </p:nvSpPr>
        <p:spPr>
          <a:xfrm>
            <a:off x="9368084" y="4283475"/>
            <a:ext cx="8778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mo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Fatal R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5"/>
          <p:cNvSpPr/>
          <p:nvPr/>
        </p:nvSpPr>
        <p:spPr>
          <a:xfrm>
            <a:off x="10360321" y="4283475"/>
            <a:ext cx="8304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mo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Macro F1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25"/>
          <p:cNvSpPr/>
          <p:nvPr/>
        </p:nvSpPr>
        <p:spPr>
          <a:xfrm>
            <a:off x="5538959" y="4822227"/>
            <a:ext cx="5746800" cy="9600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25"/>
          <p:cNvSpPr/>
          <p:nvPr/>
        </p:nvSpPr>
        <p:spPr>
          <a:xfrm>
            <a:off x="5634209" y="4569225"/>
            <a:ext cx="16899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mo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OVR Argmax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25"/>
          <p:cNvSpPr/>
          <p:nvPr/>
        </p:nvSpPr>
        <p:spPr>
          <a:xfrm>
            <a:off x="7362178" y="4569225"/>
            <a:ext cx="8886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mo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50.0%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5"/>
          <p:cNvSpPr/>
          <p:nvPr/>
        </p:nvSpPr>
        <p:spPr>
          <a:xfrm>
            <a:off x="8365131" y="4569225"/>
            <a:ext cx="8886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mo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37.4%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5"/>
          <p:cNvSpPr/>
          <p:nvPr/>
        </p:nvSpPr>
        <p:spPr>
          <a:xfrm>
            <a:off x="9368084" y="4569225"/>
            <a:ext cx="8778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mo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67.9%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5"/>
          <p:cNvSpPr/>
          <p:nvPr/>
        </p:nvSpPr>
        <p:spPr>
          <a:xfrm>
            <a:off x="10360321" y="4569225"/>
            <a:ext cx="8304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mo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52.0%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25"/>
          <p:cNvSpPr/>
          <p:nvPr/>
        </p:nvSpPr>
        <p:spPr>
          <a:xfrm>
            <a:off x="5538959" y="5155602"/>
            <a:ext cx="5746800" cy="9600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25"/>
          <p:cNvSpPr/>
          <p:nvPr/>
        </p:nvSpPr>
        <p:spPr>
          <a:xfrm>
            <a:off x="5634209" y="4897838"/>
            <a:ext cx="1689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mo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Serious weight </a:t>
            </a:r>
            <a:r>
              <a:rPr b="1" i="0" lang="en-US" sz="165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↑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25"/>
          <p:cNvSpPr/>
          <p:nvPr/>
        </p:nvSpPr>
        <p:spPr>
          <a:xfrm>
            <a:off x="7362178" y="4897838"/>
            <a:ext cx="888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mo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13.6%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5"/>
          <p:cNvSpPr/>
          <p:nvPr/>
        </p:nvSpPr>
        <p:spPr>
          <a:xfrm>
            <a:off x="8365131" y="4897838"/>
            <a:ext cx="888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mo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67.0%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5"/>
          <p:cNvSpPr/>
          <p:nvPr/>
        </p:nvSpPr>
        <p:spPr>
          <a:xfrm>
            <a:off x="9368084" y="4897838"/>
            <a:ext cx="877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mo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79.5%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5"/>
          <p:cNvSpPr/>
          <p:nvPr/>
        </p:nvSpPr>
        <p:spPr>
          <a:xfrm>
            <a:off x="10360321" y="4897838"/>
            <a:ext cx="830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mo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47.4%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25"/>
          <p:cNvSpPr/>
          <p:nvPr/>
        </p:nvSpPr>
        <p:spPr>
          <a:xfrm>
            <a:off x="5538959" y="5484214"/>
            <a:ext cx="5746800" cy="192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25"/>
          <p:cNvSpPr/>
          <p:nvPr/>
        </p:nvSpPr>
        <p:spPr>
          <a:xfrm>
            <a:off x="5634209" y="5231213"/>
            <a:ext cx="16899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1050"/>
              <a:buFont typeface="Arimo"/>
              <a:buNone/>
            </a:pPr>
            <a:r>
              <a:rPr b="1" i="0" lang="en-US" sz="1050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Change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5"/>
          <p:cNvSpPr/>
          <p:nvPr/>
        </p:nvSpPr>
        <p:spPr>
          <a:xfrm>
            <a:off x="7362178" y="5231213"/>
            <a:ext cx="8886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1050"/>
              <a:buFont typeface="Arimo"/>
              <a:buNone/>
            </a:pPr>
            <a:r>
              <a:rPr b="1" i="0" lang="en-US" sz="1050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−36.4pp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5"/>
          <p:cNvSpPr/>
          <p:nvPr/>
        </p:nvSpPr>
        <p:spPr>
          <a:xfrm>
            <a:off x="8365131" y="5231213"/>
            <a:ext cx="8886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1050"/>
              <a:buFont typeface="Arimo"/>
              <a:buNone/>
            </a:pPr>
            <a:r>
              <a:rPr b="1" i="0" lang="en-US" sz="1050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+29.6pp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25"/>
          <p:cNvSpPr/>
          <p:nvPr/>
        </p:nvSpPr>
        <p:spPr>
          <a:xfrm>
            <a:off x="9368084" y="5231213"/>
            <a:ext cx="8778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1050"/>
              <a:buFont typeface="Arimo"/>
              <a:buNone/>
            </a:pPr>
            <a:r>
              <a:rPr b="1" i="0" lang="en-US" sz="1050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+11.6pp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25"/>
          <p:cNvSpPr/>
          <p:nvPr/>
        </p:nvSpPr>
        <p:spPr>
          <a:xfrm>
            <a:off x="10360321" y="5231213"/>
            <a:ext cx="8304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1050"/>
              <a:buFont typeface="Arimo"/>
              <a:buNone/>
            </a:pPr>
            <a:r>
              <a:rPr b="1" i="0" lang="en-US" sz="1050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−4.6pp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25"/>
          <p:cNvSpPr/>
          <p:nvPr/>
        </p:nvSpPr>
        <p:spPr>
          <a:xfrm>
            <a:off x="5538959" y="5646139"/>
            <a:ext cx="59193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645"/>
              </a:lnSpc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1013"/>
              <a:buFont typeface="Arimo"/>
              <a:buNone/>
            </a:pPr>
            <a:r>
              <a:rPr b="0" i="0" lang="en-US" sz="1013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Boosting Serious recall collapses Minor recall and reduces Macro-F1 </a:t>
            </a:r>
            <a:br>
              <a:rPr b="0" i="0" lang="en-US" sz="1013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</a:br>
            <a:r>
              <a:rPr b="0" i="0" lang="en-US" sz="1013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— the two classes cannot be separated stably, motivating the binary merge.</a:t>
            </a:r>
            <a:endParaRPr b="0" i="0" sz="10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25"/>
          <p:cNvSpPr/>
          <p:nvPr/>
        </p:nvSpPr>
        <p:spPr>
          <a:xfrm>
            <a:off x="533400" y="6372225"/>
            <a:ext cx="11125200" cy="9525"/>
          </a:xfrm>
          <a:prstGeom prst="rect">
            <a:avLst/>
          </a:prstGeom>
          <a:solidFill>
            <a:srgbClr val="DAD7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25"/>
          <p:cNvSpPr/>
          <p:nvPr/>
        </p:nvSpPr>
        <p:spPr>
          <a:xfrm>
            <a:off x="533400" y="6457950"/>
            <a:ext cx="278275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i="0" lang="en-US" sz="788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PREDICTING AVIATION ACCIDENT SEVERITY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5"/>
          <p:cNvSpPr/>
          <p:nvPr/>
        </p:nvSpPr>
        <p:spPr>
          <a:xfrm>
            <a:off x="11527334" y="6457950"/>
            <a:ext cx="20746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i="0" lang="en-US" sz="788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25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30" name="Google Shape;830;p25"/>
          <p:cNvGrpSpPr/>
          <p:nvPr/>
        </p:nvGrpSpPr>
        <p:grpSpPr>
          <a:xfrm>
            <a:off x="2104020" y="2420581"/>
            <a:ext cx="1976630" cy="426448"/>
            <a:chOff x="6477000" y="3000375"/>
            <a:chExt cx="2190900" cy="285900"/>
          </a:xfrm>
        </p:grpSpPr>
        <p:sp>
          <p:nvSpPr>
            <p:cNvPr id="831" name="Google Shape;831;p25"/>
            <p:cNvSpPr/>
            <p:nvPr/>
          </p:nvSpPr>
          <p:spPr>
            <a:xfrm>
              <a:off x="6477000" y="3000375"/>
              <a:ext cx="2190900" cy="285900"/>
            </a:xfrm>
            <a:prstGeom prst="roundRect">
              <a:avLst>
                <a:gd fmla="val 40000" name="adj"/>
              </a:avLst>
            </a:prstGeom>
            <a:solidFill>
              <a:srgbClr val="CFB99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5"/>
            <p:cNvSpPr txBox="1"/>
            <p:nvPr/>
          </p:nvSpPr>
          <p:spPr>
            <a:xfrm>
              <a:off x="6619875" y="3051846"/>
              <a:ext cx="1905000" cy="190500"/>
            </a:xfrm>
            <a:prstGeom prst="rect">
              <a:avLst/>
            </a:prstGeom>
            <a:solidFill>
              <a:srgbClr val="CFB99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4 Class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33" name="Google Shape;833;p25"/>
          <p:cNvGrpSpPr/>
          <p:nvPr/>
        </p:nvGrpSpPr>
        <p:grpSpPr>
          <a:xfrm>
            <a:off x="2104020" y="3207411"/>
            <a:ext cx="1976630" cy="426448"/>
            <a:chOff x="6477000" y="3000375"/>
            <a:chExt cx="2190900" cy="285900"/>
          </a:xfrm>
        </p:grpSpPr>
        <p:sp>
          <p:nvSpPr>
            <p:cNvPr id="834" name="Google Shape;834;p25"/>
            <p:cNvSpPr/>
            <p:nvPr/>
          </p:nvSpPr>
          <p:spPr>
            <a:xfrm>
              <a:off x="6477000" y="3000375"/>
              <a:ext cx="2190900" cy="285900"/>
            </a:xfrm>
            <a:prstGeom prst="roundRect">
              <a:avLst>
                <a:gd fmla="val 40000" name="adj"/>
              </a:avLst>
            </a:prstGeom>
            <a:solidFill>
              <a:srgbClr val="8E3E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25"/>
            <p:cNvSpPr txBox="1"/>
            <p:nvPr/>
          </p:nvSpPr>
          <p:spPr>
            <a:xfrm>
              <a:off x="6619875" y="3051846"/>
              <a:ext cx="1905000" cy="190500"/>
            </a:xfrm>
            <a:prstGeom prst="rect">
              <a:avLst/>
            </a:prstGeom>
            <a:solidFill>
              <a:srgbClr val="8E3E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Exclude None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36" name="Google Shape;836;p25"/>
          <p:cNvGrpSpPr/>
          <p:nvPr/>
        </p:nvGrpSpPr>
        <p:grpSpPr>
          <a:xfrm>
            <a:off x="2104020" y="3994242"/>
            <a:ext cx="1976630" cy="426448"/>
            <a:chOff x="6477000" y="3000375"/>
            <a:chExt cx="2190900" cy="285900"/>
          </a:xfrm>
        </p:grpSpPr>
        <p:sp>
          <p:nvSpPr>
            <p:cNvPr id="837" name="Google Shape;837;p25"/>
            <p:cNvSpPr/>
            <p:nvPr/>
          </p:nvSpPr>
          <p:spPr>
            <a:xfrm>
              <a:off x="6477000" y="3000375"/>
              <a:ext cx="2190900" cy="285900"/>
            </a:xfrm>
            <a:prstGeom prst="roundRect">
              <a:avLst>
                <a:gd fmla="val 40000" name="adj"/>
              </a:avLst>
            </a:prstGeom>
            <a:solidFill>
              <a:srgbClr val="8E6F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25"/>
            <p:cNvSpPr txBox="1"/>
            <p:nvPr/>
          </p:nvSpPr>
          <p:spPr>
            <a:xfrm>
              <a:off x="6619875" y="3051846"/>
              <a:ext cx="1905000" cy="190500"/>
            </a:xfrm>
            <a:prstGeom prst="rect">
              <a:avLst/>
            </a:prstGeom>
            <a:solidFill>
              <a:srgbClr val="8E6F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3 Class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39" name="Google Shape;839;p25"/>
          <p:cNvGrpSpPr/>
          <p:nvPr/>
        </p:nvGrpSpPr>
        <p:grpSpPr>
          <a:xfrm>
            <a:off x="2104020" y="4781055"/>
            <a:ext cx="1976630" cy="426448"/>
            <a:chOff x="6477000" y="3000375"/>
            <a:chExt cx="2190900" cy="285900"/>
          </a:xfrm>
        </p:grpSpPr>
        <p:sp>
          <p:nvSpPr>
            <p:cNvPr id="840" name="Google Shape;840;p25"/>
            <p:cNvSpPr/>
            <p:nvPr/>
          </p:nvSpPr>
          <p:spPr>
            <a:xfrm>
              <a:off x="6477000" y="3000375"/>
              <a:ext cx="2190900" cy="285900"/>
            </a:xfrm>
            <a:prstGeom prst="roundRect">
              <a:avLst>
                <a:gd fmla="val 40000" name="adj"/>
              </a:avLst>
            </a:prstGeom>
            <a:solidFill>
              <a:srgbClr val="8E3E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25"/>
            <p:cNvSpPr txBox="1"/>
            <p:nvPr/>
          </p:nvSpPr>
          <p:spPr>
            <a:xfrm>
              <a:off x="6619875" y="3051846"/>
              <a:ext cx="1905000" cy="190500"/>
            </a:xfrm>
            <a:prstGeom prst="rect">
              <a:avLst/>
            </a:prstGeom>
            <a:solidFill>
              <a:srgbClr val="8E3E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Merge Minor + Serious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842" name="Google Shape;842;p25"/>
          <p:cNvCxnSpPr>
            <a:endCxn id="834" idx="0"/>
          </p:cNvCxnSpPr>
          <p:nvPr/>
        </p:nvCxnSpPr>
        <p:spPr>
          <a:xfrm>
            <a:off x="3092335" y="2847111"/>
            <a:ext cx="0" cy="3603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3" name="Google Shape;843;p25"/>
          <p:cNvCxnSpPr>
            <a:endCxn id="837" idx="0"/>
          </p:cNvCxnSpPr>
          <p:nvPr/>
        </p:nvCxnSpPr>
        <p:spPr>
          <a:xfrm>
            <a:off x="3092335" y="3633942"/>
            <a:ext cx="0" cy="3603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4" name="Google Shape;844;p25"/>
          <p:cNvCxnSpPr>
            <a:endCxn id="840" idx="0"/>
          </p:cNvCxnSpPr>
          <p:nvPr/>
        </p:nvCxnSpPr>
        <p:spPr>
          <a:xfrm>
            <a:off x="3092335" y="4420755"/>
            <a:ext cx="0" cy="3603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845" name="Google Shape;845;p25"/>
          <p:cNvGrpSpPr/>
          <p:nvPr/>
        </p:nvGrpSpPr>
        <p:grpSpPr>
          <a:xfrm>
            <a:off x="549626" y="2821725"/>
            <a:ext cx="1483239" cy="320008"/>
            <a:chOff x="6477000" y="3000375"/>
            <a:chExt cx="2190900" cy="285900"/>
          </a:xfrm>
        </p:grpSpPr>
        <p:sp>
          <p:nvSpPr>
            <p:cNvPr id="846" name="Google Shape;846;p25"/>
            <p:cNvSpPr/>
            <p:nvPr/>
          </p:nvSpPr>
          <p:spPr>
            <a:xfrm>
              <a:off x="6477000" y="3000375"/>
              <a:ext cx="2190900" cy="285900"/>
            </a:xfrm>
            <a:prstGeom prst="roundRect">
              <a:avLst>
                <a:gd fmla="val 40000" name="adj"/>
              </a:avLst>
            </a:prstGeom>
            <a:solidFill>
              <a:srgbClr val="8080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25"/>
            <p:cNvSpPr txBox="1"/>
            <p:nvPr/>
          </p:nvSpPr>
          <p:spPr>
            <a:xfrm>
              <a:off x="6619875" y="3046789"/>
              <a:ext cx="1905000" cy="19050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None dominance</a:t>
              </a:r>
              <a:endParaRPr b="1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848" name="Google Shape;848;p25"/>
          <p:cNvCxnSpPr>
            <a:stCxn id="846" idx="3"/>
          </p:cNvCxnSpPr>
          <p:nvPr/>
        </p:nvCxnSpPr>
        <p:spPr>
          <a:xfrm>
            <a:off x="2032865" y="2981729"/>
            <a:ext cx="1012500" cy="15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grpSp>
        <p:nvGrpSpPr>
          <p:cNvPr id="849" name="Google Shape;849;p25"/>
          <p:cNvGrpSpPr/>
          <p:nvPr/>
        </p:nvGrpSpPr>
        <p:grpSpPr>
          <a:xfrm>
            <a:off x="549626" y="4402295"/>
            <a:ext cx="1483239" cy="320008"/>
            <a:chOff x="6477000" y="3000375"/>
            <a:chExt cx="2190900" cy="285900"/>
          </a:xfrm>
        </p:grpSpPr>
        <p:sp>
          <p:nvSpPr>
            <p:cNvPr id="850" name="Google Shape;850;p25"/>
            <p:cNvSpPr/>
            <p:nvPr/>
          </p:nvSpPr>
          <p:spPr>
            <a:xfrm>
              <a:off x="6477000" y="3000375"/>
              <a:ext cx="2190900" cy="285900"/>
            </a:xfrm>
            <a:prstGeom prst="roundRect">
              <a:avLst>
                <a:gd fmla="val 40000" name="adj"/>
              </a:avLst>
            </a:prstGeom>
            <a:solidFill>
              <a:srgbClr val="808080"/>
            </a:solidFill>
            <a:ln cap="flat" cmpd="sng" w="9525">
              <a:solidFill>
                <a:srgbClr val="6F727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25"/>
            <p:cNvSpPr txBox="1"/>
            <p:nvPr/>
          </p:nvSpPr>
          <p:spPr>
            <a:xfrm>
              <a:off x="6619875" y="3057800"/>
              <a:ext cx="1905000" cy="190500"/>
            </a:xfrm>
            <a:prstGeom prst="rect">
              <a:avLst/>
            </a:prstGeom>
            <a:solidFill>
              <a:srgbClr val="80808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Minor Serious Confusion</a:t>
              </a:r>
              <a:endParaRPr b="1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852" name="Google Shape;852;p25"/>
          <p:cNvCxnSpPr>
            <a:stCxn id="850" idx="3"/>
          </p:cNvCxnSpPr>
          <p:nvPr/>
        </p:nvCxnSpPr>
        <p:spPr>
          <a:xfrm>
            <a:off x="2032865" y="4562299"/>
            <a:ext cx="1012500" cy="15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grpSp>
        <p:nvGrpSpPr>
          <p:cNvPr id="853" name="Google Shape;853;p25"/>
          <p:cNvGrpSpPr/>
          <p:nvPr/>
        </p:nvGrpSpPr>
        <p:grpSpPr>
          <a:xfrm>
            <a:off x="2104004" y="5490971"/>
            <a:ext cx="1976630" cy="426448"/>
            <a:chOff x="6477000" y="3000375"/>
            <a:chExt cx="2190900" cy="285900"/>
          </a:xfrm>
        </p:grpSpPr>
        <p:sp>
          <p:nvSpPr>
            <p:cNvPr id="854" name="Google Shape;854;p25"/>
            <p:cNvSpPr/>
            <p:nvPr/>
          </p:nvSpPr>
          <p:spPr>
            <a:xfrm>
              <a:off x="6477000" y="3000375"/>
              <a:ext cx="2190900" cy="285900"/>
            </a:xfrm>
            <a:prstGeom prst="roundRect">
              <a:avLst>
                <a:gd fmla="val 40000" name="adj"/>
              </a:avLst>
            </a:prstGeom>
            <a:solidFill>
              <a:srgbClr val="1A365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25"/>
            <p:cNvSpPr txBox="1"/>
            <p:nvPr/>
          </p:nvSpPr>
          <p:spPr>
            <a:xfrm>
              <a:off x="6619875" y="3051846"/>
              <a:ext cx="1905000" cy="1905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Binary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856" name="Google Shape;856;p25"/>
          <p:cNvCxnSpPr>
            <a:stCxn id="840" idx="2"/>
            <a:endCxn id="854" idx="0"/>
          </p:cNvCxnSpPr>
          <p:nvPr/>
        </p:nvCxnSpPr>
        <p:spPr>
          <a:xfrm>
            <a:off x="3092335" y="5207504"/>
            <a:ext cx="0" cy="2835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7" name="Google Shape;857;p25"/>
          <p:cNvCxnSpPr>
            <a:stCxn id="837" idx="3"/>
            <a:endCxn id="854" idx="3"/>
          </p:cNvCxnSpPr>
          <p:nvPr/>
        </p:nvCxnSpPr>
        <p:spPr>
          <a:xfrm>
            <a:off x="4080650" y="4207466"/>
            <a:ext cx="600" cy="1496700"/>
          </a:xfrm>
          <a:prstGeom prst="bent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8" name="Google Shape;858;p25"/>
          <p:cNvCxnSpPr>
            <a:stCxn id="840" idx="3"/>
          </p:cNvCxnSpPr>
          <p:nvPr/>
        </p:nvCxnSpPr>
        <p:spPr>
          <a:xfrm>
            <a:off x="4080650" y="4994279"/>
            <a:ext cx="1055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859" name="Google Shape;859;p25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{5A82172F-A74D-4794-99BA-DCB96C77AC2A}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860" name="Google Shape;860;p25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{5A82172F-A74D-4794-99BA-DCB96C77AC2A}</a:tableStyleId>
              </a:tblPr>
              <a:tblGrid>
                <a:gridCol w="152400"/>
              </a:tblGrid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66" name="Google Shape;866;g3f534395cd3_2_4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6789" y="361950"/>
            <a:ext cx="127181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67" name="Google Shape;867;g3f534395cd3_2_495"/>
          <p:cNvSpPr/>
          <p:nvPr/>
        </p:nvSpPr>
        <p:spPr>
          <a:xfrm>
            <a:off x="533400" y="495300"/>
            <a:ext cx="122376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975"/>
              <a:buFont typeface="Arimo"/>
              <a:buNone/>
            </a:pPr>
            <a:r>
              <a:rPr b="1" i="0" lang="en-US" sz="975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APPENDIX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g3f534395cd3_2_495"/>
          <p:cNvSpPr/>
          <p:nvPr/>
        </p:nvSpPr>
        <p:spPr>
          <a:xfrm>
            <a:off x="533400" y="700088"/>
            <a:ext cx="122376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mo"/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Target Redefinition </a:t>
            </a:r>
            <a:r>
              <a:rPr lang="en-US" sz="3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III</a:t>
            </a:r>
            <a:r>
              <a:rPr i="0" lang="en-US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: 3-Class → Binary (</a:t>
            </a:r>
            <a:r>
              <a:rPr lang="en-US" sz="3000">
                <a:latin typeface="Helvetica Neue"/>
                <a:ea typeface="Helvetica Neue"/>
                <a:cs typeface="Helvetica Neue"/>
                <a:sym typeface="Helvetica Neue"/>
              </a:rPr>
              <a:t>in Tabular)</a:t>
            </a:r>
            <a:endParaRPr i="0" sz="3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9" name="Google Shape;869;g3f534395cd3_2_495"/>
          <p:cNvSpPr/>
          <p:nvPr/>
        </p:nvSpPr>
        <p:spPr>
          <a:xfrm>
            <a:off x="533400" y="6372225"/>
            <a:ext cx="11125200" cy="9600"/>
          </a:xfrm>
          <a:prstGeom prst="rect">
            <a:avLst/>
          </a:prstGeom>
          <a:solidFill>
            <a:srgbClr val="DAD7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g3f534395cd3_2_495"/>
          <p:cNvSpPr/>
          <p:nvPr/>
        </p:nvSpPr>
        <p:spPr>
          <a:xfrm>
            <a:off x="533400" y="6457950"/>
            <a:ext cx="2782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i="0" lang="en-US" sz="788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PREDICTING AVIATION ACCIDENT SEVERITY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g3f534395cd3_2_495"/>
          <p:cNvSpPr/>
          <p:nvPr/>
        </p:nvSpPr>
        <p:spPr>
          <a:xfrm>
            <a:off x="11527334" y="6457950"/>
            <a:ext cx="207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i="0" lang="en-US" sz="788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25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72" name="Google Shape;872;g3f534395cd3_2_495"/>
          <p:cNvGrpSpPr/>
          <p:nvPr/>
        </p:nvGrpSpPr>
        <p:grpSpPr>
          <a:xfrm>
            <a:off x="2104020" y="1590153"/>
            <a:ext cx="1976630" cy="426448"/>
            <a:chOff x="6477000" y="3000375"/>
            <a:chExt cx="2190900" cy="285900"/>
          </a:xfrm>
        </p:grpSpPr>
        <p:sp>
          <p:nvSpPr>
            <p:cNvPr id="873" name="Google Shape;873;g3f534395cd3_2_495"/>
            <p:cNvSpPr/>
            <p:nvPr/>
          </p:nvSpPr>
          <p:spPr>
            <a:xfrm>
              <a:off x="6477000" y="3000375"/>
              <a:ext cx="2190900" cy="285900"/>
            </a:xfrm>
            <a:prstGeom prst="roundRect">
              <a:avLst>
                <a:gd fmla="val 40000" name="adj"/>
              </a:avLst>
            </a:prstGeom>
            <a:solidFill>
              <a:srgbClr val="CFB99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g3f534395cd3_2_495"/>
            <p:cNvSpPr txBox="1"/>
            <p:nvPr/>
          </p:nvSpPr>
          <p:spPr>
            <a:xfrm>
              <a:off x="6619875" y="3051846"/>
              <a:ext cx="1905000" cy="190500"/>
            </a:xfrm>
            <a:prstGeom prst="rect">
              <a:avLst/>
            </a:prstGeom>
            <a:solidFill>
              <a:srgbClr val="CFB99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4 Class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75" name="Google Shape;875;g3f534395cd3_2_495"/>
          <p:cNvGrpSpPr/>
          <p:nvPr/>
        </p:nvGrpSpPr>
        <p:grpSpPr>
          <a:xfrm>
            <a:off x="2104020" y="2376983"/>
            <a:ext cx="1976630" cy="426448"/>
            <a:chOff x="6477000" y="3000375"/>
            <a:chExt cx="2190900" cy="285900"/>
          </a:xfrm>
        </p:grpSpPr>
        <p:sp>
          <p:nvSpPr>
            <p:cNvPr id="876" name="Google Shape;876;g3f534395cd3_2_495"/>
            <p:cNvSpPr/>
            <p:nvPr/>
          </p:nvSpPr>
          <p:spPr>
            <a:xfrm>
              <a:off x="6477000" y="3000375"/>
              <a:ext cx="2190900" cy="285900"/>
            </a:xfrm>
            <a:prstGeom prst="roundRect">
              <a:avLst>
                <a:gd fmla="val 40000" name="adj"/>
              </a:avLst>
            </a:prstGeom>
            <a:solidFill>
              <a:srgbClr val="8E3E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g3f534395cd3_2_495"/>
            <p:cNvSpPr txBox="1"/>
            <p:nvPr/>
          </p:nvSpPr>
          <p:spPr>
            <a:xfrm>
              <a:off x="6619875" y="3051846"/>
              <a:ext cx="1905000" cy="190500"/>
            </a:xfrm>
            <a:prstGeom prst="rect">
              <a:avLst/>
            </a:prstGeom>
            <a:solidFill>
              <a:srgbClr val="8E3E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Exclude None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78" name="Google Shape;878;g3f534395cd3_2_495"/>
          <p:cNvGrpSpPr/>
          <p:nvPr/>
        </p:nvGrpSpPr>
        <p:grpSpPr>
          <a:xfrm>
            <a:off x="2104020" y="3163814"/>
            <a:ext cx="1976630" cy="426448"/>
            <a:chOff x="6477000" y="3000375"/>
            <a:chExt cx="2190900" cy="285900"/>
          </a:xfrm>
        </p:grpSpPr>
        <p:sp>
          <p:nvSpPr>
            <p:cNvPr id="879" name="Google Shape;879;g3f534395cd3_2_495"/>
            <p:cNvSpPr/>
            <p:nvPr/>
          </p:nvSpPr>
          <p:spPr>
            <a:xfrm>
              <a:off x="6477000" y="3000375"/>
              <a:ext cx="2190900" cy="285900"/>
            </a:xfrm>
            <a:prstGeom prst="roundRect">
              <a:avLst>
                <a:gd fmla="val 40000" name="adj"/>
              </a:avLst>
            </a:prstGeom>
            <a:solidFill>
              <a:srgbClr val="8E6F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g3f534395cd3_2_495"/>
            <p:cNvSpPr txBox="1"/>
            <p:nvPr/>
          </p:nvSpPr>
          <p:spPr>
            <a:xfrm>
              <a:off x="6619875" y="3051846"/>
              <a:ext cx="1905000" cy="190500"/>
            </a:xfrm>
            <a:prstGeom prst="rect">
              <a:avLst/>
            </a:prstGeom>
            <a:solidFill>
              <a:srgbClr val="8E6F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3 Class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81" name="Google Shape;881;g3f534395cd3_2_495"/>
          <p:cNvGrpSpPr/>
          <p:nvPr/>
        </p:nvGrpSpPr>
        <p:grpSpPr>
          <a:xfrm>
            <a:off x="2104020" y="3950627"/>
            <a:ext cx="1976630" cy="426448"/>
            <a:chOff x="6477000" y="3000375"/>
            <a:chExt cx="2190900" cy="285900"/>
          </a:xfrm>
        </p:grpSpPr>
        <p:sp>
          <p:nvSpPr>
            <p:cNvPr id="882" name="Google Shape;882;g3f534395cd3_2_495"/>
            <p:cNvSpPr/>
            <p:nvPr/>
          </p:nvSpPr>
          <p:spPr>
            <a:xfrm>
              <a:off x="6477000" y="3000375"/>
              <a:ext cx="2190900" cy="285900"/>
            </a:xfrm>
            <a:prstGeom prst="roundRect">
              <a:avLst>
                <a:gd fmla="val 40000" name="adj"/>
              </a:avLst>
            </a:prstGeom>
            <a:solidFill>
              <a:srgbClr val="8E3E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g3f534395cd3_2_495"/>
            <p:cNvSpPr txBox="1"/>
            <p:nvPr/>
          </p:nvSpPr>
          <p:spPr>
            <a:xfrm>
              <a:off x="6619875" y="3051846"/>
              <a:ext cx="1905000" cy="190500"/>
            </a:xfrm>
            <a:prstGeom prst="rect">
              <a:avLst/>
            </a:prstGeom>
            <a:solidFill>
              <a:srgbClr val="8E3E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Merge Minor + Serious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884" name="Google Shape;884;g3f534395cd3_2_495"/>
          <p:cNvCxnSpPr>
            <a:endCxn id="876" idx="0"/>
          </p:cNvCxnSpPr>
          <p:nvPr/>
        </p:nvCxnSpPr>
        <p:spPr>
          <a:xfrm>
            <a:off x="3092335" y="2016683"/>
            <a:ext cx="0" cy="3603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5" name="Google Shape;885;g3f534395cd3_2_495"/>
          <p:cNvCxnSpPr>
            <a:endCxn id="879" idx="0"/>
          </p:cNvCxnSpPr>
          <p:nvPr/>
        </p:nvCxnSpPr>
        <p:spPr>
          <a:xfrm>
            <a:off x="3092335" y="2803514"/>
            <a:ext cx="0" cy="3603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6" name="Google Shape;886;g3f534395cd3_2_495"/>
          <p:cNvCxnSpPr>
            <a:endCxn id="882" idx="0"/>
          </p:cNvCxnSpPr>
          <p:nvPr/>
        </p:nvCxnSpPr>
        <p:spPr>
          <a:xfrm>
            <a:off x="3092335" y="3590327"/>
            <a:ext cx="0" cy="3603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887" name="Google Shape;887;g3f534395cd3_2_495"/>
          <p:cNvGrpSpPr/>
          <p:nvPr/>
        </p:nvGrpSpPr>
        <p:grpSpPr>
          <a:xfrm>
            <a:off x="549626" y="1991297"/>
            <a:ext cx="1483239" cy="320008"/>
            <a:chOff x="6477000" y="3000375"/>
            <a:chExt cx="2190900" cy="285900"/>
          </a:xfrm>
        </p:grpSpPr>
        <p:sp>
          <p:nvSpPr>
            <p:cNvPr id="888" name="Google Shape;888;g3f534395cd3_2_495"/>
            <p:cNvSpPr/>
            <p:nvPr/>
          </p:nvSpPr>
          <p:spPr>
            <a:xfrm>
              <a:off x="6477000" y="3000375"/>
              <a:ext cx="2190900" cy="285900"/>
            </a:xfrm>
            <a:prstGeom prst="roundRect">
              <a:avLst>
                <a:gd fmla="val 40000" name="adj"/>
              </a:avLst>
            </a:prstGeom>
            <a:solidFill>
              <a:srgbClr val="8080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g3f534395cd3_2_495"/>
            <p:cNvSpPr txBox="1"/>
            <p:nvPr/>
          </p:nvSpPr>
          <p:spPr>
            <a:xfrm>
              <a:off x="6619875" y="3046789"/>
              <a:ext cx="1905000" cy="19050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None dominance</a:t>
              </a:r>
              <a:endParaRPr b="1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890" name="Google Shape;890;g3f534395cd3_2_495"/>
          <p:cNvCxnSpPr>
            <a:stCxn id="888" idx="3"/>
          </p:cNvCxnSpPr>
          <p:nvPr/>
        </p:nvCxnSpPr>
        <p:spPr>
          <a:xfrm>
            <a:off x="2032865" y="2151301"/>
            <a:ext cx="1012500" cy="15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grpSp>
        <p:nvGrpSpPr>
          <p:cNvPr id="891" name="Google Shape;891;g3f534395cd3_2_495"/>
          <p:cNvGrpSpPr/>
          <p:nvPr/>
        </p:nvGrpSpPr>
        <p:grpSpPr>
          <a:xfrm>
            <a:off x="549626" y="3571867"/>
            <a:ext cx="1483239" cy="320008"/>
            <a:chOff x="6477000" y="3000375"/>
            <a:chExt cx="2190900" cy="285900"/>
          </a:xfrm>
        </p:grpSpPr>
        <p:sp>
          <p:nvSpPr>
            <p:cNvPr id="892" name="Google Shape;892;g3f534395cd3_2_495"/>
            <p:cNvSpPr/>
            <p:nvPr/>
          </p:nvSpPr>
          <p:spPr>
            <a:xfrm>
              <a:off x="6477000" y="3000375"/>
              <a:ext cx="2190900" cy="285900"/>
            </a:xfrm>
            <a:prstGeom prst="roundRect">
              <a:avLst>
                <a:gd fmla="val 40000" name="adj"/>
              </a:avLst>
            </a:prstGeom>
            <a:solidFill>
              <a:srgbClr val="808080"/>
            </a:solidFill>
            <a:ln cap="flat" cmpd="sng" w="9525">
              <a:solidFill>
                <a:srgbClr val="6F727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g3f534395cd3_2_495"/>
            <p:cNvSpPr txBox="1"/>
            <p:nvPr/>
          </p:nvSpPr>
          <p:spPr>
            <a:xfrm>
              <a:off x="6619875" y="3057800"/>
              <a:ext cx="1905000" cy="190500"/>
            </a:xfrm>
            <a:prstGeom prst="rect">
              <a:avLst/>
            </a:prstGeom>
            <a:solidFill>
              <a:srgbClr val="80808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Minor Serious Confusion</a:t>
              </a:r>
              <a:endParaRPr b="1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894" name="Google Shape;894;g3f534395cd3_2_495"/>
          <p:cNvCxnSpPr>
            <a:stCxn id="892" idx="3"/>
          </p:cNvCxnSpPr>
          <p:nvPr/>
        </p:nvCxnSpPr>
        <p:spPr>
          <a:xfrm>
            <a:off x="2032865" y="3731871"/>
            <a:ext cx="1012500" cy="15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grpSp>
        <p:nvGrpSpPr>
          <p:cNvPr id="895" name="Google Shape;895;g3f534395cd3_2_495"/>
          <p:cNvGrpSpPr/>
          <p:nvPr/>
        </p:nvGrpSpPr>
        <p:grpSpPr>
          <a:xfrm>
            <a:off x="2104004" y="4660543"/>
            <a:ext cx="1976630" cy="426448"/>
            <a:chOff x="6477000" y="3000375"/>
            <a:chExt cx="2190900" cy="285900"/>
          </a:xfrm>
        </p:grpSpPr>
        <p:sp>
          <p:nvSpPr>
            <p:cNvPr id="896" name="Google Shape;896;g3f534395cd3_2_495"/>
            <p:cNvSpPr/>
            <p:nvPr/>
          </p:nvSpPr>
          <p:spPr>
            <a:xfrm>
              <a:off x="6477000" y="3000375"/>
              <a:ext cx="2190900" cy="285900"/>
            </a:xfrm>
            <a:prstGeom prst="roundRect">
              <a:avLst>
                <a:gd fmla="val 40000" name="adj"/>
              </a:avLst>
            </a:prstGeom>
            <a:solidFill>
              <a:srgbClr val="1A365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g3f534395cd3_2_495"/>
            <p:cNvSpPr txBox="1"/>
            <p:nvPr/>
          </p:nvSpPr>
          <p:spPr>
            <a:xfrm>
              <a:off x="6619875" y="3051846"/>
              <a:ext cx="1905000" cy="1905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Binary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898" name="Google Shape;898;g3f534395cd3_2_495"/>
          <p:cNvCxnSpPr>
            <a:stCxn id="882" idx="2"/>
            <a:endCxn id="896" idx="0"/>
          </p:cNvCxnSpPr>
          <p:nvPr/>
        </p:nvCxnSpPr>
        <p:spPr>
          <a:xfrm>
            <a:off x="3092335" y="4377076"/>
            <a:ext cx="0" cy="2835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9" name="Google Shape;899;g3f534395cd3_2_495"/>
          <p:cNvCxnSpPr>
            <a:stCxn id="879" idx="3"/>
            <a:endCxn id="896" idx="3"/>
          </p:cNvCxnSpPr>
          <p:nvPr/>
        </p:nvCxnSpPr>
        <p:spPr>
          <a:xfrm>
            <a:off x="4080650" y="3377038"/>
            <a:ext cx="600" cy="1496700"/>
          </a:xfrm>
          <a:prstGeom prst="bent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0" name="Google Shape;900;g3f534395cd3_2_495"/>
          <p:cNvCxnSpPr>
            <a:stCxn id="882" idx="3"/>
          </p:cNvCxnSpPr>
          <p:nvPr/>
        </p:nvCxnSpPr>
        <p:spPr>
          <a:xfrm>
            <a:off x="4080650" y="4163851"/>
            <a:ext cx="1055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1" name="Google Shape;901;g3f534395cd3_2_495"/>
          <p:cNvSpPr/>
          <p:nvPr/>
        </p:nvSpPr>
        <p:spPr>
          <a:xfrm>
            <a:off x="5404925" y="3131472"/>
            <a:ext cx="6330000" cy="3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g3f534395cd3_2_495"/>
          <p:cNvSpPr/>
          <p:nvPr/>
        </p:nvSpPr>
        <p:spPr>
          <a:xfrm>
            <a:off x="5502478" y="3245772"/>
            <a:ext cx="9078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mo"/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MODEL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g3f534395cd3_2_495"/>
          <p:cNvSpPr/>
          <p:nvPr/>
        </p:nvSpPr>
        <p:spPr>
          <a:xfrm>
            <a:off x="6562009" y="3245772"/>
            <a:ext cx="20490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mo"/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TARGET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g3f534395cd3_2_495"/>
          <p:cNvSpPr/>
          <p:nvPr/>
        </p:nvSpPr>
        <p:spPr>
          <a:xfrm>
            <a:off x="8697542" y="3245772"/>
            <a:ext cx="833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mo"/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ACCURACY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g3f534395cd3_2_495"/>
          <p:cNvSpPr/>
          <p:nvPr/>
        </p:nvSpPr>
        <p:spPr>
          <a:xfrm>
            <a:off x="9682976" y="3245772"/>
            <a:ext cx="7758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mo"/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MACRO F1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g3f534395cd3_2_495"/>
          <p:cNvSpPr/>
          <p:nvPr/>
        </p:nvSpPr>
        <p:spPr>
          <a:xfrm>
            <a:off x="10610363" y="3245772"/>
            <a:ext cx="10269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mo"/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FATAL RECALL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g3f534395cd3_2_495"/>
          <p:cNvSpPr/>
          <p:nvPr/>
        </p:nvSpPr>
        <p:spPr>
          <a:xfrm>
            <a:off x="5404925" y="3926810"/>
            <a:ext cx="6330000" cy="9600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g3f534395cd3_2_495"/>
          <p:cNvSpPr/>
          <p:nvPr/>
        </p:nvSpPr>
        <p:spPr>
          <a:xfrm>
            <a:off x="5502478" y="3631535"/>
            <a:ext cx="907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4-Class RF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g3f534395cd3_2_495"/>
          <p:cNvSpPr/>
          <p:nvPr/>
        </p:nvSpPr>
        <p:spPr>
          <a:xfrm>
            <a:off x="6562009" y="3631535"/>
            <a:ext cx="20490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1200"/>
              <a:buFont typeface="Arimo"/>
              <a:buNone/>
            </a:pPr>
            <a:r>
              <a:rPr b="0" i="0" lang="en-US" sz="1200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None / Minor / Serious / Fatal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g3f534395cd3_2_495"/>
          <p:cNvSpPr/>
          <p:nvPr/>
        </p:nvSpPr>
        <p:spPr>
          <a:xfrm>
            <a:off x="8697542" y="3603926"/>
            <a:ext cx="8337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0.784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g3f534395cd3_2_495"/>
          <p:cNvSpPr/>
          <p:nvPr/>
        </p:nvSpPr>
        <p:spPr>
          <a:xfrm>
            <a:off x="9682976" y="3603926"/>
            <a:ext cx="775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0.750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g3f534395cd3_2_495"/>
          <p:cNvSpPr/>
          <p:nvPr/>
        </p:nvSpPr>
        <p:spPr>
          <a:xfrm>
            <a:off x="10610363" y="3603926"/>
            <a:ext cx="10269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0.570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g3f534395cd3_2_495"/>
          <p:cNvSpPr/>
          <p:nvPr/>
        </p:nvSpPr>
        <p:spPr>
          <a:xfrm>
            <a:off x="5404925" y="4360197"/>
            <a:ext cx="6330000" cy="9600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g3f534395cd3_2_495"/>
          <p:cNvSpPr/>
          <p:nvPr/>
        </p:nvSpPr>
        <p:spPr>
          <a:xfrm>
            <a:off x="5502478" y="4060160"/>
            <a:ext cx="9078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3-Class RF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g3f534395cd3_2_495"/>
          <p:cNvSpPr/>
          <p:nvPr/>
        </p:nvSpPr>
        <p:spPr>
          <a:xfrm>
            <a:off x="6562009" y="4060160"/>
            <a:ext cx="20490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85F"/>
              </a:buClr>
              <a:buSzPts val="1200"/>
              <a:buFont typeface="Arimo"/>
              <a:buNone/>
            </a:pPr>
            <a:r>
              <a:rPr b="0" i="0" lang="en-US" sz="1200" u="none" cap="none" strike="noStrike">
                <a:solidFill>
                  <a:srgbClr val="55585F"/>
                </a:solidFill>
                <a:latin typeface="Arimo"/>
                <a:ea typeface="Arimo"/>
                <a:cs typeface="Arimo"/>
                <a:sym typeface="Arimo"/>
              </a:rPr>
              <a:t>Minor / Serious / Fatal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g3f534395cd3_2_495"/>
          <p:cNvSpPr/>
          <p:nvPr/>
        </p:nvSpPr>
        <p:spPr>
          <a:xfrm>
            <a:off x="8697542" y="4032551"/>
            <a:ext cx="8337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0.600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g3f534395cd3_2_495"/>
          <p:cNvSpPr/>
          <p:nvPr/>
        </p:nvSpPr>
        <p:spPr>
          <a:xfrm>
            <a:off x="9682976" y="4032551"/>
            <a:ext cx="7758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0.570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g3f534395cd3_2_495"/>
          <p:cNvSpPr/>
          <p:nvPr/>
        </p:nvSpPr>
        <p:spPr>
          <a:xfrm>
            <a:off x="10610363" y="4032551"/>
            <a:ext cx="10269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0.630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g3f534395cd3_2_495"/>
          <p:cNvSpPr/>
          <p:nvPr/>
        </p:nvSpPr>
        <p:spPr>
          <a:xfrm>
            <a:off x="5404925" y="4369722"/>
            <a:ext cx="6330000" cy="438000"/>
          </a:xfrm>
          <a:prstGeom prst="rect">
            <a:avLst/>
          </a:prstGeom>
          <a:solidFill>
            <a:srgbClr val="FAF3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g3f534395cd3_2_495"/>
          <p:cNvSpPr/>
          <p:nvPr/>
        </p:nvSpPr>
        <p:spPr>
          <a:xfrm>
            <a:off x="5404925" y="4788822"/>
            <a:ext cx="6330000" cy="189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g3f534395cd3_2_495"/>
          <p:cNvSpPr/>
          <p:nvPr/>
        </p:nvSpPr>
        <p:spPr>
          <a:xfrm>
            <a:off x="5502478" y="4493547"/>
            <a:ext cx="90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Binary RF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g3f534395cd3_2_495"/>
          <p:cNvSpPr/>
          <p:nvPr/>
        </p:nvSpPr>
        <p:spPr>
          <a:xfrm>
            <a:off x="6562009" y="4493547"/>
            <a:ext cx="204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1200"/>
              <a:buFont typeface="Arimo"/>
              <a:buNone/>
            </a:pPr>
            <a:r>
              <a:rPr b="1" i="0" lang="en-US" sz="1200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Non-Fatal / Fatal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g3f534395cd3_2_495"/>
          <p:cNvSpPr/>
          <p:nvPr/>
        </p:nvSpPr>
        <p:spPr>
          <a:xfrm>
            <a:off x="8697542" y="4465938"/>
            <a:ext cx="833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1200"/>
              <a:buFont typeface="Arimo"/>
              <a:buNone/>
            </a:pPr>
            <a:r>
              <a:rPr b="1" i="0" lang="en-US" sz="1200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0.779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g3f534395cd3_2_495"/>
          <p:cNvSpPr/>
          <p:nvPr/>
        </p:nvSpPr>
        <p:spPr>
          <a:xfrm>
            <a:off x="9682976" y="4465938"/>
            <a:ext cx="77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1200"/>
              <a:buFont typeface="Arimo"/>
              <a:buNone/>
            </a:pPr>
            <a:r>
              <a:rPr b="1" i="0" lang="en-US" sz="1200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0.750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g3f534395cd3_2_495"/>
          <p:cNvSpPr/>
          <p:nvPr/>
        </p:nvSpPr>
        <p:spPr>
          <a:xfrm>
            <a:off x="10610363" y="4465938"/>
            <a:ext cx="1026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1200"/>
              <a:buFont typeface="Arimo"/>
              <a:buNone/>
            </a:pPr>
            <a:r>
              <a:rPr b="1" i="0" lang="en-US" sz="1200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0.617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26" name="Google Shape;926;g3f534395cd3_2_495"/>
          <p:cNvGrpSpPr/>
          <p:nvPr/>
        </p:nvGrpSpPr>
        <p:grpSpPr>
          <a:xfrm>
            <a:off x="497256" y="5360796"/>
            <a:ext cx="11232125" cy="739613"/>
            <a:chOff x="533400" y="4390355"/>
            <a:chExt cx="11232125" cy="739613"/>
          </a:xfrm>
        </p:grpSpPr>
        <p:sp>
          <p:nvSpPr>
            <p:cNvPr id="927" name="Google Shape;927;g3f534395cd3_2_495"/>
            <p:cNvSpPr/>
            <p:nvPr/>
          </p:nvSpPr>
          <p:spPr>
            <a:xfrm>
              <a:off x="533400" y="4390355"/>
              <a:ext cx="3568800" cy="19200"/>
            </a:xfrm>
            <a:prstGeom prst="rect">
              <a:avLst/>
            </a:prstGeom>
            <a:solidFill>
              <a:srgbClr val="E5E2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g3f534395cd3_2_495"/>
            <p:cNvSpPr/>
            <p:nvPr/>
          </p:nvSpPr>
          <p:spPr>
            <a:xfrm>
              <a:off x="533400" y="4523705"/>
              <a:ext cx="765300" cy="18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mo"/>
                <a:buNone/>
              </a:pPr>
              <a:r>
                <a:rPr b="1" i="0" lang="en-US" sz="10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4-Class RF</a:t>
              </a:r>
              <a:endParaRPr b="0" i="0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g3f534395cd3_2_495"/>
            <p:cNvSpPr/>
            <p:nvPr/>
          </p:nvSpPr>
          <p:spPr>
            <a:xfrm>
              <a:off x="533400" y="4718968"/>
              <a:ext cx="3675600" cy="41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26290"/>
                </a:lnSpc>
                <a:spcBef>
                  <a:spcPts val="0"/>
                </a:spcBef>
                <a:spcAft>
                  <a:spcPts val="0"/>
                </a:spcAft>
                <a:buClr>
                  <a:srgbClr val="55585F"/>
                </a:buClr>
                <a:buSzPts val="1013"/>
                <a:buFont typeface="Arimo"/>
                <a:buNone/>
              </a:pPr>
              <a:r>
                <a:rPr b="0" i="0" lang="en-US" sz="1013" u="none" cap="none" strike="noStrike">
                  <a:solidFill>
                    <a:srgbClr val="55585F"/>
                  </a:solidFill>
                  <a:latin typeface="Arimo"/>
                  <a:ea typeface="Arimo"/>
                  <a:cs typeface="Arimo"/>
                  <a:sym typeface="Arimo"/>
                </a:rPr>
                <a:t>High overall performance, but Fatal Recall stays </a:t>
              </a:r>
              <a:br>
                <a:rPr b="0" i="0" lang="en-US" sz="1013" u="none" cap="none" strike="noStrike">
                  <a:solidFill>
                    <a:srgbClr val="55585F"/>
                  </a:solidFill>
                  <a:latin typeface="Arimo"/>
                  <a:ea typeface="Arimo"/>
                  <a:cs typeface="Arimo"/>
                  <a:sym typeface="Arimo"/>
                </a:rPr>
              </a:br>
              <a:r>
                <a:rPr b="0" i="0" lang="en-US" sz="1013" u="none" cap="none" strike="noStrike">
                  <a:solidFill>
                    <a:srgbClr val="55585F"/>
                  </a:solidFill>
                  <a:latin typeface="Arimo"/>
                  <a:ea typeface="Arimo"/>
                  <a:cs typeface="Arimo"/>
                  <a:sym typeface="Arimo"/>
                </a:rPr>
                <a:t>low due to the dominance of the None class.</a:t>
              </a:r>
              <a:endPara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g3f534395cd3_2_495"/>
            <p:cNvSpPr/>
            <p:nvPr/>
          </p:nvSpPr>
          <p:spPr>
            <a:xfrm>
              <a:off x="4311625" y="4390355"/>
              <a:ext cx="3568800" cy="19200"/>
            </a:xfrm>
            <a:prstGeom prst="rect">
              <a:avLst/>
            </a:prstGeom>
            <a:solidFill>
              <a:srgbClr val="E5E2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g3f534395cd3_2_495"/>
            <p:cNvSpPr/>
            <p:nvPr/>
          </p:nvSpPr>
          <p:spPr>
            <a:xfrm>
              <a:off x="4311625" y="4523705"/>
              <a:ext cx="765300" cy="18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mo"/>
                <a:buNone/>
              </a:pPr>
              <a:r>
                <a:rPr b="1" i="0" lang="en-US" sz="10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3-Class RF</a:t>
              </a:r>
              <a:endParaRPr b="0" i="0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g3f534395cd3_2_495"/>
            <p:cNvSpPr/>
            <p:nvPr/>
          </p:nvSpPr>
          <p:spPr>
            <a:xfrm>
              <a:off x="4311625" y="4718968"/>
              <a:ext cx="3675900" cy="41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26290"/>
                </a:lnSpc>
                <a:spcBef>
                  <a:spcPts val="0"/>
                </a:spcBef>
                <a:spcAft>
                  <a:spcPts val="0"/>
                </a:spcAft>
                <a:buClr>
                  <a:srgbClr val="55585F"/>
                </a:buClr>
                <a:buSzPts val="1013"/>
                <a:buFont typeface="Arimo"/>
                <a:buNone/>
              </a:pPr>
              <a:r>
                <a:rPr b="0" i="0" lang="en-US" sz="1013" u="none" cap="none" strike="noStrike">
                  <a:solidFill>
                    <a:srgbClr val="55585F"/>
                  </a:solidFill>
                  <a:latin typeface="Arimo"/>
                  <a:ea typeface="Arimo"/>
                  <a:cs typeface="Arimo"/>
                  <a:sym typeface="Arimo"/>
                </a:rPr>
                <a:t>Removing None improved Fatal Recall, but severe Minor–Serious confusion collapsed overall performance.</a:t>
              </a:r>
              <a:endPara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g3f534395cd3_2_495"/>
            <p:cNvSpPr/>
            <p:nvPr/>
          </p:nvSpPr>
          <p:spPr>
            <a:xfrm>
              <a:off x="8089925" y="4390355"/>
              <a:ext cx="3568800" cy="19200"/>
            </a:xfrm>
            <a:prstGeom prst="rect">
              <a:avLst/>
            </a:prstGeom>
            <a:solidFill>
              <a:srgbClr val="CFB9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g3f534395cd3_2_495"/>
            <p:cNvSpPr/>
            <p:nvPr/>
          </p:nvSpPr>
          <p:spPr>
            <a:xfrm>
              <a:off x="8089925" y="4523705"/>
              <a:ext cx="705900" cy="18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E6F3E"/>
                </a:buClr>
                <a:buSzPts val="1050"/>
                <a:buFont typeface="Arimo"/>
                <a:buNone/>
              </a:pPr>
              <a:r>
                <a:rPr b="1" i="0" lang="en-US" sz="1050" u="none" cap="none" strike="noStrike">
                  <a:solidFill>
                    <a:srgbClr val="8E6F3E"/>
                  </a:solidFill>
                  <a:latin typeface="Arimo"/>
                  <a:ea typeface="Arimo"/>
                  <a:cs typeface="Arimo"/>
                  <a:sym typeface="Arimo"/>
                </a:rPr>
                <a:t>Binary RF</a:t>
              </a:r>
              <a:endParaRPr b="0" i="0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g3f534395cd3_2_495"/>
            <p:cNvSpPr/>
            <p:nvPr/>
          </p:nvSpPr>
          <p:spPr>
            <a:xfrm>
              <a:off x="8089925" y="4718968"/>
              <a:ext cx="3675600" cy="41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26290"/>
                </a:lnSpc>
                <a:spcBef>
                  <a:spcPts val="0"/>
                </a:spcBef>
                <a:spcAft>
                  <a:spcPts val="0"/>
                </a:spcAft>
                <a:buClr>
                  <a:srgbClr val="55585F"/>
                </a:buClr>
                <a:buSzPts val="1013"/>
                <a:buFont typeface="Arimo"/>
                <a:buNone/>
              </a:pPr>
              <a:r>
                <a:rPr b="0" i="0" lang="en-US" sz="1013" u="none" cap="none" strike="noStrike">
                  <a:solidFill>
                    <a:srgbClr val="55585F"/>
                  </a:solidFill>
                  <a:latin typeface="Arimo"/>
                  <a:ea typeface="Arimo"/>
                  <a:cs typeface="Arimo"/>
                  <a:sym typeface="Arimo"/>
                </a:rPr>
                <a:t>Merging Minor + Serious into Non-Fatal restored overall performance with more stable fatal-accident detection.</a:t>
              </a:r>
              <a:endPara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41" name="Google Shape;94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6789" y="361950"/>
            <a:ext cx="1271811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27"/>
          <p:cNvSpPr/>
          <p:nvPr/>
        </p:nvSpPr>
        <p:spPr>
          <a:xfrm>
            <a:off x="533400" y="495300"/>
            <a:ext cx="12237720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975"/>
              <a:buFont typeface="Arimo"/>
              <a:buNone/>
            </a:pPr>
            <a:r>
              <a:rPr b="1" i="0" lang="en-US" sz="975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TEXT BRANCH · APPENDIX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27"/>
          <p:cNvSpPr/>
          <p:nvPr/>
        </p:nvSpPr>
        <p:spPr>
          <a:xfrm>
            <a:off x="533400" y="700088"/>
            <a:ext cx="12237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mo"/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 Improvement Process</a:t>
            </a:r>
            <a:endParaRPr i="0" sz="3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4" name="Google Shape;944;p27"/>
          <p:cNvSpPr/>
          <p:nvPr/>
        </p:nvSpPr>
        <p:spPr>
          <a:xfrm>
            <a:off x="533400" y="1580475"/>
            <a:ext cx="11125200" cy="438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10850" lIns="110850" spcFirstLastPara="1" rIns="110850" wrap="square" tIns="110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27"/>
          <p:cNvSpPr/>
          <p:nvPr/>
        </p:nvSpPr>
        <p:spPr>
          <a:xfrm>
            <a:off x="718184" y="1687422"/>
            <a:ext cx="27687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800" lIns="30800" spcFirstLastPara="1" rIns="30800" wrap="square" tIns="308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91"/>
              <a:buFont typeface="Arimo"/>
              <a:buNone/>
            </a:pPr>
            <a:r>
              <a:rPr b="1" i="0" lang="en-US" sz="1091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MODEL</a:t>
            </a:r>
            <a:endParaRPr b="0" i="0" sz="10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27"/>
          <p:cNvSpPr/>
          <p:nvPr/>
        </p:nvSpPr>
        <p:spPr>
          <a:xfrm>
            <a:off x="3671927" y="1687422"/>
            <a:ext cx="10899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800" lIns="30800" spcFirstLastPara="1" rIns="30800" wrap="square" tIns="308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91"/>
              <a:buFont typeface="Arimo"/>
              <a:buNone/>
            </a:pPr>
            <a:r>
              <a:rPr b="1" i="0" lang="en-US" sz="1091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ACCURACY</a:t>
            </a:r>
            <a:endParaRPr b="0" i="0" sz="10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27"/>
          <p:cNvSpPr/>
          <p:nvPr/>
        </p:nvSpPr>
        <p:spPr>
          <a:xfrm>
            <a:off x="7216008" y="1687422"/>
            <a:ext cx="10083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800" lIns="30800" spcFirstLastPara="1" rIns="30800" wrap="square" tIns="308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91"/>
              <a:buFont typeface="Arimo"/>
              <a:buNone/>
            </a:pPr>
            <a:r>
              <a:rPr b="1" i="0" lang="en-US" sz="1091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MACRO F1</a:t>
            </a:r>
            <a:endParaRPr b="0" i="0" sz="10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27"/>
          <p:cNvSpPr/>
          <p:nvPr/>
        </p:nvSpPr>
        <p:spPr>
          <a:xfrm>
            <a:off x="9641039" y="1687422"/>
            <a:ext cx="13614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800" lIns="30800" spcFirstLastPara="1" rIns="30800" wrap="square" tIns="308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91"/>
              <a:buFont typeface="Arimo"/>
              <a:buNone/>
            </a:pPr>
            <a:r>
              <a:rPr b="1" i="0" lang="en-US" sz="1091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FATAL RECALL</a:t>
            </a:r>
            <a:endParaRPr b="0" i="0" sz="10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27"/>
          <p:cNvSpPr/>
          <p:nvPr/>
        </p:nvSpPr>
        <p:spPr>
          <a:xfrm>
            <a:off x="533400" y="2019337"/>
            <a:ext cx="11125200" cy="496500"/>
          </a:xfrm>
          <a:prstGeom prst="rect">
            <a:avLst/>
          </a:prstGeom>
          <a:solidFill>
            <a:srgbClr val="FAF3E2"/>
          </a:solidFill>
          <a:ln>
            <a:noFill/>
          </a:ln>
        </p:spPr>
        <p:txBody>
          <a:bodyPr anchorCtr="0" anchor="ctr" bIns="110850" lIns="110850" spcFirstLastPara="1" rIns="110850" wrap="square" tIns="110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27"/>
          <p:cNvSpPr/>
          <p:nvPr/>
        </p:nvSpPr>
        <p:spPr>
          <a:xfrm>
            <a:off x="533400" y="2504396"/>
            <a:ext cx="11125200" cy="114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txBody>
          <a:bodyPr anchorCtr="0" anchor="ctr" bIns="110850" lIns="110850" spcFirstLastPara="1" rIns="110850" wrap="square" tIns="110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27"/>
          <p:cNvSpPr/>
          <p:nvPr/>
        </p:nvSpPr>
        <p:spPr>
          <a:xfrm>
            <a:off x="718184" y="2126285"/>
            <a:ext cx="27687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800" lIns="30800" spcFirstLastPara="1" rIns="30800" wrap="square" tIns="308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5"/>
              <a:buFont typeface="Arimo"/>
              <a:buNone/>
            </a:pPr>
            <a:r>
              <a:rPr b="1" i="0" lang="en-US" sz="145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BERT + MLP + Taxonomy</a:t>
            </a:r>
            <a:endParaRPr b="0" i="0" sz="14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27"/>
          <p:cNvSpPr/>
          <p:nvPr/>
        </p:nvSpPr>
        <p:spPr>
          <a:xfrm>
            <a:off x="3671927" y="2126285"/>
            <a:ext cx="1089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800" lIns="30800" spcFirstLastPara="1" rIns="30800" wrap="square" tIns="308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1455"/>
              <a:buFont typeface="Arimo"/>
              <a:buNone/>
            </a:pPr>
            <a:r>
              <a:rPr b="1" i="0" lang="en-US" sz="1455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0.8123</a:t>
            </a:r>
            <a:endParaRPr b="0" i="0" sz="14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27"/>
          <p:cNvSpPr/>
          <p:nvPr/>
        </p:nvSpPr>
        <p:spPr>
          <a:xfrm>
            <a:off x="7216008" y="2126285"/>
            <a:ext cx="10083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800" lIns="30800" spcFirstLastPara="1" rIns="30800" wrap="square" tIns="308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6F3E"/>
              </a:buClr>
              <a:buSzPts val="1455"/>
              <a:buFont typeface="Arimo"/>
              <a:buNone/>
            </a:pPr>
            <a:r>
              <a:rPr b="1" i="0" lang="en-US" sz="1455" u="none" cap="none" strike="noStrike">
                <a:solidFill>
                  <a:srgbClr val="8E6F3E"/>
                </a:solidFill>
                <a:latin typeface="Arimo"/>
                <a:ea typeface="Arimo"/>
                <a:cs typeface="Arimo"/>
                <a:sym typeface="Arimo"/>
              </a:rPr>
              <a:t>0.8032</a:t>
            </a:r>
            <a:endParaRPr b="0" i="0" sz="14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27"/>
          <p:cNvSpPr/>
          <p:nvPr/>
        </p:nvSpPr>
        <p:spPr>
          <a:xfrm>
            <a:off x="9641039" y="2126285"/>
            <a:ext cx="13614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800" lIns="30800" spcFirstLastPara="1" rIns="30800" wrap="square" tIns="308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5"/>
              <a:buFont typeface="Arimo"/>
              <a:buNone/>
            </a:pPr>
            <a:r>
              <a:rPr b="0" i="0" lang="en-US" sz="145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0.8435</a:t>
            </a:r>
            <a:endParaRPr b="0" i="0" sz="14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27"/>
          <p:cNvSpPr/>
          <p:nvPr/>
        </p:nvSpPr>
        <p:spPr>
          <a:xfrm>
            <a:off x="533400" y="3006779"/>
            <a:ext cx="11125200" cy="11400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txBody>
          <a:bodyPr anchorCtr="0" anchor="ctr" bIns="110850" lIns="110850" spcFirstLastPara="1" rIns="110850" wrap="square" tIns="110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27"/>
          <p:cNvSpPr/>
          <p:nvPr/>
        </p:nvSpPr>
        <p:spPr>
          <a:xfrm>
            <a:off x="718184" y="2622893"/>
            <a:ext cx="27687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800" lIns="30800" spcFirstLastPara="1" rIns="30800" wrap="square" tIns="308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5"/>
              <a:buFont typeface="Arimo"/>
              <a:buNone/>
            </a:pPr>
            <a:r>
              <a:rPr b="1" i="0" lang="en-US" sz="145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Random Forest (text)</a:t>
            </a:r>
            <a:endParaRPr b="0" i="0" sz="14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27"/>
          <p:cNvSpPr/>
          <p:nvPr/>
        </p:nvSpPr>
        <p:spPr>
          <a:xfrm>
            <a:off x="3671927" y="2622893"/>
            <a:ext cx="10899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800" lIns="30800" spcFirstLastPara="1" rIns="30800" wrap="square" tIns="308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5"/>
              <a:buFont typeface="Arimo"/>
              <a:buNone/>
            </a:pPr>
            <a:r>
              <a:rPr b="0" i="0" lang="en-US" sz="145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0.7785</a:t>
            </a:r>
            <a:endParaRPr b="0" i="0" sz="14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27"/>
          <p:cNvSpPr/>
          <p:nvPr/>
        </p:nvSpPr>
        <p:spPr>
          <a:xfrm>
            <a:off x="7216008" y="2622893"/>
            <a:ext cx="10083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800" lIns="30800" spcFirstLastPara="1" rIns="30800" wrap="square" tIns="308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5"/>
              <a:buFont typeface="Arimo"/>
              <a:buNone/>
            </a:pPr>
            <a:r>
              <a:rPr b="0" i="0" lang="en-US" sz="145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0.7587</a:t>
            </a:r>
            <a:endParaRPr b="0" i="0" sz="14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27"/>
          <p:cNvSpPr/>
          <p:nvPr/>
        </p:nvSpPr>
        <p:spPr>
          <a:xfrm>
            <a:off x="9641039" y="2622893"/>
            <a:ext cx="13614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800" lIns="30800" spcFirstLastPara="1" rIns="30800" wrap="square" tIns="308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5"/>
              <a:buFont typeface="Arimo"/>
              <a:buNone/>
            </a:pPr>
            <a:r>
              <a:rPr b="0" i="0" lang="en-US" sz="145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0.6957</a:t>
            </a:r>
            <a:endParaRPr b="0" i="0" sz="14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27"/>
          <p:cNvSpPr/>
          <p:nvPr/>
        </p:nvSpPr>
        <p:spPr>
          <a:xfrm>
            <a:off x="533400" y="3509160"/>
            <a:ext cx="11125200" cy="11400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txBody>
          <a:bodyPr anchorCtr="0" anchor="ctr" bIns="110850" lIns="110850" spcFirstLastPara="1" rIns="110850" wrap="square" tIns="110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27"/>
          <p:cNvSpPr/>
          <p:nvPr/>
        </p:nvSpPr>
        <p:spPr>
          <a:xfrm>
            <a:off x="718184" y="3125274"/>
            <a:ext cx="27687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800" lIns="30800" spcFirstLastPara="1" rIns="30800" wrap="square" tIns="308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5"/>
              <a:buFont typeface="Arimo"/>
              <a:buNone/>
            </a:pPr>
            <a:r>
              <a:rPr b="1" i="0" lang="en-US" sz="145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HistGradientBoosting</a:t>
            </a:r>
            <a:endParaRPr b="0" i="0" sz="14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27"/>
          <p:cNvSpPr/>
          <p:nvPr/>
        </p:nvSpPr>
        <p:spPr>
          <a:xfrm>
            <a:off x="3671927" y="3125274"/>
            <a:ext cx="10899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800" lIns="30800" spcFirstLastPara="1" rIns="30800" wrap="square" tIns="308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5"/>
              <a:buFont typeface="Arimo"/>
              <a:buNone/>
            </a:pPr>
            <a:r>
              <a:rPr b="0" i="0" lang="en-US" sz="145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0.7538</a:t>
            </a:r>
            <a:endParaRPr b="0" i="0" sz="14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27"/>
          <p:cNvSpPr/>
          <p:nvPr/>
        </p:nvSpPr>
        <p:spPr>
          <a:xfrm>
            <a:off x="7216008" y="3125274"/>
            <a:ext cx="10083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800" lIns="30800" spcFirstLastPara="1" rIns="30800" wrap="square" tIns="308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5"/>
              <a:buFont typeface="Arimo"/>
              <a:buNone/>
            </a:pPr>
            <a:r>
              <a:rPr b="0" i="0" lang="en-US" sz="145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0.7490</a:t>
            </a:r>
            <a:endParaRPr b="0" i="0" sz="14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27"/>
          <p:cNvSpPr/>
          <p:nvPr/>
        </p:nvSpPr>
        <p:spPr>
          <a:xfrm>
            <a:off x="9641039" y="3125274"/>
            <a:ext cx="13614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800" lIns="30800" spcFirstLastPara="1" rIns="30800" wrap="square" tIns="308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5"/>
              <a:buFont typeface="Arimo"/>
              <a:buNone/>
            </a:pPr>
            <a:r>
              <a:rPr b="1" i="0" lang="en-US" sz="145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0.8696</a:t>
            </a:r>
            <a:endParaRPr b="0" i="0" sz="14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27"/>
          <p:cNvSpPr/>
          <p:nvPr/>
        </p:nvSpPr>
        <p:spPr>
          <a:xfrm>
            <a:off x="533400" y="4011543"/>
            <a:ext cx="11125200" cy="11400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txBody>
          <a:bodyPr anchorCtr="0" anchor="ctr" bIns="110850" lIns="110850" spcFirstLastPara="1" rIns="110850" wrap="square" tIns="110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27"/>
          <p:cNvSpPr/>
          <p:nvPr/>
        </p:nvSpPr>
        <p:spPr>
          <a:xfrm>
            <a:off x="718184" y="3627657"/>
            <a:ext cx="27687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800" lIns="30800" spcFirstLastPara="1" rIns="30800" wrap="square" tIns="308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5"/>
              <a:buFont typeface="Arimo"/>
              <a:buNone/>
            </a:pPr>
            <a:r>
              <a:rPr b="1" i="0" lang="en-US" sz="145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Logistic Regression</a:t>
            </a:r>
            <a:endParaRPr b="0" i="0" sz="14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27"/>
          <p:cNvSpPr/>
          <p:nvPr/>
        </p:nvSpPr>
        <p:spPr>
          <a:xfrm>
            <a:off x="3671927" y="3627657"/>
            <a:ext cx="10899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800" lIns="30800" spcFirstLastPara="1" rIns="30800" wrap="square" tIns="308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5"/>
              <a:buFont typeface="Arimo"/>
              <a:buNone/>
            </a:pPr>
            <a:r>
              <a:rPr b="0" i="0" lang="en-US" sz="145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0.7723</a:t>
            </a:r>
            <a:endParaRPr b="0" i="0" sz="14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27"/>
          <p:cNvSpPr/>
          <p:nvPr/>
        </p:nvSpPr>
        <p:spPr>
          <a:xfrm>
            <a:off x="7216008" y="3627657"/>
            <a:ext cx="10083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800" lIns="30800" spcFirstLastPara="1" rIns="30800" wrap="square" tIns="308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5"/>
              <a:buFont typeface="Arimo"/>
              <a:buNone/>
            </a:pPr>
            <a:r>
              <a:rPr b="0" i="0" lang="en-US" sz="145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0.7480</a:t>
            </a:r>
            <a:endParaRPr b="0" i="0" sz="14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27"/>
          <p:cNvSpPr/>
          <p:nvPr/>
        </p:nvSpPr>
        <p:spPr>
          <a:xfrm>
            <a:off x="9641039" y="3627657"/>
            <a:ext cx="13614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800" lIns="30800" spcFirstLastPara="1" rIns="30800" wrap="square" tIns="308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5"/>
              <a:buFont typeface="Arimo"/>
              <a:buNone/>
            </a:pPr>
            <a:r>
              <a:rPr b="0" i="0" lang="en-US" sz="145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0.6522</a:t>
            </a:r>
            <a:endParaRPr b="0" i="0" sz="14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27"/>
          <p:cNvSpPr/>
          <p:nvPr/>
        </p:nvSpPr>
        <p:spPr>
          <a:xfrm>
            <a:off x="533400" y="4508150"/>
            <a:ext cx="11125200" cy="231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txBody>
          <a:bodyPr anchorCtr="0" anchor="ctr" bIns="110850" lIns="110850" spcFirstLastPara="1" rIns="110850" wrap="square" tIns="110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27"/>
          <p:cNvSpPr/>
          <p:nvPr/>
        </p:nvSpPr>
        <p:spPr>
          <a:xfrm>
            <a:off x="718184" y="4130040"/>
            <a:ext cx="276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800" lIns="30800" spcFirstLastPara="1" rIns="30800" wrap="square" tIns="308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5"/>
              <a:buFont typeface="Arimo"/>
              <a:buNone/>
            </a:pPr>
            <a:r>
              <a:rPr b="1" i="0" lang="en-US" sz="145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Linear SVM</a:t>
            </a:r>
            <a:endParaRPr b="0" i="0" sz="14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27"/>
          <p:cNvSpPr/>
          <p:nvPr/>
        </p:nvSpPr>
        <p:spPr>
          <a:xfrm>
            <a:off x="3671927" y="4130040"/>
            <a:ext cx="108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800" lIns="30800" spcFirstLastPara="1" rIns="30800" wrap="square" tIns="308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5"/>
              <a:buFont typeface="Arimo"/>
              <a:buNone/>
            </a:pPr>
            <a:r>
              <a:rPr b="0" i="0" lang="en-US" sz="145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0.7138</a:t>
            </a:r>
            <a:endParaRPr b="0" i="0" sz="14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27"/>
          <p:cNvSpPr/>
          <p:nvPr/>
        </p:nvSpPr>
        <p:spPr>
          <a:xfrm>
            <a:off x="7216008" y="4130040"/>
            <a:ext cx="100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800" lIns="30800" spcFirstLastPara="1" rIns="30800" wrap="square" tIns="308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5"/>
              <a:buFont typeface="Arimo"/>
              <a:buNone/>
            </a:pPr>
            <a:r>
              <a:rPr b="0" i="0" lang="en-US" sz="145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0.6865</a:t>
            </a:r>
            <a:endParaRPr b="0" i="0" sz="14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27"/>
          <p:cNvSpPr/>
          <p:nvPr/>
        </p:nvSpPr>
        <p:spPr>
          <a:xfrm>
            <a:off x="9641039" y="4130040"/>
            <a:ext cx="1361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800" lIns="30800" spcFirstLastPara="1" rIns="30800" wrap="square" tIns="308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5"/>
              <a:buFont typeface="Arimo"/>
              <a:buNone/>
            </a:pPr>
            <a:r>
              <a:rPr b="0" i="0" lang="en-US" sz="145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0.5913</a:t>
            </a:r>
            <a:endParaRPr b="0" i="0" sz="14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27"/>
          <p:cNvSpPr/>
          <p:nvPr/>
        </p:nvSpPr>
        <p:spPr>
          <a:xfrm>
            <a:off x="533400" y="6372225"/>
            <a:ext cx="11125200" cy="9525"/>
          </a:xfrm>
          <a:prstGeom prst="rect">
            <a:avLst/>
          </a:prstGeom>
          <a:solidFill>
            <a:srgbClr val="DAD7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27"/>
          <p:cNvSpPr/>
          <p:nvPr/>
        </p:nvSpPr>
        <p:spPr>
          <a:xfrm>
            <a:off x="533400" y="6457950"/>
            <a:ext cx="278275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i="0" lang="en-US" sz="788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PREDICTING AVIATION ACCIDENT SEVERITY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27"/>
          <p:cNvSpPr/>
          <p:nvPr/>
        </p:nvSpPr>
        <p:spPr>
          <a:xfrm>
            <a:off x="11527334" y="6457950"/>
            <a:ext cx="20746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9694"/>
              </a:buClr>
              <a:buSzPts val="788"/>
              <a:buFont typeface="Arimo"/>
              <a:buNone/>
            </a:pPr>
            <a:r>
              <a:rPr b="1" i="0" lang="en-US" sz="788" u="none" cap="none" strike="noStrike">
                <a:solidFill>
                  <a:srgbClr val="9D9694"/>
                </a:solidFill>
                <a:latin typeface="Arimo"/>
                <a:ea typeface="Arimo"/>
                <a:cs typeface="Arimo"/>
                <a:sym typeface="Arimo"/>
              </a:rPr>
              <a:t>27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8" name="Google Shape;978;p27"/>
          <p:cNvGrpSpPr/>
          <p:nvPr/>
        </p:nvGrpSpPr>
        <p:grpSpPr>
          <a:xfrm>
            <a:off x="533527" y="4653954"/>
            <a:ext cx="8850768" cy="1616099"/>
            <a:chOff x="7003777" y="3076522"/>
            <a:chExt cx="5099250" cy="1616099"/>
          </a:xfrm>
        </p:grpSpPr>
        <p:sp>
          <p:nvSpPr>
            <p:cNvPr id="979" name="Google Shape;979;p27"/>
            <p:cNvSpPr/>
            <p:nvPr/>
          </p:nvSpPr>
          <p:spPr>
            <a:xfrm>
              <a:off x="7003777" y="3141762"/>
              <a:ext cx="38100" cy="1512600"/>
            </a:xfrm>
            <a:prstGeom prst="rect">
              <a:avLst/>
            </a:prstGeom>
            <a:solidFill>
              <a:srgbClr val="CFB9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980" name="Google Shape;980;p27"/>
            <p:cNvSpPr/>
            <p:nvPr/>
          </p:nvSpPr>
          <p:spPr>
            <a:xfrm>
              <a:off x="7213327" y="3076522"/>
              <a:ext cx="48897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E6F3E"/>
                </a:buClr>
                <a:buSzPts val="900"/>
                <a:buFont typeface="Arimo"/>
                <a:buNone/>
              </a:pPr>
              <a:r>
                <a:rPr b="1" i="0" lang="en-US" sz="1200" u="none" cap="none" strike="noStrike">
                  <a:solidFill>
                    <a:srgbClr val="8E6F3E"/>
                  </a:solidFill>
                  <a:latin typeface="Arimo"/>
                  <a:ea typeface="Arimo"/>
                  <a:cs typeface="Arimo"/>
                  <a:sym typeface="Arimo"/>
                </a:rPr>
                <a:t>CONCLUSION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27"/>
            <p:cNvSpPr/>
            <p:nvPr/>
          </p:nvSpPr>
          <p:spPr>
            <a:xfrm>
              <a:off x="7283177" y="3370362"/>
              <a:ext cx="4503600" cy="4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36212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088"/>
                <a:buFont typeface="Arimo"/>
                <a:buNone/>
              </a:pPr>
              <a:r>
                <a:rPr b="1" lang="en-US" sz="1388">
                  <a:solidFill>
                    <a:srgbClr val="111111"/>
                  </a:solidFill>
                  <a:latin typeface="Arimo"/>
                  <a:ea typeface="Arimo"/>
                  <a:cs typeface="Arimo"/>
                  <a:sym typeface="Arimo"/>
                </a:rPr>
                <a:t> - </a:t>
              </a:r>
              <a:r>
                <a:rPr b="1" i="0" lang="en-US" sz="1388" u="none" cap="none" strike="noStrike">
                  <a:solidFill>
                    <a:srgbClr val="111111"/>
                  </a:solidFill>
                  <a:latin typeface="Arimo"/>
                  <a:ea typeface="Arimo"/>
                  <a:cs typeface="Arimo"/>
                  <a:sym typeface="Arimo"/>
                </a:rPr>
                <a:t>SafeAeroBERT + Taxonomy + MLP-4 </a:t>
              </a:r>
              <a:r>
                <a:rPr b="0" i="0" lang="en-US" sz="1388" u="none" cap="none" strike="noStrike">
                  <a:solidFill>
                    <a:srgbClr val="111111"/>
                  </a:solidFill>
                  <a:latin typeface="Arimo"/>
                  <a:ea typeface="Arimo"/>
                  <a:cs typeface="Arimo"/>
                  <a:sym typeface="Arimo"/>
                </a:rPr>
                <a:t>achieved the highest Accuracy and Macro-F1.</a:t>
              </a:r>
              <a:endParaRPr b="0" i="0" sz="13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27"/>
            <p:cNvSpPr/>
            <p:nvPr/>
          </p:nvSpPr>
          <p:spPr>
            <a:xfrm>
              <a:off x="7283177" y="3798391"/>
              <a:ext cx="4503600" cy="4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362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88">
                  <a:solidFill>
                    <a:srgbClr val="111111"/>
                  </a:solidFill>
                  <a:latin typeface="Arimo"/>
                  <a:ea typeface="Arimo"/>
                  <a:cs typeface="Arimo"/>
                  <a:sym typeface="Arimo"/>
                </a:rPr>
                <a:t>- </a:t>
              </a:r>
              <a:r>
                <a:rPr b="0" i="0" lang="en-US" sz="1388" u="none" cap="none" strike="noStrike">
                  <a:solidFill>
                    <a:srgbClr val="111111"/>
                  </a:solidFill>
                  <a:latin typeface="Arimo"/>
                  <a:ea typeface="Arimo"/>
                  <a:cs typeface="Arimo"/>
                  <a:sym typeface="Arimo"/>
                </a:rPr>
                <a:t>HistGradientBoosting had slightly higher Fatal Recall but far weaker overall performance.</a:t>
              </a:r>
              <a:endParaRPr b="0" i="0" sz="13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27"/>
            <p:cNvSpPr/>
            <p:nvPr/>
          </p:nvSpPr>
          <p:spPr>
            <a:xfrm>
              <a:off x="7283177" y="4226421"/>
              <a:ext cx="4503600" cy="4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36212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088"/>
                <a:buFont typeface="Arimo"/>
                <a:buNone/>
              </a:pPr>
              <a:r>
                <a:rPr b="1" lang="en-US" sz="1388">
                  <a:solidFill>
                    <a:srgbClr val="111111"/>
                  </a:solidFill>
                  <a:latin typeface="Arimo"/>
                  <a:ea typeface="Arimo"/>
                  <a:cs typeface="Arimo"/>
                  <a:sym typeface="Arimo"/>
                </a:rPr>
                <a:t>- </a:t>
              </a:r>
              <a:r>
                <a:rPr b="1" i="0" lang="en-US" sz="1388" u="none" cap="none" strike="noStrike">
                  <a:solidFill>
                    <a:srgbClr val="111111"/>
                  </a:solidFill>
                  <a:latin typeface="Arimo"/>
                  <a:ea typeface="Arimo"/>
                  <a:cs typeface="Arimo"/>
                  <a:sym typeface="Arimo"/>
                </a:rPr>
                <a:t>MLP-4 </a:t>
              </a:r>
              <a:r>
                <a:rPr b="0" i="0" lang="en-US" sz="1388" u="none" cap="none" strike="noStrike">
                  <a:solidFill>
                    <a:srgbClr val="111111"/>
                  </a:solidFill>
                  <a:latin typeface="Arimo"/>
                  <a:ea typeface="Arimo"/>
                  <a:cs typeface="Arimo"/>
                  <a:sym typeface="Arimo"/>
                </a:rPr>
                <a:t>was selected for the best balance between fatal detection and general classification.</a:t>
              </a:r>
              <a:endParaRPr b="0" i="0" sz="13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2026-07-15T20:33:07Z</dcterms:created>
  <dc:creator>PptxGenJS</dc:creator>
</cp:coreProperties>
</file>